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268" r:id="rId33"/>
    <p:sldId id="269" r:id="rId34"/>
    <p:sldId id="270" r:id="rId35"/>
    <p:sldId id="271" r:id="rId36"/>
    <p:sldId id="275" r:id="rId37"/>
    <p:sldId id="272" r:id="rId38"/>
    <p:sldId id="273" r:id="rId39"/>
    <p:sldId id="274" r:id="rId40"/>
    <p:sldId id="276" r:id="rId41"/>
    <p:sldId id="278" r:id="rId42"/>
    <p:sldId id="279" r:id="rId43"/>
    <p:sldId id="280" r:id="rId44"/>
    <p:sldId id="288" r:id="rId45"/>
    <p:sldId id="281" r:id="rId46"/>
    <p:sldId id="282" r:id="rId47"/>
    <p:sldId id="283" r:id="rId48"/>
    <p:sldId id="284" r:id="rId49"/>
    <p:sldId id="285" r:id="rId50"/>
    <p:sldId id="286" r:id="rId51"/>
    <p:sldId id="289" r:id="rId52"/>
    <p:sldId id="290" r:id="rId53"/>
    <p:sldId id="291" r:id="rId54"/>
    <p:sldId id="292" r:id="rId55"/>
    <p:sldId id="294" r:id="rId56"/>
    <p:sldId id="29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51" autoAdjust="0"/>
    <p:restoredTop sz="94660"/>
  </p:normalViewPr>
  <p:slideViewPr>
    <p:cSldViewPr snapToGrid="0">
      <p:cViewPr varScale="1">
        <p:scale>
          <a:sx n="78" d="100"/>
          <a:sy n="78" d="100"/>
        </p:scale>
        <p:origin x="114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u Kutchula" userId="21d78c19a9e984d0" providerId="LiveId" clId="{075735CF-22CA-444C-8285-162905594DDF}"/>
    <pc:docChg chg="undo custSel addSld delSld modSld">
      <pc:chgData name="Siddu Kutchula" userId="21d78c19a9e984d0" providerId="LiveId" clId="{075735CF-22CA-444C-8285-162905594DDF}" dt="2025-11-17T14:24:40.849" v="59" actId="1076"/>
      <pc:docMkLst>
        <pc:docMk/>
      </pc:docMkLst>
      <pc:sldChg chg="modSp mod">
        <pc:chgData name="Siddu Kutchula" userId="21d78c19a9e984d0" providerId="LiveId" clId="{075735CF-22CA-444C-8285-162905594DDF}" dt="2025-11-17T14:24:40.849" v="59" actId="1076"/>
        <pc:sldMkLst>
          <pc:docMk/>
          <pc:sldMk cId="2710706366" sldId="276"/>
        </pc:sldMkLst>
        <pc:picChg chg="mod">
          <ac:chgData name="Siddu Kutchula" userId="21d78c19a9e984d0" providerId="LiveId" clId="{075735CF-22CA-444C-8285-162905594DDF}" dt="2025-11-17T14:24:40.849" v="59" actId="1076"/>
          <ac:picMkLst>
            <pc:docMk/>
            <pc:sldMk cId="2710706366" sldId="276"/>
            <ac:picMk id="5" creationId="{324B12B8-BBFA-3FD0-BE74-440FF9664778}"/>
          </ac:picMkLst>
        </pc:picChg>
      </pc:sldChg>
      <pc:sldChg chg="new">
        <pc:chgData name="Siddu Kutchula" userId="21d78c19a9e984d0" providerId="LiveId" clId="{075735CF-22CA-444C-8285-162905594DDF}" dt="2025-11-17T07:24:58.155" v="0" actId="680"/>
        <pc:sldMkLst>
          <pc:docMk/>
          <pc:sldMk cId="377884837" sldId="296"/>
        </pc:sldMkLst>
      </pc:sldChg>
      <pc:sldChg chg="new">
        <pc:chgData name="Siddu Kutchula" userId="21d78c19a9e984d0" providerId="LiveId" clId="{075735CF-22CA-444C-8285-162905594DDF}" dt="2025-11-17T07:24:58.547" v="1" actId="680"/>
        <pc:sldMkLst>
          <pc:docMk/>
          <pc:sldMk cId="1424022741" sldId="297"/>
        </pc:sldMkLst>
      </pc:sldChg>
      <pc:sldChg chg="new">
        <pc:chgData name="Siddu Kutchula" userId="21d78c19a9e984d0" providerId="LiveId" clId="{075735CF-22CA-444C-8285-162905594DDF}" dt="2025-11-17T07:24:58.582" v="2" actId="680"/>
        <pc:sldMkLst>
          <pc:docMk/>
          <pc:sldMk cId="3162925951" sldId="298"/>
        </pc:sldMkLst>
      </pc:sldChg>
      <pc:sldChg chg="new">
        <pc:chgData name="Siddu Kutchula" userId="21d78c19a9e984d0" providerId="LiveId" clId="{075735CF-22CA-444C-8285-162905594DDF}" dt="2025-11-17T07:24:58.614" v="3" actId="680"/>
        <pc:sldMkLst>
          <pc:docMk/>
          <pc:sldMk cId="1888688228" sldId="299"/>
        </pc:sldMkLst>
      </pc:sldChg>
      <pc:sldChg chg="new">
        <pc:chgData name="Siddu Kutchula" userId="21d78c19a9e984d0" providerId="LiveId" clId="{075735CF-22CA-444C-8285-162905594DDF}" dt="2025-11-17T07:24:58.641" v="4" actId="680"/>
        <pc:sldMkLst>
          <pc:docMk/>
          <pc:sldMk cId="395700953" sldId="300"/>
        </pc:sldMkLst>
      </pc:sldChg>
      <pc:sldChg chg="new">
        <pc:chgData name="Siddu Kutchula" userId="21d78c19a9e984d0" providerId="LiveId" clId="{075735CF-22CA-444C-8285-162905594DDF}" dt="2025-11-17T07:24:58.669" v="5" actId="680"/>
        <pc:sldMkLst>
          <pc:docMk/>
          <pc:sldMk cId="4019278716" sldId="301"/>
        </pc:sldMkLst>
      </pc:sldChg>
      <pc:sldChg chg="new">
        <pc:chgData name="Siddu Kutchula" userId="21d78c19a9e984d0" providerId="LiveId" clId="{075735CF-22CA-444C-8285-162905594DDF}" dt="2025-11-17T07:24:58.698" v="6" actId="680"/>
        <pc:sldMkLst>
          <pc:docMk/>
          <pc:sldMk cId="2069830528" sldId="302"/>
        </pc:sldMkLst>
      </pc:sldChg>
      <pc:sldChg chg="new">
        <pc:chgData name="Siddu Kutchula" userId="21d78c19a9e984d0" providerId="LiveId" clId="{075735CF-22CA-444C-8285-162905594DDF}" dt="2025-11-17T07:24:58.732" v="7" actId="680"/>
        <pc:sldMkLst>
          <pc:docMk/>
          <pc:sldMk cId="2254199578" sldId="303"/>
        </pc:sldMkLst>
      </pc:sldChg>
      <pc:sldChg chg="new">
        <pc:chgData name="Siddu Kutchula" userId="21d78c19a9e984d0" providerId="LiveId" clId="{075735CF-22CA-444C-8285-162905594DDF}" dt="2025-11-17T07:24:58.771" v="8" actId="680"/>
        <pc:sldMkLst>
          <pc:docMk/>
          <pc:sldMk cId="3451905060" sldId="304"/>
        </pc:sldMkLst>
      </pc:sldChg>
      <pc:sldChg chg="new">
        <pc:chgData name="Siddu Kutchula" userId="21d78c19a9e984d0" providerId="LiveId" clId="{075735CF-22CA-444C-8285-162905594DDF}" dt="2025-11-17T07:24:58.787" v="9" actId="680"/>
        <pc:sldMkLst>
          <pc:docMk/>
          <pc:sldMk cId="2589340221" sldId="305"/>
        </pc:sldMkLst>
      </pc:sldChg>
      <pc:sldChg chg="new">
        <pc:chgData name="Siddu Kutchula" userId="21d78c19a9e984d0" providerId="LiveId" clId="{075735CF-22CA-444C-8285-162905594DDF}" dt="2025-11-17T07:24:58.823" v="10" actId="680"/>
        <pc:sldMkLst>
          <pc:docMk/>
          <pc:sldMk cId="3531878156" sldId="306"/>
        </pc:sldMkLst>
      </pc:sldChg>
      <pc:sldChg chg="new">
        <pc:chgData name="Siddu Kutchula" userId="21d78c19a9e984d0" providerId="LiveId" clId="{075735CF-22CA-444C-8285-162905594DDF}" dt="2025-11-17T07:24:58.851" v="11" actId="680"/>
        <pc:sldMkLst>
          <pc:docMk/>
          <pc:sldMk cId="3314950430" sldId="307"/>
        </pc:sldMkLst>
      </pc:sldChg>
      <pc:sldChg chg="new">
        <pc:chgData name="Siddu Kutchula" userId="21d78c19a9e984d0" providerId="LiveId" clId="{075735CF-22CA-444C-8285-162905594DDF}" dt="2025-11-17T07:24:58.878" v="12" actId="680"/>
        <pc:sldMkLst>
          <pc:docMk/>
          <pc:sldMk cId="2249706712" sldId="308"/>
        </pc:sldMkLst>
      </pc:sldChg>
      <pc:sldChg chg="new">
        <pc:chgData name="Siddu Kutchula" userId="21d78c19a9e984d0" providerId="LiveId" clId="{075735CF-22CA-444C-8285-162905594DDF}" dt="2025-11-17T07:24:58.907" v="13" actId="680"/>
        <pc:sldMkLst>
          <pc:docMk/>
          <pc:sldMk cId="2550110646" sldId="309"/>
        </pc:sldMkLst>
      </pc:sldChg>
      <pc:sldChg chg="new">
        <pc:chgData name="Siddu Kutchula" userId="21d78c19a9e984d0" providerId="LiveId" clId="{075735CF-22CA-444C-8285-162905594DDF}" dt="2025-11-17T07:24:58.938" v="14" actId="680"/>
        <pc:sldMkLst>
          <pc:docMk/>
          <pc:sldMk cId="3593856413" sldId="310"/>
        </pc:sldMkLst>
      </pc:sldChg>
      <pc:sldChg chg="new">
        <pc:chgData name="Siddu Kutchula" userId="21d78c19a9e984d0" providerId="LiveId" clId="{075735CF-22CA-444C-8285-162905594DDF}" dt="2025-11-17T07:24:58.972" v="15" actId="680"/>
        <pc:sldMkLst>
          <pc:docMk/>
          <pc:sldMk cId="1284567421" sldId="311"/>
        </pc:sldMkLst>
      </pc:sldChg>
      <pc:sldChg chg="new">
        <pc:chgData name="Siddu Kutchula" userId="21d78c19a9e984d0" providerId="LiveId" clId="{075735CF-22CA-444C-8285-162905594DDF}" dt="2025-11-17T07:24:59.003" v="16" actId="680"/>
        <pc:sldMkLst>
          <pc:docMk/>
          <pc:sldMk cId="3590915332" sldId="312"/>
        </pc:sldMkLst>
      </pc:sldChg>
      <pc:sldChg chg="new">
        <pc:chgData name="Siddu Kutchula" userId="21d78c19a9e984d0" providerId="LiveId" clId="{075735CF-22CA-444C-8285-162905594DDF}" dt="2025-11-17T07:24:59.039" v="17" actId="680"/>
        <pc:sldMkLst>
          <pc:docMk/>
          <pc:sldMk cId="2901083696" sldId="313"/>
        </pc:sldMkLst>
      </pc:sldChg>
      <pc:sldChg chg="new">
        <pc:chgData name="Siddu Kutchula" userId="21d78c19a9e984d0" providerId="LiveId" clId="{075735CF-22CA-444C-8285-162905594DDF}" dt="2025-11-17T07:24:59.065" v="18" actId="680"/>
        <pc:sldMkLst>
          <pc:docMk/>
          <pc:sldMk cId="2682235222" sldId="314"/>
        </pc:sldMkLst>
      </pc:sldChg>
      <pc:sldChg chg="new del">
        <pc:chgData name="Siddu Kutchula" userId="21d78c19a9e984d0" providerId="LiveId" clId="{075735CF-22CA-444C-8285-162905594DDF}" dt="2025-11-17T07:25:18.945" v="58" actId="680"/>
        <pc:sldMkLst>
          <pc:docMk/>
          <pc:sldMk cId="3430598038" sldId="315"/>
        </pc:sldMkLst>
      </pc:sldChg>
      <pc:sldChg chg="new del">
        <pc:chgData name="Siddu Kutchula" userId="21d78c19a9e984d0" providerId="LiveId" clId="{075735CF-22CA-444C-8285-162905594DDF}" dt="2025-11-17T07:25:18.924" v="57" actId="680"/>
        <pc:sldMkLst>
          <pc:docMk/>
          <pc:sldMk cId="3059754903" sldId="316"/>
        </pc:sldMkLst>
      </pc:sldChg>
      <pc:sldChg chg="new del">
        <pc:chgData name="Siddu Kutchula" userId="21d78c19a9e984d0" providerId="LiveId" clId="{075735CF-22CA-444C-8285-162905594DDF}" dt="2025-11-17T07:25:18.910" v="56" actId="680"/>
        <pc:sldMkLst>
          <pc:docMk/>
          <pc:sldMk cId="2396209659" sldId="317"/>
        </pc:sldMkLst>
      </pc:sldChg>
      <pc:sldChg chg="new del">
        <pc:chgData name="Siddu Kutchula" userId="21d78c19a9e984d0" providerId="LiveId" clId="{075735CF-22CA-444C-8285-162905594DDF}" dt="2025-11-17T07:25:18.851" v="55" actId="680"/>
        <pc:sldMkLst>
          <pc:docMk/>
          <pc:sldMk cId="3656285081" sldId="318"/>
        </pc:sldMkLst>
      </pc:sldChg>
      <pc:sldChg chg="new del">
        <pc:chgData name="Siddu Kutchula" userId="21d78c19a9e984d0" providerId="LiveId" clId="{075735CF-22CA-444C-8285-162905594DDF}" dt="2025-11-17T07:25:18.836" v="54" actId="680"/>
        <pc:sldMkLst>
          <pc:docMk/>
          <pc:sldMk cId="179185700" sldId="319"/>
        </pc:sldMkLst>
      </pc:sldChg>
      <pc:sldChg chg="new del">
        <pc:chgData name="Siddu Kutchula" userId="21d78c19a9e984d0" providerId="LiveId" clId="{075735CF-22CA-444C-8285-162905594DDF}" dt="2025-11-17T07:25:18.801" v="53" actId="680"/>
        <pc:sldMkLst>
          <pc:docMk/>
          <pc:sldMk cId="206055446" sldId="320"/>
        </pc:sldMkLst>
      </pc:sldChg>
      <pc:sldChg chg="new del">
        <pc:chgData name="Siddu Kutchula" userId="21d78c19a9e984d0" providerId="LiveId" clId="{075735CF-22CA-444C-8285-162905594DDF}" dt="2025-11-17T07:25:18.758" v="52" actId="680"/>
        <pc:sldMkLst>
          <pc:docMk/>
          <pc:sldMk cId="849268491" sldId="321"/>
        </pc:sldMkLst>
      </pc:sldChg>
      <pc:sldChg chg="new del">
        <pc:chgData name="Siddu Kutchula" userId="21d78c19a9e984d0" providerId="LiveId" clId="{075735CF-22CA-444C-8285-162905594DDF}" dt="2025-11-17T07:25:18.733" v="51" actId="680"/>
        <pc:sldMkLst>
          <pc:docMk/>
          <pc:sldMk cId="2825927543" sldId="322"/>
        </pc:sldMkLst>
      </pc:sldChg>
      <pc:sldChg chg="new del">
        <pc:chgData name="Siddu Kutchula" userId="21d78c19a9e984d0" providerId="LiveId" clId="{075735CF-22CA-444C-8285-162905594DDF}" dt="2025-11-17T07:25:18.718" v="50" actId="680"/>
        <pc:sldMkLst>
          <pc:docMk/>
          <pc:sldMk cId="3613282894" sldId="323"/>
        </pc:sldMkLst>
      </pc:sldChg>
      <pc:sldChg chg="new del">
        <pc:chgData name="Siddu Kutchula" userId="21d78c19a9e984d0" providerId="LiveId" clId="{075735CF-22CA-444C-8285-162905594DDF}" dt="2025-11-17T07:25:18.207" v="49" actId="680"/>
        <pc:sldMkLst>
          <pc:docMk/>
          <pc:sldMk cId="519362173" sldId="324"/>
        </pc:sldMkLst>
      </pc:sldChg>
      <pc:sldChg chg="new del">
        <pc:chgData name="Siddu Kutchula" userId="21d78c19a9e984d0" providerId="LiveId" clId="{075735CF-22CA-444C-8285-162905594DDF}" dt="2025-11-17T07:25:17.932" v="48" actId="680"/>
        <pc:sldMkLst>
          <pc:docMk/>
          <pc:sldMk cId="2315981366" sldId="325"/>
        </pc:sldMkLst>
      </pc:sldChg>
      <pc:sldChg chg="new del">
        <pc:chgData name="Siddu Kutchula" userId="21d78c19a9e984d0" providerId="LiveId" clId="{075735CF-22CA-444C-8285-162905594DDF}" dt="2025-11-17T07:25:17.480" v="47" actId="680"/>
        <pc:sldMkLst>
          <pc:docMk/>
          <pc:sldMk cId="843338881" sldId="326"/>
        </pc:sldMkLst>
      </pc:sldChg>
      <pc:sldChg chg="new del">
        <pc:chgData name="Siddu Kutchula" userId="21d78c19a9e984d0" providerId="LiveId" clId="{075735CF-22CA-444C-8285-162905594DDF}" dt="2025-11-17T07:25:17.129" v="46" actId="680"/>
        <pc:sldMkLst>
          <pc:docMk/>
          <pc:sldMk cId="1425674134" sldId="327"/>
        </pc:sldMkLst>
      </pc:sldChg>
      <pc:sldChg chg="new del">
        <pc:chgData name="Siddu Kutchula" userId="21d78c19a9e984d0" providerId="LiveId" clId="{075735CF-22CA-444C-8285-162905594DDF}" dt="2025-11-17T07:25:16.259" v="45" actId="680"/>
        <pc:sldMkLst>
          <pc:docMk/>
          <pc:sldMk cId="3890086345" sldId="328"/>
        </pc:sldMkLst>
      </pc:sldChg>
      <pc:sldChg chg="new del">
        <pc:chgData name="Siddu Kutchula" userId="21d78c19a9e984d0" providerId="LiveId" clId="{075735CF-22CA-444C-8285-162905594DDF}" dt="2025-11-17T07:25:15.519" v="44" actId="680"/>
        <pc:sldMkLst>
          <pc:docMk/>
          <pc:sldMk cId="143654802" sldId="329"/>
        </pc:sldMkLst>
      </pc:sldChg>
      <pc:sldChg chg="new del">
        <pc:chgData name="Siddu Kutchula" userId="21d78c19a9e984d0" providerId="LiveId" clId="{075735CF-22CA-444C-8285-162905594DDF}" dt="2025-11-17T07:25:15.429" v="43" actId="680"/>
        <pc:sldMkLst>
          <pc:docMk/>
          <pc:sldMk cId="2754393753" sldId="330"/>
        </pc:sldMkLst>
      </pc:sldChg>
      <pc:sldChg chg="new del">
        <pc:chgData name="Siddu Kutchula" userId="21d78c19a9e984d0" providerId="LiveId" clId="{075735CF-22CA-444C-8285-162905594DDF}" dt="2025-11-17T07:25:15.400" v="42" actId="680"/>
        <pc:sldMkLst>
          <pc:docMk/>
          <pc:sldMk cId="870573087" sldId="331"/>
        </pc:sldMkLst>
      </pc:sldChg>
      <pc:sldChg chg="new del">
        <pc:chgData name="Siddu Kutchula" userId="21d78c19a9e984d0" providerId="LiveId" clId="{075735CF-22CA-444C-8285-162905594DDF}" dt="2025-11-17T07:25:15.375" v="41" actId="680"/>
        <pc:sldMkLst>
          <pc:docMk/>
          <pc:sldMk cId="2120976741" sldId="332"/>
        </pc:sldMkLst>
      </pc:sldChg>
      <pc:sldChg chg="new del">
        <pc:chgData name="Siddu Kutchula" userId="21d78c19a9e984d0" providerId="LiveId" clId="{075735CF-22CA-444C-8285-162905594DDF}" dt="2025-11-17T07:25:15.360" v="40" actId="680"/>
        <pc:sldMkLst>
          <pc:docMk/>
          <pc:sldMk cId="1891149908" sldId="333"/>
        </pc:sldMkLst>
      </pc:sldChg>
      <pc:sldChg chg="new del">
        <pc:chgData name="Siddu Kutchula" userId="21d78c19a9e984d0" providerId="LiveId" clId="{075735CF-22CA-444C-8285-162905594DDF}" dt="2025-11-17T07:25:14.867" v="39" actId="680"/>
        <pc:sldMkLst>
          <pc:docMk/>
          <pc:sldMk cId="632209842" sldId="33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0EF3C-8480-F2F7-4D7A-03D637F05E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57D931C-832E-179C-AE02-F5E5E3F6CC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8357BC-09B6-DCF7-AD07-E09334952F44}"/>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5" name="Footer Placeholder 4">
            <a:extLst>
              <a:ext uri="{FF2B5EF4-FFF2-40B4-BE49-F238E27FC236}">
                <a16:creationId xmlns:a16="http://schemas.microsoft.com/office/drawing/2014/main" id="{0DBB0384-6A61-7BA6-CA36-C4079638CF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CC28FC-5ED7-275B-5146-D76988DA6D2E}"/>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1683033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4C04E-2FCB-A0EF-397D-896B07C418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7DB82C-EBB7-FFF8-68B4-24F30F9211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C4DF99-E908-FB60-6695-731BABFF6DA5}"/>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5" name="Footer Placeholder 4">
            <a:extLst>
              <a:ext uri="{FF2B5EF4-FFF2-40B4-BE49-F238E27FC236}">
                <a16:creationId xmlns:a16="http://schemas.microsoft.com/office/drawing/2014/main" id="{CF149448-8EE5-EC1D-C5E1-8EE63EE733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312EC7-9A77-CC13-FC9A-270F43775E59}"/>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4181769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26C14-3624-A8E5-75CD-22E0C5203F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721969-43EE-0059-B9A0-27FA698FDB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D4550B-5A24-AB05-7DFF-D6856533439C}"/>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5" name="Footer Placeholder 4">
            <a:extLst>
              <a:ext uri="{FF2B5EF4-FFF2-40B4-BE49-F238E27FC236}">
                <a16:creationId xmlns:a16="http://schemas.microsoft.com/office/drawing/2014/main" id="{9931B821-E068-600A-86AC-C46D761DE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75B1E5-927F-154E-C94A-0069592640B2}"/>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3678069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4B907-4498-25B9-444D-8B0B6A6DDE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90F9E9-22DA-0BE1-B728-67F074ED0C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A16BCA5-7FDD-5FD2-9179-FF06425DCC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08FFAE5-4408-1792-B19E-6A3CFDEDD2E3}"/>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6" name="Footer Placeholder 5">
            <a:extLst>
              <a:ext uri="{FF2B5EF4-FFF2-40B4-BE49-F238E27FC236}">
                <a16:creationId xmlns:a16="http://schemas.microsoft.com/office/drawing/2014/main" id="{EC777C3A-D6D2-2C7E-4787-E656351E49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22FA22-3867-6265-BD29-3CA4E171B555}"/>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3148712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19706-90B6-B420-DC7E-F3F5D8EA84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2E7C2C-201E-A379-D6E1-E7F5769812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6E0940-C975-2532-C530-C7138A74BD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6FEB1D-846E-C926-F9F1-012A535349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C0F34-355C-ADF1-84CE-3C9A3FF6B4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CC5005-8B36-D14A-9A51-6161278090A1}"/>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8" name="Footer Placeholder 7">
            <a:extLst>
              <a:ext uri="{FF2B5EF4-FFF2-40B4-BE49-F238E27FC236}">
                <a16:creationId xmlns:a16="http://schemas.microsoft.com/office/drawing/2014/main" id="{8F05EC77-178D-8A23-8EA6-CDC57F7FC2A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2EDE691-8305-937B-1142-96EEA0813ECF}"/>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3708928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3E254-AAC2-812D-8C19-1128F66C8E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8EA95B-EC72-AA78-FC19-8D287B7E32F1}"/>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4" name="Footer Placeholder 3">
            <a:extLst>
              <a:ext uri="{FF2B5EF4-FFF2-40B4-BE49-F238E27FC236}">
                <a16:creationId xmlns:a16="http://schemas.microsoft.com/office/drawing/2014/main" id="{989F6305-89DC-3A80-D732-A4C2BA82E4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BA15A4-8FDA-CCEA-C760-3EF77AA369D8}"/>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158049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CCB20C-6CE4-444F-208F-DB329C176FE7}"/>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3" name="Footer Placeholder 2">
            <a:extLst>
              <a:ext uri="{FF2B5EF4-FFF2-40B4-BE49-F238E27FC236}">
                <a16:creationId xmlns:a16="http://schemas.microsoft.com/office/drawing/2014/main" id="{2484F156-8FCB-8E56-9387-F0A9966BD8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A54EDC-5D80-6B84-BD36-C4E7AD2B0C79}"/>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1385998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9C447-A63F-1D9E-5A30-EB4D885A86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E16B30-9E89-5B7F-B0D4-6A8F8D044A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8BF1C3-7CCE-E09E-0D25-CFE970850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E8DB91-6343-9F0D-A53D-58125E212B42}"/>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6" name="Footer Placeholder 5">
            <a:extLst>
              <a:ext uri="{FF2B5EF4-FFF2-40B4-BE49-F238E27FC236}">
                <a16:creationId xmlns:a16="http://schemas.microsoft.com/office/drawing/2014/main" id="{DE320A44-D9F4-EC38-FE2D-E8E8F9ED7A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3DA887-4201-560F-DD8A-6D53208989F4}"/>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286629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AF0E1-487A-7DE3-D5FF-9EE91906F4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B3C322-C671-C04E-487F-0F9C796DC6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6C29CD-814F-2FB6-849C-86CA38ADC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50AF9E-A783-8D25-6FAD-46681D46A7A2}"/>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6" name="Footer Placeholder 5">
            <a:extLst>
              <a:ext uri="{FF2B5EF4-FFF2-40B4-BE49-F238E27FC236}">
                <a16:creationId xmlns:a16="http://schemas.microsoft.com/office/drawing/2014/main" id="{59265D84-B6EC-1B69-B87A-04379A76FD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182276-681C-9CDD-13A1-D60E57E9DE20}"/>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272378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51C1B-E12C-DE93-048B-8CBBAEF4D27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AF3AE9-3D54-C227-4D22-80B445B7B6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17547-BBF1-A506-46D8-BAF33758F7A9}"/>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5" name="Footer Placeholder 4">
            <a:extLst>
              <a:ext uri="{FF2B5EF4-FFF2-40B4-BE49-F238E27FC236}">
                <a16:creationId xmlns:a16="http://schemas.microsoft.com/office/drawing/2014/main" id="{000514DA-B1BB-B9C6-0D2D-4F27D7AEFA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E54384-E1DF-0D77-8AE3-D25F9923E936}"/>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2422339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81D5E8-D0A3-C16D-C38E-2B678B937A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611B51-DA6B-C1AB-F075-52F2749DE7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4C8F09-B72D-7AA6-04AA-1CF0BD4776BA}"/>
              </a:ext>
            </a:extLst>
          </p:cNvPr>
          <p:cNvSpPr>
            <a:spLocks noGrp="1"/>
          </p:cNvSpPr>
          <p:nvPr>
            <p:ph type="dt" sz="half" idx="10"/>
          </p:nvPr>
        </p:nvSpPr>
        <p:spPr/>
        <p:txBody>
          <a:bodyPr/>
          <a:lstStyle/>
          <a:p>
            <a:fld id="{0E99CF4D-538A-4094-A329-E647CB35E2EC}" type="datetimeFigureOut">
              <a:rPr lang="en-IN" smtClean="0"/>
              <a:t>17-11-2025</a:t>
            </a:fld>
            <a:endParaRPr lang="en-IN"/>
          </a:p>
        </p:txBody>
      </p:sp>
      <p:sp>
        <p:nvSpPr>
          <p:cNvPr id="5" name="Footer Placeholder 4">
            <a:extLst>
              <a:ext uri="{FF2B5EF4-FFF2-40B4-BE49-F238E27FC236}">
                <a16:creationId xmlns:a16="http://schemas.microsoft.com/office/drawing/2014/main" id="{381CD7AD-E68B-509A-0075-1C78DF022D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9E90DE-3AB7-2D10-717F-0CDFCBD5CB3B}"/>
              </a:ext>
            </a:extLst>
          </p:cNvPr>
          <p:cNvSpPr>
            <a:spLocks noGrp="1"/>
          </p:cNvSpPr>
          <p:nvPr>
            <p:ph type="sldNum" sz="quarter" idx="12"/>
          </p:nvPr>
        </p:nvSpPr>
        <p:spPr/>
        <p:txBody>
          <a:bodyPr/>
          <a:lstStyle/>
          <a:p>
            <a:fld id="{DF1517A7-ECDA-4DB2-B08E-0AF788961E59}" type="slidenum">
              <a:rPr lang="en-IN" smtClean="0"/>
              <a:t>‹#›</a:t>
            </a:fld>
            <a:endParaRPr lang="en-IN"/>
          </a:p>
        </p:txBody>
      </p:sp>
    </p:spTree>
    <p:extLst>
      <p:ext uri="{BB962C8B-B14F-4D97-AF65-F5344CB8AC3E}">
        <p14:creationId xmlns:p14="http://schemas.microsoft.com/office/powerpoint/2010/main" val="3437047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CF5754-F626-4200-30AE-41F65E96E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8E5AAA-5C06-4596-36D8-1D861B1FB5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839E82-4681-F811-1996-943583F0EB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99CF4D-538A-4094-A329-E647CB35E2EC}" type="datetimeFigureOut">
              <a:rPr lang="en-IN" smtClean="0"/>
              <a:t>17-11-2025</a:t>
            </a:fld>
            <a:endParaRPr lang="en-IN"/>
          </a:p>
        </p:txBody>
      </p:sp>
      <p:sp>
        <p:nvSpPr>
          <p:cNvPr id="5" name="Footer Placeholder 4">
            <a:extLst>
              <a:ext uri="{FF2B5EF4-FFF2-40B4-BE49-F238E27FC236}">
                <a16:creationId xmlns:a16="http://schemas.microsoft.com/office/drawing/2014/main" id="{08121B56-1EB4-B57B-CAD2-426AF59A1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81F160-B625-D5E5-CECE-D3D726B4BF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1517A7-ECDA-4DB2-B08E-0AF788961E59}" type="slidenum">
              <a:rPr lang="en-IN" smtClean="0"/>
              <a:t>‹#›</a:t>
            </a:fld>
            <a:endParaRPr lang="en-IN"/>
          </a:p>
        </p:txBody>
      </p:sp>
    </p:spTree>
    <p:extLst>
      <p:ext uri="{BB962C8B-B14F-4D97-AF65-F5344CB8AC3E}">
        <p14:creationId xmlns:p14="http://schemas.microsoft.com/office/powerpoint/2010/main" val="3635919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7C703-EF4D-B910-F1E1-5F71BA1E25D2}"/>
              </a:ext>
            </a:extLst>
          </p:cNvPr>
          <p:cNvSpPr>
            <a:spLocks noGrp="1"/>
          </p:cNvSpPr>
          <p:nvPr>
            <p:ph type="ctrTitle"/>
          </p:nvPr>
        </p:nvSpPr>
        <p:spPr/>
        <p:txBody>
          <a:bodyPr/>
          <a:lstStyle/>
          <a:p>
            <a:r>
              <a:rPr lang="en-IN" b="1" dirty="0"/>
              <a:t>INFORMATION RETRIEVAL SYSTEM</a:t>
            </a:r>
          </a:p>
        </p:txBody>
      </p:sp>
    </p:spTree>
    <p:extLst>
      <p:ext uri="{BB962C8B-B14F-4D97-AF65-F5344CB8AC3E}">
        <p14:creationId xmlns:p14="http://schemas.microsoft.com/office/powerpoint/2010/main" val="246081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4DE752-C21C-C2FF-07F1-B05EC340C673}"/>
              </a:ext>
            </a:extLst>
          </p:cNvPr>
          <p:cNvSpPr>
            <a:spLocks noGrp="1"/>
          </p:cNvSpPr>
          <p:nvPr>
            <p:ph idx="1"/>
          </p:nvPr>
        </p:nvSpPr>
        <p:spPr>
          <a:xfrm>
            <a:off x="838200" y="511277"/>
            <a:ext cx="10515600" cy="5665686"/>
          </a:xfrm>
        </p:spPr>
        <p:txBody>
          <a:bodyPr/>
          <a:lstStyle/>
          <a:p>
            <a:r>
              <a:rPr lang="en-IN" dirty="0"/>
              <a:t>UNIT-3:</a:t>
            </a:r>
          </a:p>
          <a:p>
            <a:pPr lvl="1">
              <a:buFont typeface="Wingdings" panose="05000000000000000000" pitchFamily="2" charset="2"/>
              <a:buChar char="Ø"/>
            </a:pPr>
            <a:r>
              <a:rPr lang="en-US" b="1" dirty="0"/>
              <a:t>New Indices for Text, Lexical Analysis and </a:t>
            </a:r>
            <a:r>
              <a:rPr lang="en-US" b="1" dirty="0" err="1"/>
              <a:t>Stoplists</a:t>
            </a:r>
            <a:r>
              <a:rPr lang="en-US" b="1" dirty="0"/>
              <a:t>: PAT Trees and PAT Arrays: </a:t>
            </a:r>
            <a:r>
              <a:rPr lang="en-US" dirty="0"/>
              <a:t>Introduction</a:t>
            </a:r>
          </a:p>
          <a:p>
            <a:pPr lvl="1">
              <a:buFont typeface="Wingdings" panose="05000000000000000000" pitchFamily="2" charset="2"/>
              <a:buChar char="Ø"/>
            </a:pPr>
            <a:r>
              <a:rPr lang="en-US" dirty="0"/>
              <a:t>PAT Tree structure</a:t>
            </a:r>
          </a:p>
          <a:p>
            <a:pPr lvl="1">
              <a:buFont typeface="Wingdings" panose="05000000000000000000" pitchFamily="2" charset="2"/>
              <a:buChar char="Ø"/>
            </a:pPr>
            <a:r>
              <a:rPr lang="en-US" dirty="0"/>
              <a:t>Algorithms on the PAT Trees</a:t>
            </a:r>
          </a:p>
          <a:p>
            <a:pPr lvl="1">
              <a:buFont typeface="Wingdings" panose="05000000000000000000" pitchFamily="2" charset="2"/>
              <a:buChar char="Ø"/>
            </a:pPr>
            <a:r>
              <a:rPr lang="en-US" dirty="0"/>
              <a:t>Building PAT Trees as PATRICA Trees</a:t>
            </a:r>
          </a:p>
          <a:p>
            <a:pPr lvl="1">
              <a:buFont typeface="Wingdings" panose="05000000000000000000" pitchFamily="2" charset="2"/>
              <a:buChar char="Ø"/>
            </a:pPr>
            <a:r>
              <a:rPr lang="en-US" dirty="0"/>
              <a:t>PAT representation as Arrays</a:t>
            </a:r>
          </a:p>
          <a:p>
            <a:pPr lvl="1">
              <a:buFont typeface="Wingdings" panose="05000000000000000000" pitchFamily="2" charset="2"/>
              <a:buChar char="Ø"/>
            </a:pPr>
            <a:r>
              <a:rPr lang="en-US" dirty="0" err="1"/>
              <a:t>Stoplists</a:t>
            </a:r>
            <a:r>
              <a:rPr lang="en-US" dirty="0"/>
              <a:t>: </a:t>
            </a:r>
            <a:r>
              <a:rPr lang="en-US" b="1" dirty="0"/>
              <a:t>Role , Importance and Examples of stop words.</a:t>
            </a:r>
            <a:endParaRPr lang="en-IN" dirty="0"/>
          </a:p>
          <a:p>
            <a:endParaRPr lang="en-IN" dirty="0"/>
          </a:p>
        </p:txBody>
      </p:sp>
    </p:spTree>
    <p:extLst>
      <p:ext uri="{BB962C8B-B14F-4D97-AF65-F5344CB8AC3E}">
        <p14:creationId xmlns:p14="http://schemas.microsoft.com/office/powerpoint/2010/main" val="109633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9101-9424-7877-EAE0-C67C6434DC0A}"/>
              </a:ext>
            </a:extLst>
          </p:cNvPr>
          <p:cNvSpPr>
            <a:spLocks noGrp="1"/>
          </p:cNvSpPr>
          <p:nvPr>
            <p:ph type="title"/>
          </p:nvPr>
        </p:nvSpPr>
        <p:spPr>
          <a:xfrm>
            <a:off x="838200" y="365125"/>
            <a:ext cx="10515600" cy="637765"/>
          </a:xfrm>
        </p:spPr>
        <p:txBody>
          <a:bodyPr>
            <a:normAutofit fontScale="90000"/>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F7A3C7E1-204D-0B22-33E1-D735252A15D3}"/>
              </a:ext>
            </a:extLst>
          </p:cNvPr>
          <p:cNvSpPr>
            <a:spLocks noGrp="1"/>
          </p:cNvSpPr>
          <p:nvPr>
            <p:ph idx="1"/>
          </p:nvPr>
        </p:nvSpPr>
        <p:spPr>
          <a:xfrm>
            <a:off x="838200" y="1002890"/>
            <a:ext cx="10515600" cy="5174073"/>
          </a:xfrm>
        </p:spPr>
        <p:txBody>
          <a:bodyPr>
            <a:normAutofit fontScale="85000" lnSpcReduction="10000"/>
          </a:bodyPr>
          <a:lstStyle/>
          <a:p>
            <a:pPr algn="just"/>
            <a:r>
              <a:rPr lang="en-US" dirty="0"/>
              <a:t>Text searching methods may be classified as </a:t>
            </a:r>
          </a:p>
          <a:p>
            <a:pPr lvl="1" algn="just">
              <a:buFont typeface="Wingdings" panose="05000000000000000000" pitchFamily="2" charset="2"/>
              <a:buChar char="Ø"/>
            </a:pPr>
            <a:r>
              <a:rPr lang="en-US" dirty="0"/>
              <a:t>Lexicographical indices (indices that are sorted)</a:t>
            </a:r>
          </a:p>
          <a:p>
            <a:pPr lvl="1" algn="just">
              <a:buFont typeface="Wingdings" panose="05000000000000000000" pitchFamily="2" charset="2"/>
              <a:buChar char="Ø"/>
            </a:pPr>
            <a:r>
              <a:rPr lang="en-US" dirty="0"/>
              <a:t>Clustering techniques, and </a:t>
            </a:r>
          </a:p>
          <a:p>
            <a:pPr lvl="1" algn="just">
              <a:buFont typeface="Wingdings" panose="05000000000000000000" pitchFamily="2" charset="2"/>
              <a:buChar char="Ø"/>
            </a:pPr>
            <a:r>
              <a:rPr lang="en-US" dirty="0"/>
              <a:t>Indices based on hashing. </a:t>
            </a:r>
          </a:p>
          <a:p>
            <a:pPr algn="just"/>
            <a:r>
              <a:rPr lang="en-US" dirty="0"/>
              <a:t>Two new lexicographical indices for text, called PAT trees and PAT arrays.</a:t>
            </a:r>
          </a:p>
          <a:p>
            <a:pPr algn="just"/>
            <a:r>
              <a:rPr lang="en-US" dirty="0"/>
              <a:t>The traditional model of text used in information retrieval is that of a set of documents. </a:t>
            </a:r>
          </a:p>
          <a:p>
            <a:pPr algn="just"/>
            <a:r>
              <a:rPr lang="en-US" dirty="0"/>
              <a:t>Each document is assigned a list of keywords (attributes), with optional relevance weights associated to each keyword (Example: library applications). For more general applications, it has some problems, namely: </a:t>
            </a:r>
          </a:p>
          <a:p>
            <a:pPr lvl="1" algn="just">
              <a:buFont typeface="Wingdings" panose="05000000000000000000" pitchFamily="2" charset="2"/>
              <a:buChar char="Ø"/>
            </a:pPr>
            <a:r>
              <a:rPr lang="en-US" dirty="0"/>
              <a:t>A basic structure is assumed (documents and words). This may be reasonable for many applications, but not for others. </a:t>
            </a:r>
          </a:p>
          <a:p>
            <a:pPr lvl="1" algn="just">
              <a:buFont typeface="Wingdings" panose="05000000000000000000" pitchFamily="2" charset="2"/>
              <a:buChar char="Ø"/>
            </a:pPr>
            <a:r>
              <a:rPr lang="en-US" dirty="0"/>
              <a:t>Keywords must be extracted from the text (this is called "indexing"). This task is not trivial and error prone, whether it is done by a person, or automatically by a computer. </a:t>
            </a:r>
          </a:p>
          <a:p>
            <a:pPr lvl="1" algn="just">
              <a:buFont typeface="Wingdings" panose="05000000000000000000" pitchFamily="2" charset="2"/>
              <a:buChar char="Ø"/>
            </a:pPr>
            <a:r>
              <a:rPr lang="en-US" dirty="0"/>
              <a:t>Queries are restricted to keywords.</a:t>
            </a:r>
            <a:endParaRPr lang="en-IN" dirty="0"/>
          </a:p>
        </p:txBody>
      </p:sp>
    </p:spTree>
    <p:extLst>
      <p:ext uri="{BB962C8B-B14F-4D97-AF65-F5344CB8AC3E}">
        <p14:creationId xmlns:p14="http://schemas.microsoft.com/office/powerpoint/2010/main" val="2256860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DA55F4-77C8-99F8-D429-5835982340C5}"/>
              </a:ext>
            </a:extLst>
          </p:cNvPr>
          <p:cNvSpPr>
            <a:spLocks noGrp="1"/>
          </p:cNvSpPr>
          <p:nvPr>
            <p:ph idx="1"/>
          </p:nvPr>
        </p:nvSpPr>
        <p:spPr>
          <a:xfrm>
            <a:off x="838200" y="707923"/>
            <a:ext cx="10515600" cy="5469040"/>
          </a:xfrm>
        </p:spPr>
        <p:txBody>
          <a:bodyPr/>
          <a:lstStyle/>
          <a:p>
            <a:pPr algn="just"/>
            <a:r>
              <a:rPr lang="en-US" dirty="0"/>
              <a:t>For some indices, instead of indexing a set of keywords, all words except for those deemed to be too common (called </a:t>
            </a:r>
            <a:r>
              <a:rPr lang="en-US" dirty="0" err="1"/>
              <a:t>stopwords</a:t>
            </a:r>
            <a:r>
              <a:rPr lang="en-US" dirty="0"/>
              <a:t>) are indexed. </a:t>
            </a:r>
          </a:p>
          <a:p>
            <a:pPr algn="just"/>
            <a:r>
              <a:rPr lang="en-US" dirty="0"/>
              <a:t>We prefer a different model. We see the text as one long string. </a:t>
            </a:r>
          </a:p>
          <a:p>
            <a:pPr algn="just"/>
            <a:r>
              <a:rPr lang="en-US" dirty="0"/>
              <a:t>Each position in the text corresponds to a semi-infinite string (</a:t>
            </a:r>
            <a:r>
              <a:rPr lang="en-US" dirty="0" err="1"/>
              <a:t>sistring</a:t>
            </a:r>
            <a:r>
              <a:rPr lang="en-US" dirty="0"/>
              <a:t>), the string that starts at that position and extends arbitrarily far to the right, or to the end of the text.</a:t>
            </a:r>
            <a:endParaRPr lang="en-IN" dirty="0"/>
          </a:p>
        </p:txBody>
      </p:sp>
    </p:spTree>
    <p:extLst>
      <p:ext uri="{BB962C8B-B14F-4D97-AF65-F5344CB8AC3E}">
        <p14:creationId xmlns:p14="http://schemas.microsoft.com/office/powerpoint/2010/main" val="1027604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5938-FB39-0153-E4D3-7240FAB8C6B9}"/>
              </a:ext>
            </a:extLst>
          </p:cNvPr>
          <p:cNvSpPr>
            <a:spLocks noGrp="1"/>
          </p:cNvSpPr>
          <p:nvPr>
            <p:ph type="title"/>
          </p:nvPr>
        </p:nvSpPr>
        <p:spPr/>
        <p:txBody>
          <a:bodyPr/>
          <a:lstStyle/>
          <a:p>
            <a:r>
              <a:rPr lang="en-IN" b="1" dirty="0"/>
              <a:t>PAT TREE STRUCTURE</a:t>
            </a:r>
          </a:p>
        </p:txBody>
      </p:sp>
      <p:sp>
        <p:nvSpPr>
          <p:cNvPr id="3" name="Content Placeholder 2">
            <a:extLst>
              <a:ext uri="{FF2B5EF4-FFF2-40B4-BE49-F238E27FC236}">
                <a16:creationId xmlns:a16="http://schemas.microsoft.com/office/drawing/2014/main" id="{B35B59DF-7F2F-C011-618F-FB1A0688A3BD}"/>
              </a:ext>
            </a:extLst>
          </p:cNvPr>
          <p:cNvSpPr>
            <a:spLocks noGrp="1"/>
          </p:cNvSpPr>
          <p:nvPr>
            <p:ph idx="1"/>
          </p:nvPr>
        </p:nvSpPr>
        <p:spPr/>
        <p:txBody>
          <a:bodyPr/>
          <a:lstStyle/>
          <a:p>
            <a:pPr algn="just"/>
            <a:r>
              <a:rPr lang="en-US" dirty="0"/>
              <a:t>The PAT tree is a data structure that allows very efficient searching with preprocessing. This section describes the PAT data structure, how to do some text searches and algorithms to build two of its possible implementations.</a:t>
            </a:r>
            <a:endParaRPr lang="en-IN" dirty="0"/>
          </a:p>
        </p:txBody>
      </p:sp>
    </p:spTree>
    <p:extLst>
      <p:ext uri="{BB962C8B-B14F-4D97-AF65-F5344CB8AC3E}">
        <p14:creationId xmlns:p14="http://schemas.microsoft.com/office/powerpoint/2010/main" val="2924946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BA8A43-73B0-84E8-3E96-C717E98D29F8}"/>
              </a:ext>
            </a:extLst>
          </p:cNvPr>
          <p:cNvSpPr>
            <a:spLocks noGrp="1"/>
          </p:cNvSpPr>
          <p:nvPr>
            <p:ph idx="1"/>
          </p:nvPr>
        </p:nvSpPr>
        <p:spPr>
          <a:xfrm>
            <a:off x="838200" y="157316"/>
            <a:ext cx="10515600" cy="6019647"/>
          </a:xfrm>
        </p:spPr>
        <p:txBody>
          <a:bodyPr/>
          <a:lstStyle/>
          <a:p>
            <a:pPr marL="0" indent="0" algn="just">
              <a:buNone/>
            </a:pPr>
            <a:r>
              <a:rPr lang="en-US" b="1" dirty="0"/>
              <a:t>Semi-infinite Strings:</a:t>
            </a:r>
          </a:p>
          <a:p>
            <a:pPr algn="just"/>
            <a:r>
              <a:rPr lang="en-US" dirty="0"/>
              <a:t> A semi-infinite string is a subsequence of characters from this array, taken from a given starting point but going on as necessary to the right. </a:t>
            </a:r>
          </a:p>
          <a:p>
            <a:pPr algn="just"/>
            <a:r>
              <a:rPr lang="en-US" dirty="0"/>
              <a:t>In case the semi-infinite string (</a:t>
            </a:r>
            <a:r>
              <a:rPr lang="en-US" dirty="0" err="1"/>
              <a:t>sistring</a:t>
            </a:r>
            <a:r>
              <a:rPr lang="en-US" dirty="0"/>
              <a:t>) is used beyond the end of the actual text, special null characters will be considered to be added at its end, these characters being different than any other in the text.</a:t>
            </a:r>
          </a:p>
          <a:p>
            <a:pPr algn="just"/>
            <a:r>
              <a:rPr lang="en-US" dirty="0"/>
              <a:t> The name semi-infinite is taken from the analogy with geometry where we have semi infinite lines, lines with one origin, but infinite in one direction. </a:t>
            </a:r>
          </a:p>
          <a:p>
            <a:pPr algn="just"/>
            <a:r>
              <a:rPr lang="en-US" dirty="0" err="1"/>
              <a:t>Sistrings</a:t>
            </a:r>
            <a:r>
              <a:rPr lang="en-US" dirty="0"/>
              <a:t> are uniquely identified by the position where they start, and for a given, fixed text, this is simply given by an integer.</a:t>
            </a:r>
            <a:endParaRPr lang="en-IN" dirty="0"/>
          </a:p>
        </p:txBody>
      </p:sp>
    </p:spTree>
    <p:extLst>
      <p:ext uri="{BB962C8B-B14F-4D97-AF65-F5344CB8AC3E}">
        <p14:creationId xmlns:p14="http://schemas.microsoft.com/office/powerpoint/2010/main" val="134051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D1A3A-5852-7D31-644F-80B022CA9451}"/>
              </a:ext>
            </a:extLst>
          </p:cNvPr>
          <p:cNvSpPr>
            <a:spLocks noGrp="1"/>
          </p:cNvSpPr>
          <p:nvPr>
            <p:ph idx="1"/>
          </p:nvPr>
        </p:nvSpPr>
        <p:spPr>
          <a:xfrm>
            <a:off x="838200" y="511277"/>
            <a:ext cx="10515600" cy="5665686"/>
          </a:xfrm>
        </p:spPr>
        <p:txBody>
          <a:bodyPr/>
          <a:lstStyle/>
          <a:p>
            <a:r>
              <a:rPr lang="en-US" b="1" dirty="0"/>
              <a:t>Example: </a:t>
            </a:r>
          </a:p>
          <a:p>
            <a:pPr marL="0" indent="0">
              <a:buNone/>
            </a:pPr>
            <a:r>
              <a:rPr lang="en-US" b="1" dirty="0"/>
              <a:t>Text: </a:t>
            </a:r>
            <a:r>
              <a:rPr lang="en-US" dirty="0"/>
              <a:t>Once upon a time, in a far away land . . . </a:t>
            </a:r>
          </a:p>
          <a:p>
            <a:pPr marL="0" indent="0">
              <a:buNone/>
            </a:pPr>
            <a:r>
              <a:rPr lang="en-US" dirty="0" err="1"/>
              <a:t>sistring</a:t>
            </a:r>
            <a:r>
              <a:rPr lang="en-US" dirty="0"/>
              <a:t> 1: Once upon a time . . . </a:t>
            </a:r>
          </a:p>
          <a:p>
            <a:pPr marL="0" indent="0">
              <a:buNone/>
            </a:pPr>
            <a:r>
              <a:rPr lang="en-US" dirty="0" err="1"/>
              <a:t>sistring</a:t>
            </a:r>
            <a:r>
              <a:rPr lang="en-US" dirty="0"/>
              <a:t> 2: </a:t>
            </a:r>
            <a:r>
              <a:rPr lang="en-US" dirty="0" err="1"/>
              <a:t>nce</a:t>
            </a:r>
            <a:r>
              <a:rPr lang="en-US" dirty="0"/>
              <a:t> upon a time . . . </a:t>
            </a:r>
          </a:p>
          <a:p>
            <a:pPr marL="0" indent="0">
              <a:buNone/>
            </a:pPr>
            <a:r>
              <a:rPr lang="en-US" dirty="0" err="1"/>
              <a:t>sistring</a:t>
            </a:r>
            <a:r>
              <a:rPr lang="en-US" dirty="0"/>
              <a:t> 8: on a time, in a . . . </a:t>
            </a:r>
          </a:p>
          <a:p>
            <a:pPr marL="0" indent="0">
              <a:buNone/>
            </a:pPr>
            <a:r>
              <a:rPr lang="en-US" dirty="0" err="1"/>
              <a:t>sistring</a:t>
            </a:r>
            <a:r>
              <a:rPr lang="en-US" dirty="0"/>
              <a:t> 11: a time, in a far . . . </a:t>
            </a:r>
          </a:p>
          <a:p>
            <a:pPr marL="0" indent="0">
              <a:buNone/>
            </a:pPr>
            <a:r>
              <a:rPr lang="en-US" dirty="0" err="1"/>
              <a:t>sistring</a:t>
            </a:r>
            <a:r>
              <a:rPr lang="en-US" dirty="0"/>
              <a:t> 22: a far away land . . .</a:t>
            </a:r>
            <a:endParaRPr lang="en-IN" dirty="0"/>
          </a:p>
        </p:txBody>
      </p:sp>
    </p:spTree>
    <p:extLst>
      <p:ext uri="{BB962C8B-B14F-4D97-AF65-F5344CB8AC3E}">
        <p14:creationId xmlns:p14="http://schemas.microsoft.com/office/powerpoint/2010/main" val="3247601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CCE4E0-E12D-599F-42EB-960D4DC1D23F}"/>
              </a:ext>
            </a:extLst>
          </p:cNvPr>
          <p:cNvSpPr>
            <a:spLocks noGrp="1"/>
          </p:cNvSpPr>
          <p:nvPr>
            <p:ph idx="1"/>
          </p:nvPr>
        </p:nvSpPr>
        <p:spPr>
          <a:xfrm>
            <a:off x="838200" y="540774"/>
            <a:ext cx="10515600" cy="5636189"/>
          </a:xfrm>
        </p:spPr>
        <p:txBody>
          <a:bodyPr>
            <a:normAutofit fontScale="92500"/>
          </a:bodyPr>
          <a:lstStyle/>
          <a:p>
            <a:pPr algn="just"/>
            <a:r>
              <a:rPr lang="en-US" dirty="0"/>
              <a:t>The most important operation on </a:t>
            </a:r>
            <a:r>
              <a:rPr lang="en-US" dirty="0" err="1"/>
              <a:t>sistrings</a:t>
            </a:r>
            <a:r>
              <a:rPr lang="en-US" dirty="0"/>
              <a:t> is the lexicographical comparison of </a:t>
            </a:r>
            <a:r>
              <a:rPr lang="en-US" dirty="0" err="1"/>
              <a:t>sistrings</a:t>
            </a:r>
            <a:r>
              <a:rPr lang="en-US" dirty="0"/>
              <a:t> and will be the only one defined. </a:t>
            </a:r>
          </a:p>
          <a:p>
            <a:pPr algn="just"/>
            <a:r>
              <a:rPr lang="en-US" dirty="0"/>
              <a:t>This comparison is the one resulting from comparing two </a:t>
            </a:r>
            <a:r>
              <a:rPr lang="en-US" dirty="0" err="1"/>
              <a:t>sistrings</a:t>
            </a:r>
            <a:r>
              <a:rPr lang="en-US" dirty="0"/>
              <a:t>' contents (not their positions). </a:t>
            </a:r>
          </a:p>
          <a:p>
            <a:pPr algn="just"/>
            <a:r>
              <a:rPr lang="en-US" dirty="0"/>
              <a:t>Note that unless we are comparing a </a:t>
            </a:r>
            <a:r>
              <a:rPr lang="en-US" dirty="0" err="1"/>
              <a:t>sistring</a:t>
            </a:r>
            <a:r>
              <a:rPr lang="en-US" dirty="0"/>
              <a:t> to it, the comparison of two </a:t>
            </a:r>
            <a:r>
              <a:rPr lang="en-US" dirty="0" err="1"/>
              <a:t>sistrings</a:t>
            </a:r>
            <a:r>
              <a:rPr lang="en-US" dirty="0"/>
              <a:t> cannot yield equal. </a:t>
            </a:r>
          </a:p>
          <a:p>
            <a:pPr algn="just"/>
            <a:r>
              <a:rPr lang="en-US" dirty="0"/>
              <a:t>If the </a:t>
            </a:r>
            <a:r>
              <a:rPr lang="en-US" dirty="0" err="1"/>
              <a:t>sistrings</a:t>
            </a:r>
            <a:r>
              <a:rPr lang="en-US" dirty="0"/>
              <a:t> are not the same, sooner or later, by inspecting enough characters, we will have to find a character where they differ, even if we have to start comparing the fictitious null characters at the end of the text.</a:t>
            </a:r>
          </a:p>
          <a:p>
            <a:pPr algn="just"/>
            <a:r>
              <a:rPr lang="en-US" dirty="0"/>
              <a:t>For example, the above </a:t>
            </a:r>
            <a:r>
              <a:rPr lang="en-US" dirty="0" err="1"/>
              <a:t>sistrings</a:t>
            </a:r>
            <a:r>
              <a:rPr lang="en-US" dirty="0"/>
              <a:t> will compare as follows: </a:t>
            </a:r>
          </a:p>
          <a:p>
            <a:pPr marL="0" indent="0" algn="just">
              <a:buNone/>
            </a:pPr>
            <a:r>
              <a:rPr lang="en-US" dirty="0"/>
              <a:t>	22 &lt; 11 &lt; 2 &lt; 8 &lt; 1 </a:t>
            </a:r>
          </a:p>
          <a:p>
            <a:pPr algn="just"/>
            <a:r>
              <a:rPr lang="en-US" dirty="0"/>
              <a:t>Of the first 22 </a:t>
            </a:r>
            <a:r>
              <a:rPr lang="en-US" dirty="0" err="1"/>
              <a:t>sistrings</a:t>
            </a:r>
            <a:r>
              <a:rPr lang="en-US" dirty="0"/>
              <a:t> (using ASCII ordering) the lowest </a:t>
            </a:r>
            <a:r>
              <a:rPr lang="en-US" dirty="0" err="1"/>
              <a:t>sistring</a:t>
            </a:r>
            <a:r>
              <a:rPr lang="en-US" dirty="0"/>
              <a:t> is "a far away. . ." and the highest is "upon a time. . . ." </a:t>
            </a:r>
            <a:endParaRPr lang="en-IN" dirty="0"/>
          </a:p>
        </p:txBody>
      </p:sp>
    </p:spTree>
    <p:extLst>
      <p:ext uri="{BB962C8B-B14F-4D97-AF65-F5344CB8AC3E}">
        <p14:creationId xmlns:p14="http://schemas.microsoft.com/office/powerpoint/2010/main" val="37010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BC7C9-91AA-DD86-7C89-C7D5BF4A2377}"/>
              </a:ext>
            </a:extLst>
          </p:cNvPr>
          <p:cNvSpPr>
            <a:spLocks noGrp="1"/>
          </p:cNvSpPr>
          <p:nvPr>
            <p:ph type="title"/>
          </p:nvPr>
        </p:nvSpPr>
        <p:spPr>
          <a:xfrm>
            <a:off x="838200" y="365125"/>
            <a:ext cx="10515600" cy="549275"/>
          </a:xfrm>
        </p:spPr>
        <p:txBody>
          <a:bodyPr>
            <a:normAutofit fontScale="90000"/>
          </a:bodyPr>
          <a:lstStyle/>
          <a:p>
            <a:r>
              <a:rPr lang="en-IN" b="1" dirty="0"/>
              <a:t>PAT Tree </a:t>
            </a:r>
          </a:p>
        </p:txBody>
      </p:sp>
      <p:sp>
        <p:nvSpPr>
          <p:cNvPr id="3" name="Content Placeholder 2">
            <a:extLst>
              <a:ext uri="{FF2B5EF4-FFF2-40B4-BE49-F238E27FC236}">
                <a16:creationId xmlns:a16="http://schemas.microsoft.com/office/drawing/2014/main" id="{9F373B49-6CDD-BE31-CA9F-E4F33114844D}"/>
              </a:ext>
            </a:extLst>
          </p:cNvPr>
          <p:cNvSpPr>
            <a:spLocks noGrp="1"/>
          </p:cNvSpPr>
          <p:nvPr>
            <p:ph idx="1"/>
          </p:nvPr>
        </p:nvSpPr>
        <p:spPr>
          <a:xfrm>
            <a:off x="838200" y="1230312"/>
            <a:ext cx="10515600" cy="5262563"/>
          </a:xfrm>
        </p:spPr>
        <p:txBody>
          <a:bodyPr/>
          <a:lstStyle/>
          <a:p>
            <a:r>
              <a:rPr lang="en-US" dirty="0"/>
              <a:t>A PAT Tree is a Patricia Tree constructed over all the possible </a:t>
            </a:r>
            <a:r>
              <a:rPr lang="en-US" dirty="0" err="1"/>
              <a:t>sistrings</a:t>
            </a:r>
            <a:r>
              <a:rPr lang="en-US" dirty="0"/>
              <a:t> of a text. </a:t>
            </a:r>
          </a:p>
          <a:p>
            <a:r>
              <a:rPr lang="en-US" dirty="0"/>
              <a:t>A Patricia tree is a digital tree where the individual bits of the keys are used to decide on the branching. </a:t>
            </a:r>
          </a:p>
          <a:p>
            <a:r>
              <a:rPr lang="en-US" dirty="0"/>
              <a:t>A zero bit will cause a branch to the left sub tree, a one bit will cause a branch to the right sub tree. </a:t>
            </a:r>
          </a:p>
          <a:p>
            <a:r>
              <a:rPr lang="en-US" dirty="0"/>
              <a:t>Hence Patricia trees are binary digital trees. </a:t>
            </a:r>
            <a:endParaRPr lang="en-IN" dirty="0"/>
          </a:p>
        </p:txBody>
      </p:sp>
    </p:spTree>
    <p:extLst>
      <p:ext uri="{BB962C8B-B14F-4D97-AF65-F5344CB8AC3E}">
        <p14:creationId xmlns:p14="http://schemas.microsoft.com/office/powerpoint/2010/main" val="2198385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C7E0AC-7D13-9C44-CFFA-0EA5E73B600B}"/>
              </a:ext>
            </a:extLst>
          </p:cNvPr>
          <p:cNvSpPr>
            <a:spLocks noGrp="1"/>
          </p:cNvSpPr>
          <p:nvPr>
            <p:ph idx="1"/>
          </p:nvPr>
        </p:nvSpPr>
        <p:spPr>
          <a:xfrm>
            <a:off x="838200" y="914400"/>
            <a:ext cx="10515600" cy="5262563"/>
          </a:xfrm>
        </p:spPr>
        <p:txBody>
          <a:bodyPr/>
          <a:lstStyle/>
          <a:p>
            <a:pPr algn="just"/>
            <a:r>
              <a:rPr lang="en-US" dirty="0"/>
              <a:t>Patricia trees store key values at external nodes; the internal nodes have no key information, just the skip counter and the pointers to the sub trees. </a:t>
            </a:r>
          </a:p>
          <a:p>
            <a:pPr algn="just"/>
            <a:r>
              <a:rPr lang="en-US" dirty="0"/>
              <a:t>The external nodes in a PAT tree are </a:t>
            </a:r>
            <a:r>
              <a:rPr lang="en-US" dirty="0" err="1"/>
              <a:t>sistrings</a:t>
            </a:r>
            <a:r>
              <a:rPr lang="en-US" dirty="0"/>
              <a:t>, that is, integer displacements. </a:t>
            </a:r>
          </a:p>
          <a:p>
            <a:pPr algn="just"/>
            <a:r>
              <a:rPr lang="en-US" dirty="0"/>
              <a:t>For a text of size n, there are n external nodes in the PAT tree and n - 1 internal node. </a:t>
            </a:r>
          </a:p>
          <a:p>
            <a:pPr algn="just"/>
            <a:r>
              <a:rPr lang="en-US" dirty="0"/>
              <a:t>This makes the tree O(n) in size, with a relatively small asymptotic constant. </a:t>
            </a:r>
            <a:endParaRPr lang="en-IN" dirty="0"/>
          </a:p>
        </p:txBody>
      </p:sp>
    </p:spTree>
    <p:extLst>
      <p:ext uri="{BB962C8B-B14F-4D97-AF65-F5344CB8AC3E}">
        <p14:creationId xmlns:p14="http://schemas.microsoft.com/office/powerpoint/2010/main" val="3005575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0F4775-1684-DC16-AEC9-15199AFCB5D7}"/>
              </a:ext>
            </a:extLst>
          </p:cNvPr>
          <p:cNvSpPr>
            <a:spLocks noGrp="1"/>
          </p:cNvSpPr>
          <p:nvPr>
            <p:ph idx="1"/>
          </p:nvPr>
        </p:nvSpPr>
        <p:spPr>
          <a:xfrm>
            <a:off x="838200" y="117987"/>
            <a:ext cx="10515600" cy="6058976"/>
          </a:xfrm>
        </p:spPr>
        <p:txBody>
          <a:bodyPr>
            <a:normAutofit/>
          </a:bodyPr>
          <a:lstStyle/>
          <a:p>
            <a:pPr algn="just"/>
            <a:r>
              <a:rPr lang="en-US" dirty="0"/>
              <a:t>The below figure shows an example of a PAT tree over a sequence of bits (normally it would be over a sequence of characters), just for the purpose of making the example easier to understand. </a:t>
            </a:r>
          </a:p>
          <a:p>
            <a:pPr algn="just"/>
            <a:r>
              <a:rPr lang="en-US" dirty="0"/>
              <a:t>In this example, we show the Patricia tree for the text "01100100010111..." after the first 8 </a:t>
            </a:r>
            <a:r>
              <a:rPr lang="en-US" dirty="0" err="1"/>
              <a:t>sistrings</a:t>
            </a:r>
            <a:r>
              <a:rPr lang="en-US" dirty="0"/>
              <a:t> have been inserted.</a:t>
            </a:r>
          </a:p>
          <a:p>
            <a:pPr algn="just"/>
            <a:r>
              <a:rPr lang="en-US" dirty="0"/>
              <a:t> External nodes are indicated by squares, and they contain a reference to a </a:t>
            </a:r>
            <a:r>
              <a:rPr lang="en-US" dirty="0" err="1"/>
              <a:t>sistring</a:t>
            </a:r>
            <a:r>
              <a:rPr lang="en-US" dirty="0"/>
              <a:t>, and internal nodes are indicated by a circle and contain a displacement. </a:t>
            </a:r>
          </a:p>
          <a:p>
            <a:pPr algn="just"/>
            <a:r>
              <a:rPr lang="en-US" dirty="0"/>
              <a:t>To each external node for the query 00101 we first inspect bit 1 (it is a zero, we go left) then bit 2 (it is zero, we go left), then bit 3 (it is a one, we go right), and then bit 5 (it is a one, we go right). </a:t>
            </a:r>
          </a:p>
          <a:p>
            <a:pPr algn="just"/>
            <a:r>
              <a:rPr lang="en-US" dirty="0"/>
              <a:t>We may skip the inspection of some bits (in this case bit 4). </a:t>
            </a:r>
          </a:p>
          <a:p>
            <a:pPr algn="just"/>
            <a:r>
              <a:rPr lang="en-US" dirty="0"/>
              <a:t>If there is no coincidence at any point then key is not in the tree. </a:t>
            </a:r>
            <a:endParaRPr lang="en-IN" dirty="0"/>
          </a:p>
        </p:txBody>
      </p:sp>
    </p:spTree>
    <p:extLst>
      <p:ext uri="{BB962C8B-B14F-4D97-AF65-F5344CB8AC3E}">
        <p14:creationId xmlns:p14="http://schemas.microsoft.com/office/powerpoint/2010/main" val="3256331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62F797-C2BC-6586-F0AE-5B904B9E24C6}"/>
              </a:ext>
            </a:extLst>
          </p:cNvPr>
          <p:cNvPicPr>
            <a:picLocks noChangeAspect="1"/>
          </p:cNvPicPr>
          <p:nvPr/>
        </p:nvPicPr>
        <p:blipFill>
          <a:blip r:embed="rId2"/>
          <a:stretch>
            <a:fillRect/>
          </a:stretch>
        </p:blipFill>
        <p:spPr>
          <a:xfrm>
            <a:off x="2418735" y="0"/>
            <a:ext cx="6243483" cy="4925961"/>
          </a:xfrm>
          <a:prstGeom prst="rect">
            <a:avLst/>
          </a:prstGeom>
        </p:spPr>
      </p:pic>
    </p:spTree>
    <p:extLst>
      <p:ext uri="{BB962C8B-B14F-4D97-AF65-F5344CB8AC3E}">
        <p14:creationId xmlns:p14="http://schemas.microsoft.com/office/powerpoint/2010/main" val="2896223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EBC51-4F3B-E0DF-69AF-1004E9E4D0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9A478E-B73D-10C1-074D-F08C6333EDE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7884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6000E-1006-FA7F-85F4-ADBF5EAD9E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0F68B42-23F9-2C55-3731-DE6D5AD7A24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24022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52FA8-639F-7B22-F342-7FA80745F9F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05D234-7B7E-74F0-EC9E-73468DE4975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162925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1BF6-AB02-559E-9D41-75F44EFEA5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06D1FEE-EE18-6AD6-8A0D-AE1AB940092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888688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200FA-F239-952A-9CE9-45E7375F9D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34733E-B2AF-9861-FEAB-7ECF72FB084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5700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0C87-FAD1-C7AC-9493-FA7F904746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F420C6-CB0A-AC52-E3A3-1940CF3559C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019278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A3190-7359-832E-4D50-583895F411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BFC328-085D-DE41-1C91-8BE9578D709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69830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D970F-0803-F0C0-6E46-D05ACDFF6B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0D1ECD4-897B-DE2E-F51A-EF0A1217BF2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54199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3EB39-051E-4AF8-9281-D9CA59B508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388243-AD65-007F-5790-971221F959A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51905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92E4B-3F58-8183-E5D3-596BE17B2D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1D0A404-6440-BC10-8C80-498D261737E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89340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A168F-865F-885E-EB9B-DA29795C38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1FBDAB-FAB5-E84A-7ABF-B9A4B3C50EE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31878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5D4-BFB8-5538-FCD1-B84ED35EDCF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1E8B3F-FEDA-783F-369D-DCD7BFB3F8E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14950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BD2DC-2ACF-22D3-A8A9-EC3392CD9E1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41DEA7-5390-FA91-97C2-0502FEB80EB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49706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01FD-CCAF-B08B-2C3B-7ACEFA541A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CFEA03-066A-541B-4C5A-D19D9D5D27E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550110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E1D57-E828-4216-705B-956BE54D60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47D077-14B4-94C9-1DFA-993033A4DD2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93856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54DE8-C6B2-7974-91B2-D7A88CEAE6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C84A66-BB6A-A9EE-8978-29DC3BD5F06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284567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50CE6-CC03-E477-A20A-20BA723210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0BE41F-C3ED-CB1C-B00A-2033B24F045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909153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6574-C52F-166E-98CE-E8B62F26B73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29367D-CF9F-FBE4-2337-9E20CD9D8C4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01083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3C77-2A92-F145-4896-6AF60D8F78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4F3516-D92F-A446-531C-E2DA5263558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8223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BB5CF-F62B-1FED-79D5-2887813DC8DA}"/>
              </a:ext>
            </a:extLst>
          </p:cNvPr>
          <p:cNvSpPr>
            <a:spLocks noGrp="1"/>
          </p:cNvSpPr>
          <p:nvPr>
            <p:ph type="title"/>
          </p:nvPr>
        </p:nvSpPr>
        <p:spPr>
          <a:xfrm>
            <a:off x="838200" y="365126"/>
            <a:ext cx="10515600" cy="804914"/>
          </a:xfrm>
        </p:spPr>
        <p:txBody>
          <a:bodyPr/>
          <a:lstStyle/>
          <a:p>
            <a:r>
              <a:rPr lang="en-US" b="1" dirty="0"/>
              <a:t>ALGORITHMS ON THE PAT TREES </a:t>
            </a:r>
            <a:endParaRPr lang="en-IN" b="1" dirty="0"/>
          </a:p>
        </p:txBody>
      </p:sp>
      <p:sp>
        <p:nvSpPr>
          <p:cNvPr id="3" name="Content Placeholder 2">
            <a:extLst>
              <a:ext uri="{FF2B5EF4-FFF2-40B4-BE49-F238E27FC236}">
                <a16:creationId xmlns:a16="http://schemas.microsoft.com/office/drawing/2014/main" id="{09A32999-23FD-E6EF-CB1B-15E74020C422}"/>
              </a:ext>
            </a:extLst>
          </p:cNvPr>
          <p:cNvSpPr>
            <a:spLocks noGrp="1"/>
          </p:cNvSpPr>
          <p:nvPr>
            <p:ph idx="1"/>
          </p:nvPr>
        </p:nvSpPr>
        <p:spPr>
          <a:xfrm>
            <a:off x="838200" y="1170040"/>
            <a:ext cx="10515600" cy="5006923"/>
          </a:xfrm>
        </p:spPr>
        <p:txBody>
          <a:bodyPr>
            <a:normAutofit fontScale="85000" lnSpcReduction="20000"/>
          </a:bodyPr>
          <a:lstStyle/>
          <a:p>
            <a:pPr algn="just"/>
            <a:r>
              <a:rPr lang="en-US" dirty="0"/>
              <a:t>Some of the algorithms for text searching when we have a PAT tree of our text are given as below.</a:t>
            </a:r>
          </a:p>
          <a:p>
            <a:pPr marL="0" indent="0" algn="just">
              <a:buNone/>
            </a:pPr>
            <a:r>
              <a:rPr lang="en-IN" b="1" dirty="0"/>
              <a:t>Prefix Searching </a:t>
            </a:r>
          </a:p>
          <a:p>
            <a:pPr algn="just"/>
            <a:r>
              <a:rPr lang="en-US" dirty="0"/>
              <a:t>Notice that every subtree of the PAT tree has all the </a:t>
            </a:r>
            <a:r>
              <a:rPr lang="en-US" dirty="0" err="1"/>
              <a:t>sistrings</a:t>
            </a:r>
            <a:r>
              <a:rPr lang="en-US" dirty="0"/>
              <a:t> with a given prefix, by construction. </a:t>
            </a:r>
          </a:p>
          <a:p>
            <a:pPr algn="just"/>
            <a:r>
              <a:rPr lang="en-US" dirty="0"/>
              <a:t>Then prefix searching in a PAT tree consists of searching the prefix in the tree up to the point where we exhaust the prefix or up to the point where we reach an external node. </a:t>
            </a:r>
          </a:p>
          <a:p>
            <a:pPr algn="just"/>
            <a:r>
              <a:rPr lang="en-US" dirty="0"/>
              <a:t>At this point we need to verify whether we could have skipped bits. </a:t>
            </a:r>
          </a:p>
          <a:p>
            <a:pPr algn="just"/>
            <a:r>
              <a:rPr lang="en-US" dirty="0"/>
              <a:t>This is done with a single comparison of any of the </a:t>
            </a:r>
            <a:r>
              <a:rPr lang="en-US" dirty="0" err="1"/>
              <a:t>sistrings</a:t>
            </a:r>
            <a:r>
              <a:rPr lang="en-US" dirty="0"/>
              <a:t> in the subtree (considering an external node as a subtree of size one). </a:t>
            </a:r>
          </a:p>
          <a:p>
            <a:r>
              <a:rPr lang="en-US" dirty="0"/>
              <a:t>If this comparison is successful, then all the </a:t>
            </a:r>
            <a:r>
              <a:rPr lang="en-US" dirty="0" err="1"/>
              <a:t>sistrings</a:t>
            </a:r>
            <a:r>
              <a:rPr lang="en-US" dirty="0"/>
              <a:t> in the subtree (which share the common prefix) are the answer; other wise there are no </a:t>
            </a:r>
            <a:r>
              <a:rPr lang="en-US" dirty="0" err="1"/>
              <a:t>sistrings</a:t>
            </a:r>
            <a:r>
              <a:rPr lang="en-US" dirty="0"/>
              <a:t> in the answer.</a:t>
            </a:r>
            <a:br>
              <a:rPr lang="en-US" dirty="0"/>
            </a:br>
            <a:endParaRPr lang="en-US" dirty="0"/>
          </a:p>
          <a:p>
            <a:pPr algn="just"/>
            <a:endParaRPr lang="en-US" dirty="0"/>
          </a:p>
          <a:p>
            <a:pPr algn="just"/>
            <a:endParaRPr lang="en-IN" dirty="0"/>
          </a:p>
        </p:txBody>
      </p:sp>
    </p:spTree>
    <p:extLst>
      <p:ext uri="{BB962C8B-B14F-4D97-AF65-F5344CB8AC3E}">
        <p14:creationId xmlns:p14="http://schemas.microsoft.com/office/powerpoint/2010/main" val="1160827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6796E6-9F23-CFBB-A2ED-4C790BA9F3BB}"/>
              </a:ext>
            </a:extLst>
          </p:cNvPr>
          <p:cNvPicPr>
            <a:picLocks noChangeAspect="1"/>
          </p:cNvPicPr>
          <p:nvPr/>
        </p:nvPicPr>
        <p:blipFill>
          <a:blip r:embed="rId2"/>
          <a:stretch>
            <a:fillRect/>
          </a:stretch>
        </p:blipFill>
        <p:spPr>
          <a:xfrm>
            <a:off x="3313471" y="943897"/>
            <a:ext cx="5230761" cy="4463844"/>
          </a:xfrm>
          <a:prstGeom prst="rect">
            <a:avLst/>
          </a:prstGeom>
        </p:spPr>
      </p:pic>
    </p:spTree>
    <p:extLst>
      <p:ext uri="{BB962C8B-B14F-4D97-AF65-F5344CB8AC3E}">
        <p14:creationId xmlns:p14="http://schemas.microsoft.com/office/powerpoint/2010/main" val="3628825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A92558-4640-2D47-C619-071019F177CB}"/>
              </a:ext>
            </a:extLst>
          </p:cNvPr>
          <p:cNvSpPr>
            <a:spLocks noGrp="1"/>
          </p:cNvSpPr>
          <p:nvPr>
            <p:ph idx="1"/>
          </p:nvPr>
        </p:nvSpPr>
        <p:spPr>
          <a:xfrm>
            <a:off x="838200" y="383458"/>
            <a:ext cx="10515600" cy="5793505"/>
          </a:xfrm>
        </p:spPr>
        <p:txBody>
          <a:bodyPr>
            <a:normAutofit lnSpcReduction="10000"/>
          </a:bodyPr>
          <a:lstStyle/>
          <a:p>
            <a:pPr marL="0" indent="0" algn="just">
              <a:buNone/>
            </a:pPr>
            <a:r>
              <a:rPr lang="en-US" b="1" dirty="0"/>
              <a:t>Proximity Searching </a:t>
            </a:r>
          </a:p>
          <a:p>
            <a:pPr algn="just"/>
            <a:r>
              <a:rPr lang="en-US" dirty="0"/>
              <a:t>We define a proximity search as finding all places where a string S1 is at most a fixed (given by the user) number of characters away from another string S2. </a:t>
            </a:r>
          </a:p>
          <a:p>
            <a:pPr algn="just"/>
            <a:r>
              <a:rPr lang="en-US" dirty="0"/>
              <a:t>The simplest algorithm for this type of query is to search for </a:t>
            </a:r>
            <a:r>
              <a:rPr lang="en-US" dirty="0" err="1"/>
              <a:t>sl</a:t>
            </a:r>
            <a:r>
              <a:rPr lang="en-US" dirty="0"/>
              <a:t> and s2. </a:t>
            </a:r>
          </a:p>
          <a:p>
            <a:pPr algn="just"/>
            <a:r>
              <a:rPr lang="en-US" dirty="0"/>
              <a:t>Then, sort by position the smaller of the two answers. </a:t>
            </a:r>
          </a:p>
          <a:p>
            <a:pPr algn="just"/>
            <a:r>
              <a:rPr lang="en-US" dirty="0"/>
              <a:t>Finally, we traverse the unsorted answer set, searching every position in the sorted set, and checking if the distance between positions (and order, if we always want s1 before s2) satisfies the proximity condition. </a:t>
            </a:r>
          </a:p>
          <a:p>
            <a:pPr algn="just"/>
            <a:r>
              <a:rPr lang="en-US" dirty="0"/>
              <a:t>Example: The cat chased the dog, and the dog chased the cat again.</a:t>
            </a:r>
          </a:p>
          <a:p>
            <a:pPr algn="just"/>
            <a:r>
              <a:rPr lang="en-US" dirty="0"/>
              <a:t>Here Consider, S1 = cat and S2 = dog and K=8</a:t>
            </a:r>
          </a:p>
          <a:p>
            <a:pPr algn="just"/>
            <a:r>
              <a:rPr lang="en-US" dirty="0"/>
              <a:t>Calculate the distance between S1 and S2.</a:t>
            </a:r>
            <a:endParaRPr lang="en-IN" dirty="0"/>
          </a:p>
        </p:txBody>
      </p:sp>
    </p:spTree>
    <p:extLst>
      <p:ext uri="{BB962C8B-B14F-4D97-AF65-F5344CB8AC3E}">
        <p14:creationId xmlns:p14="http://schemas.microsoft.com/office/powerpoint/2010/main" val="1558760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9B2298-9182-3CB5-2C96-A8FDD4C6DF9B}"/>
              </a:ext>
            </a:extLst>
          </p:cNvPr>
          <p:cNvSpPr>
            <a:spLocks noGrp="1"/>
          </p:cNvSpPr>
          <p:nvPr>
            <p:ph idx="1"/>
          </p:nvPr>
        </p:nvSpPr>
        <p:spPr>
          <a:xfrm>
            <a:off x="838200" y="481781"/>
            <a:ext cx="10515600" cy="5695182"/>
          </a:xfrm>
        </p:spPr>
        <p:txBody>
          <a:bodyPr/>
          <a:lstStyle/>
          <a:p>
            <a:pPr marL="0" indent="0" algn="just">
              <a:buNone/>
            </a:pPr>
            <a:r>
              <a:rPr lang="en-US" b="1" dirty="0"/>
              <a:t>Range Searching </a:t>
            </a:r>
          </a:p>
          <a:p>
            <a:pPr algn="just"/>
            <a:r>
              <a:rPr lang="en-US" dirty="0"/>
              <a:t>Searching for all the strings within a certain range of values (lexicographical range) can be done equally efficiently. </a:t>
            </a:r>
          </a:p>
          <a:p>
            <a:pPr algn="just"/>
            <a:r>
              <a:rPr lang="en-US" dirty="0"/>
              <a:t>More precisely, range searching is defined as searching for all strings that lexicographically compare between two given strings. </a:t>
            </a:r>
          </a:p>
          <a:p>
            <a:pPr algn="just"/>
            <a:r>
              <a:rPr lang="en-US" dirty="0"/>
              <a:t>To do range searching on a PAT tree, we search each end of the defining intervals and then collect all the subtrees between (and including) them. </a:t>
            </a:r>
            <a:endParaRPr lang="en-IN" dirty="0"/>
          </a:p>
        </p:txBody>
      </p:sp>
    </p:spTree>
    <p:extLst>
      <p:ext uri="{BB962C8B-B14F-4D97-AF65-F5344CB8AC3E}">
        <p14:creationId xmlns:p14="http://schemas.microsoft.com/office/powerpoint/2010/main" val="2348862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E0553-4FF0-973D-45C7-1F1E4D61A647}"/>
              </a:ext>
            </a:extLst>
          </p:cNvPr>
          <p:cNvSpPr>
            <a:spLocks noGrp="1"/>
          </p:cNvSpPr>
          <p:nvPr>
            <p:ph idx="1"/>
          </p:nvPr>
        </p:nvSpPr>
        <p:spPr>
          <a:xfrm>
            <a:off x="838200" y="766916"/>
            <a:ext cx="10515600" cy="5410047"/>
          </a:xfrm>
        </p:spPr>
        <p:txBody>
          <a:bodyPr/>
          <a:lstStyle/>
          <a:p>
            <a:pPr marL="0" indent="0">
              <a:buNone/>
            </a:pPr>
            <a:r>
              <a:rPr lang="en-US" dirty="0"/>
              <a:t>Example:</a:t>
            </a:r>
          </a:p>
          <a:p>
            <a:pPr marL="0" indent="0">
              <a:buNone/>
            </a:pPr>
            <a:r>
              <a:rPr lang="en-US" dirty="0" err="1"/>
              <a:t>sistring</a:t>
            </a:r>
            <a:r>
              <a:rPr lang="en-US" dirty="0"/>
              <a:t> 1: Once upon a time . . . </a:t>
            </a:r>
          </a:p>
          <a:p>
            <a:pPr marL="0" indent="0">
              <a:buNone/>
            </a:pPr>
            <a:r>
              <a:rPr lang="en-US" dirty="0" err="1"/>
              <a:t>sistring</a:t>
            </a:r>
            <a:r>
              <a:rPr lang="en-US" dirty="0"/>
              <a:t> 2: </a:t>
            </a:r>
            <a:r>
              <a:rPr lang="en-US" dirty="0" err="1"/>
              <a:t>nce</a:t>
            </a:r>
            <a:r>
              <a:rPr lang="en-US" dirty="0"/>
              <a:t> upon a time . . . </a:t>
            </a:r>
          </a:p>
          <a:p>
            <a:pPr marL="0" indent="0">
              <a:buNone/>
            </a:pPr>
            <a:r>
              <a:rPr lang="en-US" dirty="0" err="1"/>
              <a:t>sistring</a:t>
            </a:r>
            <a:r>
              <a:rPr lang="en-US" dirty="0"/>
              <a:t> 8: on a time, in a . . . </a:t>
            </a:r>
          </a:p>
          <a:p>
            <a:pPr marL="0" indent="0">
              <a:buNone/>
            </a:pPr>
            <a:r>
              <a:rPr lang="en-US" dirty="0" err="1"/>
              <a:t>sistring</a:t>
            </a:r>
            <a:r>
              <a:rPr lang="en-US" dirty="0"/>
              <a:t> 11: a time, in a far . . . </a:t>
            </a:r>
          </a:p>
          <a:p>
            <a:pPr marL="0" indent="0">
              <a:buNone/>
            </a:pPr>
            <a:r>
              <a:rPr lang="en-US" dirty="0" err="1"/>
              <a:t>sistring</a:t>
            </a:r>
            <a:r>
              <a:rPr lang="en-US" dirty="0"/>
              <a:t> 22: a far away land . . .</a:t>
            </a:r>
          </a:p>
          <a:p>
            <a:pPr marL="0" indent="0">
              <a:buNone/>
            </a:pPr>
            <a:r>
              <a:rPr lang="en-US" dirty="0"/>
              <a:t>22 &lt; 11 &lt; 2 &lt; 8 &lt; 1</a:t>
            </a:r>
            <a:endParaRPr lang="en-IN" dirty="0"/>
          </a:p>
          <a:p>
            <a:endParaRPr lang="en-IN" dirty="0"/>
          </a:p>
        </p:txBody>
      </p:sp>
    </p:spTree>
    <p:extLst>
      <p:ext uri="{BB962C8B-B14F-4D97-AF65-F5344CB8AC3E}">
        <p14:creationId xmlns:p14="http://schemas.microsoft.com/office/powerpoint/2010/main" val="339707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99E94-078A-8E4D-5F0A-2A5A4155F05E}"/>
              </a:ext>
            </a:extLst>
          </p:cNvPr>
          <p:cNvSpPr>
            <a:spLocks noGrp="1"/>
          </p:cNvSpPr>
          <p:nvPr>
            <p:ph idx="1"/>
          </p:nvPr>
        </p:nvSpPr>
        <p:spPr>
          <a:xfrm>
            <a:off x="838200" y="226142"/>
            <a:ext cx="10515600" cy="5950821"/>
          </a:xfrm>
        </p:spPr>
        <p:txBody>
          <a:bodyPr/>
          <a:lstStyle/>
          <a:p>
            <a:pPr marL="0" indent="0" algn="just">
              <a:buNone/>
            </a:pPr>
            <a:r>
              <a:rPr lang="en-US" b="1" dirty="0"/>
              <a:t>Longest Repetition Searching</a:t>
            </a:r>
          </a:p>
          <a:p>
            <a:pPr algn="just"/>
            <a:r>
              <a:rPr lang="en-US" dirty="0"/>
              <a:t>The longest repetition of a text is defined as the match between two different positions of a text where this match is the longest (the most number of characters) in the entire text. </a:t>
            </a:r>
          </a:p>
          <a:p>
            <a:pPr algn="just"/>
            <a:r>
              <a:rPr lang="en-US" dirty="0"/>
              <a:t>For a given text, the longest repetition will be given by the tallest internal node in the PAT tree, that is, the tallest internal node gives a pair of </a:t>
            </a:r>
            <a:r>
              <a:rPr lang="en-US" dirty="0" err="1"/>
              <a:t>sistrings</a:t>
            </a:r>
            <a:r>
              <a:rPr lang="en-US" dirty="0"/>
              <a:t> that match for the greatest number of characters. </a:t>
            </a:r>
          </a:p>
          <a:p>
            <a:pPr algn="just"/>
            <a:r>
              <a:rPr lang="en-US" dirty="0"/>
              <a:t>Example: banana</a:t>
            </a:r>
          </a:p>
          <a:p>
            <a:pPr algn="just"/>
            <a:r>
              <a:rPr lang="en-US" dirty="0"/>
              <a:t>In this an, ana, </a:t>
            </a:r>
            <a:r>
              <a:rPr lang="en-US" dirty="0" err="1"/>
              <a:t>na</a:t>
            </a:r>
            <a:r>
              <a:rPr lang="en-US" dirty="0"/>
              <a:t> are repeating among which the longest repetition is ana</a:t>
            </a:r>
            <a:endParaRPr lang="en-IN" dirty="0"/>
          </a:p>
        </p:txBody>
      </p:sp>
    </p:spTree>
    <p:extLst>
      <p:ext uri="{BB962C8B-B14F-4D97-AF65-F5344CB8AC3E}">
        <p14:creationId xmlns:p14="http://schemas.microsoft.com/office/powerpoint/2010/main" val="3630101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C3CD71-7176-055F-452C-986855F7D36B}"/>
              </a:ext>
            </a:extLst>
          </p:cNvPr>
          <p:cNvSpPr>
            <a:spLocks noGrp="1"/>
          </p:cNvSpPr>
          <p:nvPr>
            <p:ph idx="1"/>
          </p:nvPr>
        </p:nvSpPr>
        <p:spPr>
          <a:xfrm>
            <a:off x="838200" y="324465"/>
            <a:ext cx="10515600" cy="5852498"/>
          </a:xfrm>
        </p:spPr>
        <p:txBody>
          <a:bodyPr/>
          <a:lstStyle/>
          <a:p>
            <a:pPr marL="0" indent="0" algn="just">
              <a:buNone/>
            </a:pPr>
            <a:r>
              <a:rPr lang="en-US" b="1" dirty="0"/>
              <a:t>"Most Significant" or "Most Frequent" Searching</a:t>
            </a:r>
          </a:p>
          <a:p>
            <a:pPr algn="just"/>
            <a:r>
              <a:rPr lang="en-US" dirty="0"/>
              <a:t>This type of search has great practical interest, but is slightly difficult to describe. </a:t>
            </a:r>
          </a:p>
          <a:p>
            <a:pPr algn="just"/>
            <a:r>
              <a:rPr lang="en-US" dirty="0"/>
              <a:t>By “most significant” or “most frequent” we mean the most frequently occurring strings within the text database. </a:t>
            </a:r>
          </a:p>
          <a:p>
            <a:pPr algn="just"/>
            <a:r>
              <a:rPr lang="en-US" dirty="0"/>
              <a:t>For example, finding the “most frequent” trigram is finding a sequence of three letters that appears most often within our text.</a:t>
            </a:r>
            <a:endParaRPr lang="en-IN" dirty="0"/>
          </a:p>
        </p:txBody>
      </p:sp>
    </p:spTree>
    <p:extLst>
      <p:ext uri="{BB962C8B-B14F-4D97-AF65-F5344CB8AC3E}">
        <p14:creationId xmlns:p14="http://schemas.microsoft.com/office/powerpoint/2010/main" val="2575855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4B7770-3064-63B9-D293-ABF6BE856CF4}"/>
              </a:ext>
            </a:extLst>
          </p:cNvPr>
          <p:cNvSpPr>
            <a:spLocks noGrp="1"/>
          </p:cNvSpPr>
          <p:nvPr>
            <p:ph idx="1"/>
          </p:nvPr>
        </p:nvSpPr>
        <p:spPr>
          <a:xfrm>
            <a:off x="838200" y="275303"/>
            <a:ext cx="10515600" cy="5901660"/>
          </a:xfrm>
        </p:spPr>
        <p:txBody>
          <a:bodyPr>
            <a:normAutofit lnSpcReduction="10000"/>
          </a:bodyPr>
          <a:lstStyle/>
          <a:p>
            <a:pPr marL="0" indent="0">
              <a:buNone/>
            </a:pPr>
            <a:r>
              <a:rPr lang="en-IN" b="1" dirty="0"/>
              <a:t>Regular Expression Searching </a:t>
            </a:r>
          </a:p>
          <a:p>
            <a:pPr algn="just"/>
            <a:r>
              <a:rPr lang="en-US" dirty="0"/>
              <a:t>The main steps of the algorithm are: </a:t>
            </a:r>
          </a:p>
          <a:p>
            <a:pPr lvl="1" algn="just">
              <a:buFont typeface="Wingdings" panose="05000000000000000000" pitchFamily="2" charset="2"/>
              <a:buChar char="Ø"/>
            </a:pPr>
            <a:r>
              <a:rPr lang="en-US" dirty="0"/>
              <a:t>Convert the regular expression passed as a query into a minimized deterministic finite automation (DFA), </a:t>
            </a:r>
          </a:p>
          <a:p>
            <a:pPr lvl="1" algn="just">
              <a:buFont typeface="Wingdings" panose="05000000000000000000" pitchFamily="2" charset="2"/>
              <a:buChar char="Ø"/>
            </a:pPr>
            <a:r>
              <a:rPr lang="en-US" dirty="0"/>
              <a:t>Next eliminate outgoing transitions from final states (see justification in step (e). This may induce further minimization. </a:t>
            </a:r>
          </a:p>
          <a:p>
            <a:pPr lvl="1" algn="just">
              <a:buFont typeface="Wingdings" panose="05000000000000000000" pitchFamily="2" charset="2"/>
              <a:buChar char="Ø"/>
            </a:pPr>
            <a:r>
              <a:rPr lang="en-US" dirty="0"/>
              <a:t>Convert character DFAs into binary DFAs using any suitable binary encoding of the input alphabet; each state will then have at most two outgoing transitions, one labeled 0 and one labeled 1.</a:t>
            </a:r>
            <a:endParaRPr lang="en-IN" b="1" dirty="0"/>
          </a:p>
          <a:p>
            <a:pPr algn="just"/>
            <a:r>
              <a:rPr lang="en-IN" sz="2400" dirty="0"/>
              <a:t>For example consider ab* , construct DFA for ab* </a:t>
            </a:r>
          </a:p>
          <a:p>
            <a:pPr marL="0" indent="0" algn="just">
              <a:buNone/>
            </a:pPr>
            <a:r>
              <a:rPr lang="en-IN" sz="2400" dirty="0"/>
              <a:t>                                                     a                       b</a:t>
            </a:r>
          </a:p>
          <a:p>
            <a:pPr marL="0" indent="0" algn="just">
              <a:buNone/>
            </a:pPr>
            <a:endParaRPr lang="en-IN" sz="2400" dirty="0"/>
          </a:p>
          <a:p>
            <a:pPr marL="0" indent="0" algn="just">
              <a:buNone/>
            </a:pPr>
            <a:r>
              <a:rPr lang="en-IN" sz="2400" dirty="0"/>
              <a:t>a=0, b=1</a:t>
            </a:r>
          </a:p>
          <a:p>
            <a:pPr marL="0" indent="0" algn="just">
              <a:buNone/>
            </a:pPr>
            <a:r>
              <a:rPr lang="en-IN" sz="2400" dirty="0"/>
              <a:t>Consider the string </a:t>
            </a:r>
            <a:r>
              <a:rPr lang="en-IN" sz="2400" dirty="0" err="1"/>
              <a:t>cabbbad</a:t>
            </a:r>
            <a:r>
              <a:rPr lang="en-IN" sz="2400" dirty="0"/>
              <a:t>, here c is skipped, </a:t>
            </a:r>
            <a:r>
              <a:rPr lang="en-IN" sz="2400" dirty="0" err="1"/>
              <a:t>a,ab,abb,abbb</a:t>
            </a:r>
            <a:r>
              <a:rPr lang="en-IN" sz="2400" dirty="0"/>
              <a:t> are accepted and </a:t>
            </a:r>
            <a:r>
              <a:rPr lang="en-IN" sz="2400" dirty="0" err="1"/>
              <a:t>abbba</a:t>
            </a:r>
            <a:r>
              <a:rPr lang="en-IN" sz="2400" dirty="0"/>
              <a:t> is </a:t>
            </a:r>
            <a:r>
              <a:rPr lang="en-IN" sz="2400"/>
              <a:t>not matched. </a:t>
            </a:r>
            <a:endParaRPr lang="en-IN" sz="2400" dirty="0"/>
          </a:p>
        </p:txBody>
      </p:sp>
      <p:sp>
        <p:nvSpPr>
          <p:cNvPr id="2" name="Oval 1">
            <a:extLst>
              <a:ext uri="{FF2B5EF4-FFF2-40B4-BE49-F238E27FC236}">
                <a16:creationId xmlns:a16="http://schemas.microsoft.com/office/drawing/2014/main" id="{0440DDF1-DF1C-4EC1-84FD-7D7A03C28105}"/>
              </a:ext>
            </a:extLst>
          </p:cNvPr>
          <p:cNvSpPr/>
          <p:nvPr/>
        </p:nvSpPr>
        <p:spPr>
          <a:xfrm>
            <a:off x="3323303" y="4483510"/>
            <a:ext cx="639097" cy="6489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q0</a:t>
            </a:r>
          </a:p>
        </p:txBody>
      </p:sp>
      <p:sp>
        <p:nvSpPr>
          <p:cNvPr id="6" name="Circle: Hollow 5">
            <a:extLst>
              <a:ext uri="{FF2B5EF4-FFF2-40B4-BE49-F238E27FC236}">
                <a16:creationId xmlns:a16="http://schemas.microsoft.com/office/drawing/2014/main" id="{7EAB21F3-CB9E-E9B2-4CCB-93C14FB9FC33}"/>
              </a:ext>
            </a:extLst>
          </p:cNvPr>
          <p:cNvSpPr/>
          <p:nvPr/>
        </p:nvSpPr>
        <p:spPr>
          <a:xfrm>
            <a:off x="5565059" y="4483509"/>
            <a:ext cx="747251" cy="648929"/>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q1</a:t>
            </a:r>
          </a:p>
        </p:txBody>
      </p:sp>
      <p:cxnSp>
        <p:nvCxnSpPr>
          <p:cNvPr id="8" name="Straight Arrow Connector 7">
            <a:extLst>
              <a:ext uri="{FF2B5EF4-FFF2-40B4-BE49-F238E27FC236}">
                <a16:creationId xmlns:a16="http://schemas.microsoft.com/office/drawing/2014/main" id="{6F4D6E57-63CA-F6AC-B5CC-F700EBC1582A}"/>
              </a:ext>
            </a:extLst>
          </p:cNvPr>
          <p:cNvCxnSpPr>
            <a:stCxn id="2" idx="6"/>
            <a:endCxn id="6" idx="2"/>
          </p:cNvCxnSpPr>
          <p:nvPr/>
        </p:nvCxnSpPr>
        <p:spPr>
          <a:xfrm>
            <a:off x="3962400" y="4807974"/>
            <a:ext cx="16026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B9CDF59-0304-B7E2-120E-4248D810E87B}"/>
              </a:ext>
            </a:extLst>
          </p:cNvPr>
          <p:cNvCxnSpPr>
            <a:endCxn id="2" idx="2"/>
          </p:cNvCxnSpPr>
          <p:nvPr/>
        </p:nvCxnSpPr>
        <p:spPr>
          <a:xfrm>
            <a:off x="2605548" y="4778477"/>
            <a:ext cx="717755" cy="29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or: Curved 11">
            <a:extLst>
              <a:ext uri="{FF2B5EF4-FFF2-40B4-BE49-F238E27FC236}">
                <a16:creationId xmlns:a16="http://schemas.microsoft.com/office/drawing/2014/main" id="{1C1252AA-BF31-B6A7-9ADC-D2083DEA41DB}"/>
              </a:ext>
            </a:extLst>
          </p:cNvPr>
          <p:cNvCxnSpPr>
            <a:stCxn id="6" idx="1"/>
            <a:endCxn id="6" idx="7"/>
          </p:cNvCxnSpPr>
          <p:nvPr/>
        </p:nvCxnSpPr>
        <p:spPr>
          <a:xfrm rot="5400000" flipH="1" flipV="1">
            <a:off x="5938684" y="4314349"/>
            <a:ext cx="12700" cy="528387"/>
          </a:xfrm>
          <a:prstGeom prst="curvedConnector3">
            <a:avLst>
              <a:gd name="adj1" fmla="val 254829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63309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4B12B8-BBFA-3FD0-BE74-440FF9664778}"/>
              </a:ext>
            </a:extLst>
          </p:cNvPr>
          <p:cNvPicPr>
            <a:picLocks noChangeAspect="1"/>
          </p:cNvPicPr>
          <p:nvPr/>
        </p:nvPicPr>
        <p:blipFill>
          <a:blip r:embed="rId2"/>
          <a:stretch>
            <a:fillRect/>
          </a:stretch>
        </p:blipFill>
        <p:spPr>
          <a:xfrm>
            <a:off x="2959749" y="1543665"/>
            <a:ext cx="5672973" cy="3613356"/>
          </a:xfrm>
          <a:prstGeom prst="rect">
            <a:avLst/>
          </a:prstGeom>
        </p:spPr>
      </p:pic>
    </p:spTree>
    <p:extLst>
      <p:ext uri="{BB962C8B-B14F-4D97-AF65-F5344CB8AC3E}">
        <p14:creationId xmlns:p14="http://schemas.microsoft.com/office/powerpoint/2010/main" val="27107063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2413CC-8905-9973-21A1-B33BAEB74E18}"/>
              </a:ext>
            </a:extLst>
          </p:cNvPr>
          <p:cNvSpPr>
            <a:spLocks noGrp="1"/>
          </p:cNvSpPr>
          <p:nvPr>
            <p:ph idx="1"/>
          </p:nvPr>
        </p:nvSpPr>
        <p:spPr>
          <a:xfrm>
            <a:off x="838200" y="380144"/>
            <a:ext cx="10515600" cy="5796819"/>
          </a:xfrm>
        </p:spPr>
        <p:txBody>
          <a:bodyPr>
            <a:normAutofit lnSpcReduction="10000"/>
          </a:bodyPr>
          <a:lstStyle/>
          <a:p>
            <a:pPr marL="0" indent="0" algn="just">
              <a:lnSpc>
                <a:spcPct val="150000"/>
              </a:lnSpc>
              <a:buNone/>
            </a:pPr>
            <a:r>
              <a:rPr lang="en-US" sz="2200" b="1" dirty="0">
                <a:latin typeface="Bookman Old Style" panose="02050604050505020204" pitchFamily="18" charset="0"/>
              </a:rPr>
              <a:t>BUILDING PAT TREES AS PATRICIA TREES </a:t>
            </a:r>
          </a:p>
          <a:p>
            <a:pPr algn="just">
              <a:lnSpc>
                <a:spcPct val="150000"/>
              </a:lnSpc>
            </a:pPr>
            <a:r>
              <a:rPr lang="en-US" sz="2200" dirty="0">
                <a:latin typeface="Bookman Old Style" panose="02050604050505020204" pitchFamily="18" charset="0"/>
              </a:rPr>
              <a:t>The implementation of PAT trees using conventional Patricia trees is the obvious one.</a:t>
            </a:r>
          </a:p>
          <a:p>
            <a:pPr algn="just">
              <a:lnSpc>
                <a:spcPct val="150000"/>
              </a:lnSpc>
            </a:pPr>
            <a:r>
              <a:rPr lang="en-US" sz="2200" dirty="0">
                <a:latin typeface="Bookman Old Style" panose="02050604050505020204" pitchFamily="18" charset="0"/>
              </a:rPr>
              <a:t>They would increase the size of the index or its accessing time quite dramatically.</a:t>
            </a:r>
          </a:p>
          <a:p>
            <a:pPr algn="just">
              <a:lnSpc>
                <a:spcPct val="150000"/>
              </a:lnSpc>
            </a:pPr>
            <a:r>
              <a:rPr lang="en-US" sz="2200" dirty="0">
                <a:latin typeface="Bookman Old Style" panose="02050604050505020204" pitchFamily="18" charset="0"/>
              </a:rPr>
              <a:t>The size of the index tree is linear in the size of the text, an economic implementation is mandatory.</a:t>
            </a:r>
          </a:p>
          <a:p>
            <a:pPr marL="0" indent="0">
              <a:lnSpc>
                <a:spcPct val="150000"/>
              </a:lnSpc>
              <a:buNone/>
            </a:pPr>
            <a:r>
              <a:rPr lang="en-US" sz="2200" b="1" dirty="0">
                <a:latin typeface="Bookman Old Style" panose="02050604050505020204" pitchFamily="18" charset="0"/>
              </a:rPr>
              <a:t>This implementation has two main issues:</a:t>
            </a:r>
          </a:p>
          <a:p>
            <a:pPr>
              <a:lnSpc>
                <a:spcPct val="150000"/>
              </a:lnSpc>
            </a:pPr>
            <a:r>
              <a:rPr lang="en-US" sz="2200" dirty="0">
                <a:latin typeface="Bookman Old Style" panose="02050604050505020204" pitchFamily="18" charset="0"/>
              </a:rPr>
              <a:t>Large number of nodes in the tree as the size of tree grows.</a:t>
            </a:r>
          </a:p>
          <a:p>
            <a:pPr>
              <a:lnSpc>
                <a:spcPct val="150000"/>
              </a:lnSpc>
            </a:pPr>
            <a:r>
              <a:rPr lang="en-US" sz="2200" dirty="0">
                <a:latin typeface="Bookman Old Style" panose="02050604050505020204" pitchFamily="18" charset="0"/>
              </a:rPr>
              <a:t>Storage of the external nodes in the physical disks.</a:t>
            </a:r>
          </a:p>
          <a:p>
            <a:pPr algn="just">
              <a:lnSpc>
                <a:spcPct val="150000"/>
              </a:lnSpc>
            </a:pPr>
            <a:endParaRPr lang="en-US" sz="2200" dirty="0">
              <a:latin typeface="Bookman Old Style" panose="02050604050505020204" pitchFamily="18" charset="0"/>
            </a:endParaRPr>
          </a:p>
        </p:txBody>
      </p:sp>
    </p:spTree>
    <p:extLst>
      <p:ext uri="{BB962C8B-B14F-4D97-AF65-F5344CB8AC3E}">
        <p14:creationId xmlns:p14="http://schemas.microsoft.com/office/powerpoint/2010/main" val="1517460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EB6981-48BF-BCFF-A71B-CCD02410DC59}"/>
              </a:ext>
            </a:extLst>
          </p:cNvPr>
          <p:cNvSpPr>
            <a:spLocks noGrp="1"/>
          </p:cNvSpPr>
          <p:nvPr>
            <p:ph idx="1"/>
          </p:nvPr>
        </p:nvSpPr>
        <p:spPr>
          <a:xfrm>
            <a:off x="838200" y="493160"/>
            <a:ext cx="10515600" cy="5794624"/>
          </a:xfrm>
        </p:spPr>
        <p:txBody>
          <a:bodyPr>
            <a:normAutofit lnSpcReduction="10000"/>
          </a:bodyPr>
          <a:lstStyle/>
          <a:p>
            <a:pPr marL="0" indent="0" algn="just">
              <a:lnSpc>
                <a:spcPct val="150000"/>
              </a:lnSpc>
              <a:buNone/>
            </a:pPr>
            <a:r>
              <a:rPr lang="en-US" sz="2200" b="1" dirty="0">
                <a:latin typeface="Bookman Old Style" panose="02050604050505020204" pitchFamily="18" charset="0"/>
              </a:rPr>
              <a:t>The main ideas to solve (or alleviate) both problems are: </a:t>
            </a:r>
          </a:p>
          <a:p>
            <a:pPr lvl="1" algn="just">
              <a:lnSpc>
                <a:spcPct val="150000"/>
              </a:lnSpc>
              <a:buFont typeface="Wingdings" panose="05000000000000000000" pitchFamily="2" charset="2"/>
              <a:buChar char="Ø"/>
            </a:pPr>
            <a:r>
              <a:rPr lang="en-US" sz="1800" dirty="0">
                <a:latin typeface="Bookman Old Style" panose="02050604050505020204" pitchFamily="18" charset="0"/>
              </a:rPr>
              <a:t>Bucketing of external nodes</a:t>
            </a:r>
          </a:p>
          <a:p>
            <a:pPr lvl="1" algn="just">
              <a:lnSpc>
                <a:spcPct val="150000"/>
              </a:lnSpc>
              <a:buFont typeface="Wingdings" panose="05000000000000000000" pitchFamily="2" charset="2"/>
              <a:buChar char="Ø"/>
            </a:pPr>
            <a:r>
              <a:rPr lang="en-US" sz="1800" dirty="0">
                <a:latin typeface="Bookman Old Style" panose="02050604050505020204" pitchFamily="18" charset="0"/>
              </a:rPr>
              <a:t>Mapping the tree onto the disk using super nodes. </a:t>
            </a:r>
          </a:p>
          <a:p>
            <a:pPr algn="just">
              <a:lnSpc>
                <a:spcPct val="150000"/>
              </a:lnSpc>
            </a:pPr>
            <a:r>
              <a:rPr lang="en-US" sz="2400" b="1" dirty="0">
                <a:latin typeface="Bookman Old Style" panose="02050604050505020204" pitchFamily="18" charset="0"/>
              </a:rPr>
              <a:t>Bucketing of external nodes:</a:t>
            </a:r>
            <a:endParaRPr lang="en-US" sz="2200" b="1" dirty="0">
              <a:latin typeface="Bookman Old Style" panose="02050604050505020204" pitchFamily="18" charset="0"/>
            </a:endParaRPr>
          </a:p>
          <a:p>
            <a:pPr algn="just">
              <a:lnSpc>
                <a:spcPct val="150000"/>
              </a:lnSpc>
            </a:pPr>
            <a:r>
              <a:rPr lang="en-US" sz="2200" dirty="0">
                <a:latin typeface="Bookman Old Style" panose="02050604050505020204" pitchFamily="18" charset="0"/>
              </a:rPr>
              <a:t>Collecting more than one external node is called bucketing and is an old idea in data processing. </a:t>
            </a:r>
          </a:p>
          <a:p>
            <a:pPr algn="just">
              <a:lnSpc>
                <a:spcPct val="150000"/>
              </a:lnSpc>
            </a:pPr>
            <a:r>
              <a:rPr lang="en-US" sz="2200" dirty="0">
                <a:latin typeface="Bookman Old Style" panose="02050604050505020204" pitchFamily="18" charset="0"/>
              </a:rPr>
              <a:t>A bucket replaces any subtree with size less than a certain constant (say b) and hence saves up to b - l internal nodes. </a:t>
            </a:r>
          </a:p>
          <a:p>
            <a:pPr lvl="1" algn="just">
              <a:lnSpc>
                <a:spcPct val="150000"/>
              </a:lnSpc>
              <a:buFont typeface="Wingdings" panose="05000000000000000000" pitchFamily="2" charset="2"/>
              <a:buChar char="Ø"/>
            </a:pPr>
            <a:r>
              <a:rPr lang="en-US" sz="2200" dirty="0">
                <a:latin typeface="Bookman Old Style" panose="02050604050505020204" pitchFamily="18" charset="0"/>
              </a:rPr>
              <a:t>Any search that has to be done in the bucket has to be done on all the members of the bucket. </a:t>
            </a:r>
          </a:p>
          <a:p>
            <a:pPr lvl="1" algn="just">
              <a:lnSpc>
                <a:spcPct val="150000"/>
              </a:lnSpc>
              <a:buFont typeface="Wingdings" panose="05000000000000000000" pitchFamily="2" charset="2"/>
              <a:buChar char="Ø"/>
            </a:pPr>
            <a:r>
              <a:rPr lang="en-US" sz="2200" dirty="0">
                <a:latin typeface="Bookman Old Style" panose="02050604050505020204" pitchFamily="18" charset="0"/>
              </a:rPr>
              <a:t>It increases the number of comparisons for each search.</a:t>
            </a:r>
            <a:endParaRPr lang="en-IN" sz="2200" dirty="0">
              <a:latin typeface="Bookman Old Style" panose="02050604050505020204" pitchFamily="18" charset="0"/>
            </a:endParaRPr>
          </a:p>
          <a:p>
            <a:pPr algn="just">
              <a:lnSpc>
                <a:spcPct val="150000"/>
              </a:lnSpc>
            </a:pPr>
            <a:endParaRPr lang="en-IN" sz="2200" dirty="0">
              <a:latin typeface="Bookman Old Style" panose="02050604050505020204" pitchFamily="18" charset="0"/>
            </a:endParaRPr>
          </a:p>
        </p:txBody>
      </p:sp>
    </p:spTree>
    <p:extLst>
      <p:ext uri="{BB962C8B-B14F-4D97-AF65-F5344CB8AC3E}">
        <p14:creationId xmlns:p14="http://schemas.microsoft.com/office/powerpoint/2010/main" val="29257830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5EEBF-EC61-7DFB-865F-1A2969288C4F}"/>
              </a:ext>
            </a:extLst>
          </p:cNvPr>
          <p:cNvSpPr>
            <a:spLocks noGrp="1"/>
          </p:cNvSpPr>
          <p:nvPr>
            <p:ph idx="1"/>
          </p:nvPr>
        </p:nvSpPr>
        <p:spPr>
          <a:xfrm>
            <a:off x="838200" y="102743"/>
            <a:ext cx="10515600" cy="6513814"/>
          </a:xfrm>
        </p:spPr>
        <p:txBody>
          <a:bodyPr>
            <a:noAutofit/>
          </a:bodyPr>
          <a:lstStyle/>
          <a:p>
            <a:pPr algn="just">
              <a:lnSpc>
                <a:spcPct val="150000"/>
              </a:lnSpc>
            </a:pPr>
            <a:r>
              <a:rPr lang="en-US" sz="2400" b="1" dirty="0">
                <a:latin typeface="Bookman Old Style" panose="02050604050505020204" pitchFamily="18" charset="0"/>
              </a:rPr>
              <a:t>Mapping the tree onto the disk using super nodes:</a:t>
            </a:r>
            <a:endParaRPr lang="en-US" sz="2200" b="1" dirty="0">
              <a:latin typeface="Bookman Old Style" panose="02050604050505020204" pitchFamily="18" charset="0"/>
            </a:endParaRPr>
          </a:p>
          <a:p>
            <a:pPr algn="just">
              <a:lnSpc>
                <a:spcPct val="150000"/>
              </a:lnSpc>
            </a:pPr>
            <a:r>
              <a:rPr lang="en-US" sz="2200" dirty="0">
                <a:latin typeface="Bookman Old Style" panose="02050604050505020204" pitchFamily="18" charset="0"/>
              </a:rPr>
              <a:t>Organizing the tree in super-nodes has advantages from the point of view of the number of accesses as well as in space. </a:t>
            </a:r>
          </a:p>
          <a:p>
            <a:pPr marL="0" indent="0" algn="just">
              <a:lnSpc>
                <a:spcPct val="150000"/>
              </a:lnSpc>
              <a:buNone/>
            </a:pPr>
            <a:r>
              <a:rPr lang="en-US" sz="2200" b="1" dirty="0">
                <a:latin typeface="Bookman Old Style" panose="02050604050505020204" pitchFamily="18" charset="0"/>
              </a:rPr>
              <a:t>Super-Nodes </a:t>
            </a:r>
          </a:p>
          <a:p>
            <a:pPr algn="just">
              <a:lnSpc>
                <a:spcPct val="150000"/>
              </a:lnSpc>
            </a:pPr>
            <a:r>
              <a:rPr lang="en-US" sz="2200" b="1" dirty="0">
                <a:latin typeface="Bookman Old Style" panose="02050604050505020204" pitchFamily="18" charset="0"/>
              </a:rPr>
              <a:t>Idea:</a:t>
            </a:r>
            <a:r>
              <a:rPr lang="en-US" sz="2200" dirty="0">
                <a:latin typeface="Bookman Old Style" panose="02050604050505020204" pitchFamily="18" charset="0"/>
              </a:rPr>
              <a:t> Disk access is slow. Each time we traverse nodes, if they’re on different disk pages, we pay a cost.</a:t>
            </a:r>
          </a:p>
          <a:p>
            <a:pPr algn="just">
              <a:lnSpc>
                <a:spcPct val="150000"/>
              </a:lnSpc>
            </a:pPr>
            <a:r>
              <a:rPr lang="en-US" sz="2200" dirty="0">
                <a:latin typeface="Bookman Old Style" panose="02050604050505020204" pitchFamily="18" charset="0"/>
              </a:rPr>
              <a:t>So instead of storing </a:t>
            </a:r>
            <a:r>
              <a:rPr lang="en-US" sz="2200" b="1" dirty="0">
                <a:latin typeface="Bookman Old Style" panose="02050604050505020204" pitchFamily="18" charset="0"/>
              </a:rPr>
              <a:t>one node per disk page</a:t>
            </a:r>
            <a:r>
              <a:rPr lang="en-US" sz="2200" dirty="0">
                <a:latin typeface="Bookman Old Style" panose="02050604050505020204" pitchFamily="18" charset="0"/>
              </a:rPr>
              <a:t>, we </a:t>
            </a:r>
            <a:r>
              <a:rPr lang="en-US" sz="2200" b="1" dirty="0">
                <a:latin typeface="Bookman Old Style" panose="02050604050505020204" pitchFamily="18" charset="0"/>
              </a:rPr>
              <a:t>pack many nodes into a single disk page (super-node)</a:t>
            </a:r>
            <a:r>
              <a:rPr lang="en-US" sz="2200" dirty="0">
                <a:latin typeface="Bookman Old Style" panose="02050604050505020204" pitchFamily="18" charset="0"/>
              </a:rPr>
              <a:t>.</a:t>
            </a:r>
          </a:p>
          <a:p>
            <a:pPr algn="just">
              <a:lnSpc>
                <a:spcPct val="150000"/>
              </a:lnSpc>
            </a:pPr>
            <a:r>
              <a:rPr lang="en-US" sz="2200" b="1" dirty="0">
                <a:latin typeface="Bookman Old Style" panose="02050604050505020204" pitchFamily="18" charset="0"/>
              </a:rPr>
              <a:t>One disk page</a:t>
            </a:r>
            <a:r>
              <a:rPr lang="en-US" sz="2200" dirty="0">
                <a:latin typeface="Bookman Old Style" panose="02050604050505020204" pitchFamily="18" charset="0"/>
              </a:rPr>
              <a:t> = ~1000 nodes (internal + external). Each page has </a:t>
            </a:r>
            <a:r>
              <a:rPr lang="en-US" sz="2200" b="1" dirty="0">
                <a:latin typeface="Bookman Old Style" panose="02050604050505020204" pitchFamily="18" charset="0"/>
              </a:rPr>
              <a:t>one entry point</a:t>
            </a:r>
            <a:r>
              <a:rPr lang="en-US" sz="2200" dirty="0">
                <a:latin typeface="Bookman Old Style" panose="02050604050505020204" pitchFamily="18" charset="0"/>
              </a:rPr>
              <a:t> (like a local root).</a:t>
            </a:r>
          </a:p>
          <a:p>
            <a:pPr algn="just">
              <a:lnSpc>
                <a:spcPct val="150000"/>
              </a:lnSpc>
            </a:pPr>
            <a:r>
              <a:rPr lang="en-US" sz="2200" b="1" dirty="0">
                <a:latin typeface="Bookman Old Style" panose="02050604050505020204" pitchFamily="18" charset="0"/>
              </a:rPr>
              <a:t>Inside a page: </a:t>
            </a:r>
            <a:r>
              <a:rPr lang="en-US" sz="2200" dirty="0">
                <a:latin typeface="Bookman Old Style" panose="02050604050505020204" pitchFamily="18" charset="0"/>
              </a:rPr>
              <a:t>we traverse multiple nodes (up to ~10 levels of the tree) without additional disk access.</a:t>
            </a:r>
          </a:p>
        </p:txBody>
      </p:sp>
    </p:spTree>
    <p:extLst>
      <p:ext uri="{BB962C8B-B14F-4D97-AF65-F5344CB8AC3E}">
        <p14:creationId xmlns:p14="http://schemas.microsoft.com/office/powerpoint/2010/main" val="6460849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CD4D58-A953-DF04-D9AA-C9F78F571F04}"/>
              </a:ext>
            </a:extLst>
          </p:cNvPr>
          <p:cNvSpPr>
            <a:spLocks noGrp="1"/>
          </p:cNvSpPr>
          <p:nvPr>
            <p:ph idx="1"/>
          </p:nvPr>
        </p:nvSpPr>
        <p:spPr>
          <a:xfrm>
            <a:off x="838200" y="82193"/>
            <a:ext cx="10515600" cy="6094770"/>
          </a:xfrm>
        </p:spPr>
        <p:txBody>
          <a:bodyPr>
            <a:noAutofit/>
          </a:bodyPr>
          <a:lstStyle/>
          <a:p>
            <a:pPr algn="just">
              <a:lnSpc>
                <a:spcPct val="170000"/>
              </a:lnSpc>
            </a:pPr>
            <a:r>
              <a:rPr lang="en-US" sz="2200" dirty="0">
                <a:latin typeface="Bookman Old Style" panose="02050604050505020204" pitchFamily="18" charset="0"/>
              </a:rPr>
              <a:t>If needed, we jump to another page via a pointer.</a:t>
            </a:r>
            <a:endParaRPr lang="en-US" sz="2200" b="1" dirty="0">
              <a:latin typeface="Bookman Old Style" panose="02050604050505020204" pitchFamily="18" charset="0"/>
            </a:endParaRPr>
          </a:p>
          <a:p>
            <a:pPr marL="0" indent="0" algn="just">
              <a:lnSpc>
                <a:spcPct val="170000"/>
              </a:lnSpc>
              <a:buNone/>
            </a:pPr>
            <a:r>
              <a:rPr lang="en-US" sz="2200" b="1" dirty="0">
                <a:latin typeface="Bookman Old Style" panose="02050604050505020204" pitchFamily="18" charset="0"/>
              </a:rPr>
              <a:t>Advantage:</a:t>
            </a:r>
            <a:endParaRPr lang="en-US" sz="2200" dirty="0">
              <a:latin typeface="Bookman Old Style" panose="02050604050505020204" pitchFamily="18" charset="0"/>
            </a:endParaRPr>
          </a:p>
          <a:p>
            <a:pPr algn="just">
              <a:lnSpc>
                <a:spcPct val="170000"/>
              </a:lnSpc>
            </a:pPr>
            <a:r>
              <a:rPr lang="en-US" sz="2200" dirty="0">
                <a:latin typeface="Bookman Old Style" panose="02050604050505020204" pitchFamily="18" charset="0"/>
              </a:rPr>
              <a:t>If tree height = 100 steps, then normally → 100 disk accesses.</a:t>
            </a:r>
          </a:p>
          <a:p>
            <a:pPr algn="just">
              <a:lnSpc>
                <a:spcPct val="170000"/>
              </a:lnSpc>
            </a:pPr>
            <a:r>
              <a:rPr lang="en-US" sz="2200" dirty="0">
                <a:latin typeface="Bookman Old Style" panose="02050604050505020204" pitchFamily="18" charset="0"/>
              </a:rPr>
              <a:t>With super-nodes (10 steps per page) → only 10 disk accesses.</a:t>
            </a:r>
          </a:p>
          <a:p>
            <a:pPr marL="0" indent="0">
              <a:lnSpc>
                <a:spcPct val="170000"/>
              </a:lnSpc>
              <a:buNone/>
            </a:pPr>
            <a:r>
              <a:rPr lang="en-US" sz="2200" b="1" dirty="0">
                <a:latin typeface="Bookman Old Style" panose="02050604050505020204" pitchFamily="18" charset="0"/>
              </a:rPr>
              <a:t>Example:</a:t>
            </a:r>
            <a:br>
              <a:rPr lang="en-US" sz="2200" dirty="0">
                <a:latin typeface="Bookman Old Style" panose="02050604050505020204" pitchFamily="18" charset="0"/>
              </a:rPr>
            </a:br>
            <a:r>
              <a:rPr lang="en-US" sz="2200" dirty="0">
                <a:latin typeface="Bookman Old Style" panose="02050604050505020204" pitchFamily="18" charset="0"/>
              </a:rPr>
              <a:t>Suppose tree height = 30.</a:t>
            </a:r>
          </a:p>
          <a:p>
            <a:pPr algn="just">
              <a:lnSpc>
                <a:spcPct val="170000"/>
              </a:lnSpc>
            </a:pPr>
            <a:r>
              <a:rPr lang="en-US" sz="2200" dirty="0">
                <a:latin typeface="Bookman Old Style" panose="02050604050505020204" pitchFamily="18" charset="0"/>
              </a:rPr>
              <a:t>Naive implementation → need up to 30 disk reads.</a:t>
            </a:r>
          </a:p>
          <a:p>
            <a:pPr algn="just">
              <a:lnSpc>
                <a:spcPct val="170000"/>
              </a:lnSpc>
            </a:pPr>
            <a:r>
              <a:rPr lang="en-US" sz="2200" dirty="0">
                <a:latin typeface="Bookman Old Style" panose="02050604050505020204" pitchFamily="18" charset="0"/>
              </a:rPr>
              <a:t>Super-nodes (10 steps/page) → need only 3 disk reads.</a:t>
            </a:r>
          </a:p>
          <a:p>
            <a:pPr algn="just">
              <a:lnSpc>
                <a:spcPct val="170000"/>
              </a:lnSpc>
            </a:pPr>
            <a:r>
              <a:rPr lang="en-US" sz="2200" dirty="0">
                <a:latin typeface="Bookman Old Style" panose="02050604050505020204" pitchFamily="18" charset="0"/>
              </a:rPr>
              <a:t>This makes searches much faster.</a:t>
            </a:r>
          </a:p>
          <a:p>
            <a:pPr algn="just">
              <a:lnSpc>
                <a:spcPct val="170000"/>
              </a:lnSpc>
            </a:pPr>
            <a:endParaRPr lang="en-IN" sz="2200" dirty="0">
              <a:latin typeface="Bookman Old Style" panose="02050604050505020204" pitchFamily="18" charset="0"/>
            </a:endParaRPr>
          </a:p>
        </p:txBody>
      </p:sp>
    </p:spTree>
    <p:extLst>
      <p:ext uri="{BB962C8B-B14F-4D97-AF65-F5344CB8AC3E}">
        <p14:creationId xmlns:p14="http://schemas.microsoft.com/office/powerpoint/2010/main" val="28967059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86E9CA-6869-2DDF-1B02-7C3CDBEBC4DE}"/>
              </a:ext>
            </a:extLst>
          </p:cNvPr>
          <p:cNvSpPr>
            <a:spLocks noGrp="1"/>
          </p:cNvSpPr>
          <p:nvPr>
            <p:ph idx="1"/>
          </p:nvPr>
        </p:nvSpPr>
        <p:spPr>
          <a:xfrm>
            <a:off x="838200" y="523982"/>
            <a:ext cx="10515600" cy="5652981"/>
          </a:xfrm>
        </p:spPr>
        <p:txBody>
          <a:bodyPr>
            <a:normAutofit/>
          </a:bodyPr>
          <a:lstStyle/>
          <a:p>
            <a:pPr marL="0" indent="0" algn="just">
              <a:lnSpc>
                <a:spcPct val="170000"/>
              </a:lnSpc>
              <a:buNone/>
            </a:pPr>
            <a:r>
              <a:rPr lang="en-US" sz="2200" b="1" dirty="0">
                <a:latin typeface="Bookman Old Style" panose="02050604050505020204" pitchFamily="18" charset="0"/>
              </a:rPr>
              <a:t>Occupancy issue:</a:t>
            </a:r>
            <a:endParaRPr lang="en-US" sz="2200" dirty="0">
              <a:latin typeface="Bookman Old Style" panose="02050604050505020204" pitchFamily="18" charset="0"/>
            </a:endParaRPr>
          </a:p>
          <a:p>
            <a:pPr algn="just">
              <a:lnSpc>
                <a:spcPct val="170000"/>
              </a:lnSpc>
            </a:pPr>
            <a:r>
              <a:rPr lang="en-US" sz="2200" dirty="0">
                <a:latin typeface="Bookman Old Style" panose="02050604050505020204" pitchFamily="18" charset="0"/>
              </a:rPr>
              <a:t>Some disk pages won’t be 100% full.</a:t>
            </a:r>
          </a:p>
          <a:p>
            <a:pPr algn="just">
              <a:lnSpc>
                <a:spcPct val="170000"/>
              </a:lnSpc>
            </a:pPr>
            <a:r>
              <a:rPr lang="en-US" sz="2200" dirty="0">
                <a:latin typeface="Bookman Old Style" panose="02050604050505020204" pitchFamily="18" charset="0"/>
              </a:rPr>
              <a:t>But </a:t>
            </a:r>
            <a:r>
              <a:rPr lang="en-US" sz="2200" b="1" dirty="0">
                <a:latin typeface="Bookman Old Style" panose="02050604050505020204" pitchFamily="18" charset="0"/>
              </a:rPr>
              <a:t>greedy bottom-up packing</a:t>
            </a:r>
            <a:r>
              <a:rPr lang="en-US" sz="2200" dirty="0">
                <a:latin typeface="Bookman Old Style" panose="02050604050505020204" pitchFamily="18" charset="0"/>
              </a:rPr>
              <a:t> guarantees ≥50% filled, often ~80%.</a:t>
            </a:r>
          </a:p>
          <a:p>
            <a:pPr algn="just">
              <a:lnSpc>
                <a:spcPct val="150000"/>
              </a:lnSpc>
            </a:pPr>
            <a:r>
              <a:rPr lang="en-US" sz="2200" dirty="0">
                <a:latin typeface="Bookman Old Style" panose="02050604050505020204" pitchFamily="18" charset="0"/>
              </a:rPr>
              <a:t>With these constraints, disk pages will contain on the order of 1,000 internal/external nodes. </a:t>
            </a:r>
          </a:p>
          <a:p>
            <a:pPr algn="just">
              <a:lnSpc>
                <a:spcPct val="150000"/>
              </a:lnSpc>
            </a:pPr>
            <a:r>
              <a:rPr lang="en-US" sz="2200" dirty="0">
                <a:latin typeface="Bookman Old Style" panose="02050604050505020204" pitchFamily="18" charset="0"/>
              </a:rPr>
              <a:t>This means that on the average, each disk page will contain about 10 steps of a </a:t>
            </a:r>
            <a:r>
              <a:rPr lang="en-US" sz="2200">
                <a:latin typeface="Bookman Old Style" panose="02050604050505020204" pitchFamily="18" charset="0"/>
              </a:rPr>
              <a:t>root-to-leaf path.</a:t>
            </a:r>
            <a:endParaRPr lang="en-IN" sz="2200" dirty="0">
              <a:latin typeface="Bookman Old Style" panose="02050604050505020204" pitchFamily="18" charset="0"/>
            </a:endParaRPr>
          </a:p>
        </p:txBody>
      </p:sp>
    </p:spTree>
    <p:extLst>
      <p:ext uri="{BB962C8B-B14F-4D97-AF65-F5344CB8AC3E}">
        <p14:creationId xmlns:p14="http://schemas.microsoft.com/office/powerpoint/2010/main" val="794479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B7368B-3291-72B9-390A-AA4568402069}"/>
              </a:ext>
            </a:extLst>
          </p:cNvPr>
          <p:cNvSpPr>
            <a:spLocks noGrp="1"/>
          </p:cNvSpPr>
          <p:nvPr>
            <p:ph idx="1"/>
          </p:nvPr>
        </p:nvSpPr>
        <p:spPr>
          <a:xfrm>
            <a:off x="838200" y="349321"/>
            <a:ext cx="10515600" cy="5827642"/>
          </a:xfrm>
        </p:spPr>
        <p:txBody>
          <a:bodyPr>
            <a:normAutofit/>
          </a:bodyPr>
          <a:lstStyle/>
          <a:p>
            <a:pPr marL="0" indent="0" algn="just">
              <a:lnSpc>
                <a:spcPct val="150000"/>
              </a:lnSpc>
              <a:buNone/>
            </a:pPr>
            <a:r>
              <a:rPr lang="en-US" sz="2200" b="1" dirty="0">
                <a:latin typeface="Bookman Old Style" panose="02050604050505020204" pitchFamily="18" charset="0"/>
              </a:rPr>
              <a:t>PAT TREES REPRESENTATION AS ARRAYS </a:t>
            </a:r>
          </a:p>
          <a:p>
            <a:pPr algn="just">
              <a:lnSpc>
                <a:spcPct val="150000"/>
              </a:lnSpc>
            </a:pPr>
            <a:r>
              <a:rPr lang="en-US" sz="2200" dirty="0">
                <a:latin typeface="Bookman Old Style" panose="02050604050505020204" pitchFamily="18" charset="0"/>
              </a:rPr>
              <a:t>When a search reaches a bucket, we have to scan all the external nodes in the bucket to determine which if any satisfy the search. </a:t>
            </a:r>
          </a:p>
          <a:p>
            <a:pPr algn="just">
              <a:lnSpc>
                <a:spcPct val="150000"/>
              </a:lnSpc>
            </a:pPr>
            <a:r>
              <a:rPr lang="en-US" sz="2200" dirty="0">
                <a:latin typeface="Bookman Old Style" panose="02050604050505020204" pitchFamily="18" charset="0"/>
              </a:rPr>
              <a:t>If the bucket is too large, these costs become prohibitive. </a:t>
            </a:r>
          </a:p>
          <a:p>
            <a:pPr algn="just">
              <a:lnSpc>
                <a:spcPct val="150000"/>
              </a:lnSpc>
            </a:pPr>
            <a:r>
              <a:rPr lang="en-US" sz="2200" dirty="0">
                <a:latin typeface="Bookman Old Style" panose="02050604050505020204" pitchFamily="18" charset="0"/>
              </a:rPr>
              <a:t>If the external nodes in the bucket are kept in the same relative order as they would be in the tree, then we do not need to do a sequential search, we could do an indirect binary search (i.e., compare the </a:t>
            </a:r>
            <a:r>
              <a:rPr lang="en-US" sz="2200" dirty="0" err="1">
                <a:latin typeface="Bookman Old Style" panose="02050604050505020204" pitchFamily="18" charset="0"/>
              </a:rPr>
              <a:t>sistrings</a:t>
            </a:r>
            <a:r>
              <a:rPr lang="en-US" sz="2200" dirty="0">
                <a:latin typeface="Bookman Old Style" panose="02050604050505020204" pitchFamily="18" charset="0"/>
              </a:rPr>
              <a:t> referred to by the external node) to find the nodes that satisfy the search. </a:t>
            </a:r>
          </a:p>
          <a:p>
            <a:pPr algn="just">
              <a:lnSpc>
                <a:spcPct val="150000"/>
              </a:lnSpc>
            </a:pPr>
            <a:r>
              <a:rPr lang="en-US" sz="2200" dirty="0">
                <a:latin typeface="Bookman Old Style" panose="02050604050505020204" pitchFamily="18" charset="0"/>
              </a:rPr>
              <a:t>Cost of searching a bucket becomes 2 log b - 1 instead of b. here b means external node bucket size. </a:t>
            </a:r>
            <a:endParaRPr lang="en-IN" sz="2200" dirty="0">
              <a:latin typeface="Bookman Old Style" panose="02050604050505020204" pitchFamily="18" charset="0"/>
            </a:endParaRPr>
          </a:p>
        </p:txBody>
      </p:sp>
    </p:spTree>
    <p:extLst>
      <p:ext uri="{BB962C8B-B14F-4D97-AF65-F5344CB8AC3E}">
        <p14:creationId xmlns:p14="http://schemas.microsoft.com/office/powerpoint/2010/main" val="526397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396E2-7966-0739-3F9F-DE6D59223090}"/>
              </a:ext>
            </a:extLst>
          </p:cNvPr>
          <p:cNvSpPr>
            <a:spLocks noGrp="1"/>
          </p:cNvSpPr>
          <p:nvPr>
            <p:ph idx="1"/>
          </p:nvPr>
        </p:nvSpPr>
        <p:spPr>
          <a:xfrm>
            <a:off x="838200" y="164387"/>
            <a:ext cx="10515600" cy="6369977"/>
          </a:xfrm>
        </p:spPr>
        <p:txBody>
          <a:bodyPr>
            <a:normAutofit lnSpcReduction="10000"/>
          </a:bodyPr>
          <a:lstStyle/>
          <a:p>
            <a:pPr algn="just">
              <a:lnSpc>
                <a:spcPct val="150000"/>
              </a:lnSpc>
            </a:pPr>
            <a:r>
              <a:rPr lang="en-US" sz="2200" dirty="0">
                <a:latin typeface="Bookman Old Style" panose="02050604050505020204" pitchFamily="18" charset="0"/>
              </a:rPr>
              <a:t>To overcome this problem another implementation of PAT trees </a:t>
            </a:r>
            <a:r>
              <a:rPr lang="en-US" sz="2200">
                <a:latin typeface="Bookman Old Style" panose="02050604050505020204" pitchFamily="18" charset="0"/>
              </a:rPr>
              <a:t>is developed.</a:t>
            </a:r>
            <a:endParaRPr lang="en-US" sz="2200" dirty="0">
              <a:latin typeface="Bookman Old Style" panose="02050604050505020204" pitchFamily="18" charset="0"/>
            </a:endParaRPr>
          </a:p>
          <a:p>
            <a:pPr algn="just">
              <a:lnSpc>
                <a:spcPct val="150000"/>
              </a:lnSpc>
            </a:pPr>
            <a:r>
              <a:rPr lang="en-US" sz="2200" dirty="0">
                <a:latin typeface="Bookman Old Style" panose="02050604050505020204" pitchFamily="18" charset="0"/>
              </a:rPr>
              <a:t>This is simply to let the bucket grow well beyond normal bucket sizes, including the option of letting it be equal to n, that is, the whole index degenerates into a single array of external nodes ordered lexicographically by </a:t>
            </a:r>
            <a:r>
              <a:rPr lang="en-US" sz="2200" dirty="0" err="1">
                <a:latin typeface="Bookman Old Style" panose="02050604050505020204" pitchFamily="18" charset="0"/>
              </a:rPr>
              <a:t>sistrings</a:t>
            </a:r>
            <a:r>
              <a:rPr lang="en-US" sz="2200" dirty="0">
                <a:latin typeface="Bookman Old Style" panose="02050604050505020204" pitchFamily="18" charset="0"/>
              </a:rPr>
              <a:t>. </a:t>
            </a:r>
          </a:p>
          <a:p>
            <a:pPr algn="just">
              <a:lnSpc>
                <a:spcPct val="150000"/>
              </a:lnSpc>
            </a:pPr>
            <a:r>
              <a:rPr lang="en-US" sz="2200" dirty="0">
                <a:latin typeface="Bookman Old Style" panose="02050604050505020204" pitchFamily="18" charset="0"/>
              </a:rPr>
              <a:t>It shows that these arrays contain most of the information we had in the Patricia tree at the cost of a factor of log2 n. </a:t>
            </a:r>
          </a:p>
          <a:p>
            <a:pPr algn="just">
              <a:lnSpc>
                <a:spcPct val="150000"/>
              </a:lnSpc>
            </a:pPr>
            <a:r>
              <a:rPr lang="en-US" sz="2200" dirty="0">
                <a:latin typeface="Bookman Old Style" panose="02050604050505020204" pitchFamily="18" charset="0"/>
              </a:rPr>
              <a:t>The argument simply says that for any interval in the array which contains all the external nodes that would be in a subtree, in log2 n comparisons in the worst case we can divide the interval according to the next bit which is different. </a:t>
            </a:r>
            <a:endParaRPr lang="en-IN" sz="2200" dirty="0">
              <a:latin typeface="Bookman Old Style" panose="02050604050505020204" pitchFamily="18" charset="0"/>
            </a:endParaRPr>
          </a:p>
        </p:txBody>
      </p:sp>
    </p:spTree>
    <p:extLst>
      <p:ext uri="{BB962C8B-B14F-4D97-AF65-F5344CB8AC3E}">
        <p14:creationId xmlns:p14="http://schemas.microsoft.com/office/powerpoint/2010/main" val="1201970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537BFD-DCB6-4230-12D5-BC199107CA06}"/>
              </a:ext>
            </a:extLst>
          </p:cNvPr>
          <p:cNvSpPr>
            <a:spLocks noGrp="1"/>
          </p:cNvSpPr>
          <p:nvPr>
            <p:ph idx="1"/>
          </p:nvPr>
        </p:nvSpPr>
        <p:spPr>
          <a:xfrm>
            <a:off x="838200" y="441789"/>
            <a:ext cx="10515600" cy="5735174"/>
          </a:xfrm>
        </p:spPr>
        <p:txBody>
          <a:bodyPr>
            <a:normAutofit/>
          </a:bodyPr>
          <a:lstStyle/>
          <a:p>
            <a:pPr algn="just">
              <a:lnSpc>
                <a:spcPct val="150000"/>
              </a:lnSpc>
            </a:pPr>
            <a:r>
              <a:rPr lang="en-US" sz="2200" dirty="0">
                <a:latin typeface="Bookman Old Style" panose="02050604050505020204" pitchFamily="18" charset="0"/>
              </a:rPr>
              <a:t>The sizes of the subtrees are trivially obtained from the limits of any portion of the array, so the only information that is missing is the longest-repetition bit, which is not possible to represent without an additional structure. </a:t>
            </a:r>
          </a:p>
          <a:p>
            <a:pPr algn="just">
              <a:lnSpc>
                <a:spcPct val="150000"/>
              </a:lnSpc>
            </a:pPr>
            <a:r>
              <a:rPr lang="en-US" sz="2200" dirty="0">
                <a:latin typeface="Bookman Old Style" panose="02050604050505020204" pitchFamily="18" charset="0"/>
              </a:rPr>
              <a:t>Any operation on a Patricia tree can be simulated in O(log n) accesses.</a:t>
            </a:r>
            <a:endParaRPr lang="en-IN" sz="2200" dirty="0">
              <a:latin typeface="Bookman Old Style" panose="02050604050505020204" pitchFamily="18" charset="0"/>
            </a:endParaRPr>
          </a:p>
        </p:txBody>
      </p:sp>
      <p:pic>
        <p:nvPicPr>
          <p:cNvPr id="5" name="Picture 4">
            <a:extLst>
              <a:ext uri="{FF2B5EF4-FFF2-40B4-BE49-F238E27FC236}">
                <a16:creationId xmlns:a16="http://schemas.microsoft.com/office/drawing/2014/main" id="{1C74D61D-A6E6-C6A8-18A5-BB7C477EDC6C}"/>
              </a:ext>
            </a:extLst>
          </p:cNvPr>
          <p:cNvPicPr>
            <a:picLocks noChangeAspect="1"/>
          </p:cNvPicPr>
          <p:nvPr/>
        </p:nvPicPr>
        <p:blipFill>
          <a:blip r:embed="rId2"/>
          <a:stretch>
            <a:fillRect/>
          </a:stretch>
        </p:blipFill>
        <p:spPr>
          <a:xfrm>
            <a:off x="2363056" y="3429000"/>
            <a:ext cx="6883686" cy="2571107"/>
          </a:xfrm>
          <a:prstGeom prst="rect">
            <a:avLst/>
          </a:prstGeom>
        </p:spPr>
      </p:pic>
    </p:spTree>
    <p:extLst>
      <p:ext uri="{BB962C8B-B14F-4D97-AF65-F5344CB8AC3E}">
        <p14:creationId xmlns:p14="http://schemas.microsoft.com/office/powerpoint/2010/main" val="23380719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C0FB1-A635-C892-90DA-E31F51A67FB5}"/>
              </a:ext>
            </a:extLst>
          </p:cNvPr>
          <p:cNvSpPr>
            <a:spLocks noGrp="1"/>
          </p:cNvSpPr>
          <p:nvPr>
            <p:ph idx="1"/>
          </p:nvPr>
        </p:nvSpPr>
        <p:spPr>
          <a:xfrm>
            <a:off x="838200" y="534256"/>
            <a:ext cx="10515600" cy="5702157"/>
          </a:xfrm>
        </p:spPr>
        <p:txBody>
          <a:bodyPr>
            <a:noAutofit/>
          </a:bodyPr>
          <a:lstStyle/>
          <a:p>
            <a:pPr marL="0" indent="0" algn="just">
              <a:lnSpc>
                <a:spcPct val="150000"/>
              </a:lnSpc>
              <a:buNone/>
            </a:pPr>
            <a:r>
              <a:rPr lang="en-US" sz="2200" b="1" dirty="0">
                <a:latin typeface="Bookman Old Style" panose="02050604050505020204" pitchFamily="18" charset="0"/>
              </a:rPr>
              <a:t>Searching PAT Trees as Arrays </a:t>
            </a:r>
          </a:p>
          <a:p>
            <a:pPr algn="just">
              <a:lnSpc>
                <a:spcPct val="150000"/>
              </a:lnSpc>
            </a:pPr>
            <a:r>
              <a:rPr lang="en-US" sz="2200" dirty="0">
                <a:latin typeface="Bookman Old Style" panose="02050604050505020204" pitchFamily="18" charset="0"/>
              </a:rPr>
              <a:t>To simulate the Patricia tree for prefix and range searching, and we obtain an algorithm which is O(log n) instead of O(log2 n) for these operations. </a:t>
            </a:r>
          </a:p>
          <a:p>
            <a:pPr algn="just">
              <a:lnSpc>
                <a:spcPct val="150000"/>
              </a:lnSpc>
            </a:pPr>
            <a:r>
              <a:rPr lang="en-US" sz="2200" dirty="0">
                <a:latin typeface="Bookman Old Style" panose="02050604050505020204" pitchFamily="18" charset="0"/>
              </a:rPr>
              <a:t>Actually, prefix searching and range searching become more uniform. </a:t>
            </a:r>
          </a:p>
          <a:p>
            <a:pPr algn="just">
              <a:lnSpc>
                <a:spcPct val="150000"/>
              </a:lnSpc>
            </a:pPr>
            <a:r>
              <a:rPr lang="en-US" sz="2200" dirty="0">
                <a:latin typeface="Bookman Old Style" panose="02050604050505020204" pitchFamily="18" charset="0"/>
              </a:rPr>
              <a:t>Both can be implemented by doing an indirect binary search over the array with the results of the comparisons being less than, equal (or included in the case of range searching), and greater than. In this way, the searching takes at most 2 log2 n - 1 comparison and 4log2 n disk accesses. </a:t>
            </a:r>
          </a:p>
        </p:txBody>
      </p:sp>
    </p:spTree>
    <p:extLst>
      <p:ext uri="{BB962C8B-B14F-4D97-AF65-F5344CB8AC3E}">
        <p14:creationId xmlns:p14="http://schemas.microsoft.com/office/powerpoint/2010/main" val="3452099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755BB6-0ECF-CA98-3285-E98C7A60030D}"/>
              </a:ext>
            </a:extLst>
          </p:cNvPr>
          <p:cNvSpPr>
            <a:spLocks noGrp="1"/>
          </p:cNvSpPr>
          <p:nvPr>
            <p:ph idx="1"/>
          </p:nvPr>
        </p:nvSpPr>
        <p:spPr>
          <a:xfrm>
            <a:off x="838200" y="482885"/>
            <a:ext cx="10515600" cy="5694078"/>
          </a:xfrm>
        </p:spPr>
        <p:txBody>
          <a:bodyPr>
            <a:normAutofit/>
          </a:bodyPr>
          <a:lstStyle/>
          <a:p>
            <a:pPr algn="just">
              <a:lnSpc>
                <a:spcPct val="150000"/>
              </a:lnSpc>
            </a:pPr>
            <a:r>
              <a:rPr lang="en-US" sz="2200" dirty="0">
                <a:latin typeface="Bookman Old Style" panose="02050604050505020204" pitchFamily="18" charset="0"/>
              </a:rPr>
              <a:t>In prefix searching and range searching can be done in time O(log2 n) with a storage cost that is exactly one word (a </a:t>
            </a:r>
            <a:r>
              <a:rPr lang="en-US" sz="2200" dirty="0" err="1">
                <a:latin typeface="Bookman Old Style" panose="02050604050505020204" pitchFamily="18" charset="0"/>
              </a:rPr>
              <a:t>sistring</a:t>
            </a:r>
            <a:r>
              <a:rPr lang="en-US" sz="2200" dirty="0">
                <a:latin typeface="Bookman Old Style" panose="02050604050505020204" pitchFamily="18" charset="0"/>
              </a:rPr>
              <a:t> pointer) per index point (</a:t>
            </a:r>
            <a:r>
              <a:rPr lang="en-US" sz="2200" dirty="0" err="1">
                <a:latin typeface="Bookman Old Style" panose="02050604050505020204" pitchFamily="18" charset="0"/>
              </a:rPr>
              <a:t>sistring</a:t>
            </a:r>
            <a:r>
              <a:rPr lang="en-US" sz="2200" dirty="0">
                <a:latin typeface="Bookman Old Style" panose="02050604050505020204" pitchFamily="18" charset="0"/>
              </a:rPr>
              <a:t>).</a:t>
            </a:r>
            <a:endParaRPr lang="en-IN" sz="2200" dirty="0">
              <a:latin typeface="Bookman Old Style" panose="02050604050505020204" pitchFamily="18" charset="0"/>
            </a:endParaRPr>
          </a:p>
          <a:p>
            <a:pPr algn="just">
              <a:lnSpc>
                <a:spcPct val="150000"/>
              </a:lnSpc>
            </a:pPr>
            <a:endParaRPr lang="en-IN" sz="2200" dirty="0">
              <a:latin typeface="Bookman Old Style" panose="02050604050505020204" pitchFamily="18" charset="0"/>
            </a:endParaRPr>
          </a:p>
        </p:txBody>
      </p:sp>
    </p:spTree>
    <p:extLst>
      <p:ext uri="{BB962C8B-B14F-4D97-AF65-F5344CB8AC3E}">
        <p14:creationId xmlns:p14="http://schemas.microsoft.com/office/powerpoint/2010/main" val="4955555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CB718-9EAF-19B9-A4D7-CDAA4F28861F}"/>
              </a:ext>
            </a:extLst>
          </p:cNvPr>
          <p:cNvSpPr>
            <a:spLocks noGrp="1"/>
          </p:cNvSpPr>
          <p:nvPr>
            <p:ph type="title"/>
          </p:nvPr>
        </p:nvSpPr>
        <p:spPr/>
        <p:txBody>
          <a:bodyPr/>
          <a:lstStyle/>
          <a:p>
            <a:r>
              <a:rPr lang="en-US" b="1" dirty="0"/>
              <a:t>Building PAT arrays in memory</a:t>
            </a:r>
            <a:endParaRPr lang="en-IN" b="1" dirty="0"/>
          </a:p>
        </p:txBody>
      </p:sp>
      <p:sp>
        <p:nvSpPr>
          <p:cNvPr id="3" name="Content Placeholder 2">
            <a:extLst>
              <a:ext uri="{FF2B5EF4-FFF2-40B4-BE49-F238E27FC236}">
                <a16:creationId xmlns:a16="http://schemas.microsoft.com/office/drawing/2014/main" id="{0618EC08-9CE9-E82F-06C9-E922B8BC4593}"/>
              </a:ext>
            </a:extLst>
          </p:cNvPr>
          <p:cNvSpPr>
            <a:spLocks noGrp="1"/>
          </p:cNvSpPr>
          <p:nvPr>
            <p:ph idx="1"/>
          </p:nvPr>
        </p:nvSpPr>
        <p:spPr/>
        <p:txBody>
          <a:bodyPr/>
          <a:lstStyle/>
          <a:p>
            <a:pPr algn="just"/>
            <a:r>
              <a:rPr lang="en-US" dirty="0"/>
              <a:t>If a portion of the text is small enough to fit in main memory together with its PAT array, then this process can be done very efficiently as it is equivalent to string sorting. </a:t>
            </a:r>
          </a:p>
          <a:p>
            <a:pPr algn="just"/>
            <a:r>
              <a:rPr lang="en-US" dirty="0"/>
              <a:t>Note that here we are talking about main memory; if paging is used to simulate a larger memory, the random access patterns over the text will certainly cause severe memory thrashing.</a:t>
            </a:r>
            <a:endParaRPr lang="en-IN" dirty="0"/>
          </a:p>
        </p:txBody>
      </p:sp>
    </p:spTree>
    <p:extLst>
      <p:ext uri="{BB962C8B-B14F-4D97-AF65-F5344CB8AC3E}">
        <p14:creationId xmlns:p14="http://schemas.microsoft.com/office/powerpoint/2010/main" val="31531145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0824A-1A2B-B10D-3939-9B32D27192D4}"/>
              </a:ext>
            </a:extLst>
          </p:cNvPr>
          <p:cNvSpPr>
            <a:spLocks noGrp="1"/>
          </p:cNvSpPr>
          <p:nvPr>
            <p:ph type="title"/>
          </p:nvPr>
        </p:nvSpPr>
        <p:spPr>
          <a:xfrm>
            <a:off x="838200" y="365126"/>
            <a:ext cx="10515600" cy="846054"/>
          </a:xfrm>
        </p:spPr>
        <p:txBody>
          <a:bodyPr/>
          <a:lstStyle/>
          <a:p>
            <a:r>
              <a:rPr lang="en-US" b="1" dirty="0"/>
              <a:t>Merging small against large PAT arrays </a:t>
            </a:r>
            <a:endParaRPr lang="en-IN" b="1" dirty="0"/>
          </a:p>
        </p:txBody>
      </p:sp>
      <p:sp>
        <p:nvSpPr>
          <p:cNvPr id="3" name="Content Placeholder 2">
            <a:extLst>
              <a:ext uri="{FF2B5EF4-FFF2-40B4-BE49-F238E27FC236}">
                <a16:creationId xmlns:a16="http://schemas.microsoft.com/office/drawing/2014/main" id="{A00C88A7-AB48-C9C0-CCEB-B3A4E77AD32D}"/>
              </a:ext>
            </a:extLst>
          </p:cNvPr>
          <p:cNvSpPr>
            <a:spLocks noGrp="1"/>
          </p:cNvSpPr>
          <p:nvPr>
            <p:ph idx="1"/>
          </p:nvPr>
        </p:nvSpPr>
        <p:spPr>
          <a:xfrm>
            <a:off x="838200" y="1297858"/>
            <a:ext cx="10515600" cy="4879105"/>
          </a:xfrm>
        </p:spPr>
        <p:txBody>
          <a:bodyPr/>
          <a:lstStyle/>
          <a:p>
            <a:pPr algn="just"/>
            <a:r>
              <a:rPr lang="en-US" dirty="0"/>
              <a:t>A second case that can be solved efficiently is the case of merging two indices (to produce a single one) when the text plus twice the index of one of them fits in main memory. </a:t>
            </a:r>
          </a:p>
          <a:p>
            <a:pPr algn="just"/>
            <a:r>
              <a:rPr lang="en-US" dirty="0"/>
              <a:t>This algorithm is not trivial and deserves a short explanation. </a:t>
            </a:r>
          </a:p>
          <a:p>
            <a:pPr algn="just"/>
            <a:r>
              <a:rPr lang="en-US" dirty="0"/>
              <a:t>The text of the small file together with a PAT array for the small file (of size n1) plus an integer array of size n1 + 1 are kept in main memory.</a:t>
            </a:r>
          </a:p>
          <a:p>
            <a:pPr algn="just"/>
            <a:r>
              <a:rPr lang="en-US" dirty="0"/>
              <a:t>The integer array is used to count how many </a:t>
            </a:r>
            <a:r>
              <a:rPr lang="en-US" dirty="0" err="1"/>
              <a:t>sistrings</a:t>
            </a:r>
            <a:r>
              <a:rPr lang="en-US" dirty="0"/>
              <a:t> of the big file fall between each pair of index points in the small file. </a:t>
            </a:r>
            <a:endParaRPr lang="en-IN" dirty="0"/>
          </a:p>
        </p:txBody>
      </p:sp>
    </p:spTree>
    <p:extLst>
      <p:ext uri="{BB962C8B-B14F-4D97-AF65-F5344CB8AC3E}">
        <p14:creationId xmlns:p14="http://schemas.microsoft.com/office/powerpoint/2010/main" val="9161175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3350C5-2D7A-2AB3-4EB6-358A7B0AA494}"/>
              </a:ext>
            </a:extLst>
          </p:cNvPr>
          <p:cNvPicPr>
            <a:picLocks noChangeAspect="1"/>
          </p:cNvPicPr>
          <p:nvPr/>
        </p:nvPicPr>
        <p:blipFill>
          <a:blip r:embed="rId2"/>
          <a:stretch>
            <a:fillRect/>
          </a:stretch>
        </p:blipFill>
        <p:spPr>
          <a:xfrm>
            <a:off x="2984446" y="2077065"/>
            <a:ext cx="6743945" cy="2703870"/>
          </a:xfrm>
          <a:prstGeom prst="rect">
            <a:avLst/>
          </a:prstGeom>
        </p:spPr>
      </p:pic>
      <p:pic>
        <p:nvPicPr>
          <p:cNvPr id="7" name="Picture 6">
            <a:extLst>
              <a:ext uri="{FF2B5EF4-FFF2-40B4-BE49-F238E27FC236}">
                <a16:creationId xmlns:a16="http://schemas.microsoft.com/office/drawing/2014/main" id="{303DE947-F860-2E19-98D3-A0960233FB58}"/>
              </a:ext>
            </a:extLst>
          </p:cNvPr>
          <p:cNvPicPr>
            <a:picLocks noChangeAspect="1"/>
          </p:cNvPicPr>
          <p:nvPr/>
        </p:nvPicPr>
        <p:blipFill>
          <a:blip r:embed="rId3"/>
          <a:stretch>
            <a:fillRect/>
          </a:stretch>
        </p:blipFill>
        <p:spPr>
          <a:xfrm>
            <a:off x="2172929" y="462117"/>
            <a:ext cx="7117187" cy="5603632"/>
          </a:xfrm>
          <a:prstGeom prst="rect">
            <a:avLst/>
          </a:prstGeom>
        </p:spPr>
      </p:pic>
    </p:spTree>
    <p:extLst>
      <p:ext uri="{BB962C8B-B14F-4D97-AF65-F5344CB8AC3E}">
        <p14:creationId xmlns:p14="http://schemas.microsoft.com/office/powerpoint/2010/main" val="17452711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CE7FC-D366-BA28-F52A-B8E8678EF760}"/>
              </a:ext>
            </a:extLst>
          </p:cNvPr>
          <p:cNvSpPr>
            <a:spLocks noGrp="1"/>
          </p:cNvSpPr>
          <p:nvPr>
            <p:ph type="title"/>
          </p:nvPr>
        </p:nvSpPr>
        <p:spPr>
          <a:xfrm>
            <a:off x="838200" y="365125"/>
            <a:ext cx="10515600" cy="686927"/>
          </a:xfrm>
        </p:spPr>
        <p:txBody>
          <a:bodyPr>
            <a:normAutofit fontScale="90000"/>
          </a:bodyPr>
          <a:lstStyle/>
          <a:p>
            <a:r>
              <a:rPr lang="en-IN" b="1" dirty="0"/>
              <a:t>Delayed Reading Paradigm</a:t>
            </a:r>
          </a:p>
        </p:txBody>
      </p:sp>
      <p:sp>
        <p:nvSpPr>
          <p:cNvPr id="3" name="Content Placeholder 2">
            <a:extLst>
              <a:ext uri="{FF2B5EF4-FFF2-40B4-BE49-F238E27FC236}">
                <a16:creationId xmlns:a16="http://schemas.microsoft.com/office/drawing/2014/main" id="{DB54FC48-6A94-6EA0-48AD-5DCEC5BEFD5A}"/>
              </a:ext>
            </a:extLst>
          </p:cNvPr>
          <p:cNvSpPr>
            <a:spLocks noGrp="1"/>
          </p:cNvSpPr>
          <p:nvPr>
            <p:ph idx="1"/>
          </p:nvPr>
        </p:nvSpPr>
        <p:spPr>
          <a:xfrm>
            <a:off x="838200" y="1219200"/>
            <a:ext cx="10515600" cy="4957763"/>
          </a:xfrm>
        </p:spPr>
        <p:txBody>
          <a:bodyPr>
            <a:normAutofit lnSpcReduction="10000"/>
          </a:bodyPr>
          <a:lstStyle/>
          <a:p>
            <a:pPr algn="just"/>
            <a:r>
              <a:rPr lang="en-US" dirty="0"/>
              <a:t>Comparing </a:t>
            </a:r>
            <a:r>
              <a:rPr lang="en-US" dirty="0" err="1"/>
              <a:t>sistrings</a:t>
            </a:r>
            <a:r>
              <a:rPr lang="en-US" dirty="0"/>
              <a:t> through random access to disk is so expensive is a consequence of two phenomena. </a:t>
            </a:r>
          </a:p>
          <a:p>
            <a:pPr algn="just"/>
            <a:r>
              <a:rPr lang="en-US" dirty="0"/>
              <a:t>First, the reading itself requires some relatively slow physical movement. </a:t>
            </a:r>
          </a:p>
          <a:p>
            <a:pPr algn="just"/>
            <a:r>
              <a:rPr lang="en-US" dirty="0"/>
              <a:t>Second, the amount of text actually used is a small fraction of the text made available by an I/O operation.</a:t>
            </a:r>
          </a:p>
          <a:p>
            <a:pPr algn="just"/>
            <a:r>
              <a:rPr lang="en-US" dirty="0"/>
              <a:t>A programming technique that tries to alleviate the above problem without altering the underlying algorithms. </a:t>
            </a:r>
          </a:p>
          <a:p>
            <a:pPr algn="just"/>
            <a:r>
              <a:rPr lang="en-US" dirty="0"/>
              <a:t>The technique is simply to suspend execution of the program every time a random input is required, store these requests in a request pool, and when convenient/necessary satisfy all requests in the best ordering possible.</a:t>
            </a:r>
            <a:endParaRPr lang="en-IN" dirty="0"/>
          </a:p>
        </p:txBody>
      </p:sp>
    </p:spTree>
    <p:extLst>
      <p:ext uri="{BB962C8B-B14F-4D97-AF65-F5344CB8AC3E}">
        <p14:creationId xmlns:p14="http://schemas.microsoft.com/office/powerpoint/2010/main" val="22592549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62649-A917-21F9-8FE6-D7167CD91E2B}"/>
              </a:ext>
            </a:extLst>
          </p:cNvPr>
          <p:cNvSpPr>
            <a:spLocks noGrp="1"/>
          </p:cNvSpPr>
          <p:nvPr>
            <p:ph type="title"/>
          </p:nvPr>
        </p:nvSpPr>
        <p:spPr>
          <a:xfrm>
            <a:off x="838200" y="365126"/>
            <a:ext cx="10515600" cy="441120"/>
          </a:xfrm>
        </p:spPr>
        <p:txBody>
          <a:bodyPr>
            <a:normAutofit fontScale="90000"/>
          </a:bodyPr>
          <a:lstStyle/>
          <a:p>
            <a:r>
              <a:rPr lang="en-IN" b="1" dirty="0"/>
              <a:t>Merging Large Files</a:t>
            </a:r>
          </a:p>
        </p:txBody>
      </p:sp>
      <p:sp>
        <p:nvSpPr>
          <p:cNvPr id="3" name="Content Placeholder 2">
            <a:extLst>
              <a:ext uri="{FF2B5EF4-FFF2-40B4-BE49-F238E27FC236}">
                <a16:creationId xmlns:a16="http://schemas.microsoft.com/office/drawing/2014/main" id="{990E3CA4-CE1B-D4F5-D595-80025CE6B068}"/>
              </a:ext>
            </a:extLst>
          </p:cNvPr>
          <p:cNvSpPr>
            <a:spLocks noGrp="1"/>
          </p:cNvSpPr>
          <p:nvPr>
            <p:ph idx="1"/>
          </p:nvPr>
        </p:nvSpPr>
        <p:spPr>
          <a:xfrm>
            <a:off x="838200" y="1032387"/>
            <a:ext cx="10515600" cy="5144576"/>
          </a:xfrm>
        </p:spPr>
        <p:txBody>
          <a:bodyPr/>
          <a:lstStyle/>
          <a:p>
            <a:pPr algn="just"/>
            <a:r>
              <a:rPr lang="en-US" dirty="0"/>
              <a:t>Merging two or more large indices can be done by reading the text associated with each key and comparing. </a:t>
            </a:r>
          </a:p>
          <a:p>
            <a:pPr algn="just"/>
            <a:r>
              <a:rPr lang="en-US" dirty="0"/>
              <a:t>If we have n keys and m files, and use a heap to organize the current keys for each file being merged, this gives us O(n log m) comparisons.</a:t>
            </a:r>
          </a:p>
          <a:p>
            <a:pPr algn="just"/>
            <a:r>
              <a:rPr lang="en-US" dirty="0"/>
              <a:t>An improvement can be made by reducing the number of random disk accesses and increasing the amount of sequential disk I/O.</a:t>
            </a:r>
          </a:p>
          <a:p>
            <a:pPr algn="just"/>
            <a:r>
              <a:rPr lang="en-US" dirty="0"/>
              <a:t>The </a:t>
            </a:r>
            <a:r>
              <a:rPr lang="en-US" dirty="0" err="1"/>
              <a:t>sistring</a:t>
            </a:r>
            <a:r>
              <a:rPr lang="en-US" dirty="0"/>
              <a:t> pointers in the PAT array are ordered lexicographically according to the text that they reference and so will be more or less randomly ordered by location in the text. </a:t>
            </a:r>
            <a:endParaRPr lang="en-IN" dirty="0"/>
          </a:p>
        </p:txBody>
      </p:sp>
    </p:spTree>
    <p:extLst>
      <p:ext uri="{BB962C8B-B14F-4D97-AF65-F5344CB8AC3E}">
        <p14:creationId xmlns:p14="http://schemas.microsoft.com/office/powerpoint/2010/main" val="2194196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C98E19-EC83-E4B7-46C7-A84AA8659AD2}"/>
              </a:ext>
            </a:extLst>
          </p:cNvPr>
          <p:cNvSpPr>
            <a:spLocks noGrp="1"/>
          </p:cNvSpPr>
          <p:nvPr>
            <p:ph idx="1"/>
          </p:nvPr>
        </p:nvSpPr>
        <p:spPr>
          <a:xfrm>
            <a:off x="838200" y="639097"/>
            <a:ext cx="10515600" cy="5537866"/>
          </a:xfrm>
        </p:spPr>
        <p:txBody>
          <a:bodyPr>
            <a:normAutofit fontScale="92500" lnSpcReduction="10000"/>
          </a:bodyPr>
          <a:lstStyle/>
          <a:p>
            <a:pPr algn="just"/>
            <a:r>
              <a:rPr lang="en-US" dirty="0"/>
              <a:t>If we can read a sufficiently large block of pointers at one time and indirectly sort them by location in the text, then we can read a large number of keys from the text in a sequential pass. </a:t>
            </a:r>
          </a:p>
          <a:p>
            <a:pPr algn="just"/>
            <a:r>
              <a:rPr lang="en-US" dirty="0"/>
              <a:t>The larger the number of keys read in a sequential pass, the greater the improvement in performance. </a:t>
            </a:r>
          </a:p>
          <a:p>
            <a:pPr algn="just"/>
            <a:r>
              <a:rPr lang="en-US" dirty="0"/>
              <a:t>The greatest improvement is achieved when the entire memory is allocated to this key reading for each merge file in turn. </a:t>
            </a:r>
          </a:p>
          <a:p>
            <a:pPr algn="just"/>
            <a:r>
              <a:rPr lang="en-US" dirty="0"/>
              <a:t>The keys are then written out to temporary disk space. </a:t>
            </a:r>
          </a:p>
          <a:p>
            <a:pPr algn="just"/>
            <a:r>
              <a:rPr lang="en-US" dirty="0"/>
              <a:t>These keys are then merged by making a sequential pass over all the temporary files. </a:t>
            </a:r>
          </a:p>
          <a:p>
            <a:pPr algn="just"/>
            <a:r>
              <a:rPr lang="en-US" dirty="0"/>
              <a:t>Thus, there are two constraints affecting this algorithm: the size of memory and the amount of temporary disk space available. </a:t>
            </a:r>
          </a:p>
          <a:p>
            <a:pPr algn="just"/>
            <a:r>
              <a:rPr lang="en-US" dirty="0"/>
              <a:t>They must be balanced by the relationship</a:t>
            </a:r>
          </a:p>
          <a:p>
            <a:pPr marL="0" indent="0" algn="just">
              <a:buNone/>
            </a:pPr>
            <a:r>
              <a:rPr lang="en-US" dirty="0"/>
              <a:t>		</a:t>
            </a:r>
            <a:r>
              <a:rPr lang="en-US" b="1" dirty="0"/>
              <a:t>memory X number of files = temporary disk space</a:t>
            </a:r>
            <a:endParaRPr lang="en-IN" b="1" dirty="0"/>
          </a:p>
        </p:txBody>
      </p:sp>
    </p:spTree>
    <p:extLst>
      <p:ext uri="{BB962C8B-B14F-4D97-AF65-F5344CB8AC3E}">
        <p14:creationId xmlns:p14="http://schemas.microsoft.com/office/powerpoint/2010/main" val="461502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841</TotalTime>
  <Words>3277</Words>
  <Application>Microsoft Office PowerPoint</Application>
  <PresentationFormat>Widescreen</PresentationFormat>
  <Paragraphs>184</Paragraphs>
  <Slides>56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Bookman Old Style</vt:lpstr>
      <vt:lpstr>Calibri</vt:lpstr>
      <vt:lpstr>Calibri Light</vt:lpstr>
      <vt:lpstr>Wingdings</vt:lpstr>
      <vt:lpstr>Office Theme</vt:lpstr>
      <vt:lpstr>INFORMATION RETRIEVAL SYSTEM</vt:lpstr>
      <vt:lpstr>PowerPoint Presentation</vt:lpstr>
      <vt:lpstr>Introduction</vt:lpstr>
      <vt:lpstr>PowerPoint Presentation</vt:lpstr>
      <vt:lpstr>PAT TREE STRUCTURE</vt:lpstr>
      <vt:lpstr>PowerPoint Presentation</vt:lpstr>
      <vt:lpstr>PowerPoint Presentation</vt:lpstr>
      <vt:lpstr>PowerPoint Presentation</vt:lpstr>
      <vt:lpstr>PAT Tree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ALGORITHMS ON THE PAT TREES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Building PAT arrays in memory</vt:lpstr>
      <vt:lpstr>Merging small against large PAT arrays </vt:lpstr>
      <vt:lpstr>PowerPoint Presentation</vt:lpstr>
      <vt:lpstr>Delayed Reading Paradigm</vt:lpstr>
      <vt:lpstr>Merging Large Files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 sushuma</dc:creator>
  <cp:lastModifiedBy>Siddu Kutchula</cp:lastModifiedBy>
  <cp:revision>44</cp:revision>
  <dcterms:created xsi:type="dcterms:W3CDTF">2025-08-11T03:47:41Z</dcterms:created>
  <dcterms:modified xsi:type="dcterms:W3CDTF">2025-11-17T14:24:51Z</dcterms:modified>
</cp:coreProperties>
</file>