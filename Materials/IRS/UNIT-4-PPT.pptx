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sldIdLst>
    <p:sldId id="256" r:id="rId2"/>
    <p:sldId id="257" r:id="rId3"/>
    <p:sldId id="258" r:id="rId4"/>
    <p:sldId id="259" r:id="rId5"/>
    <p:sldId id="270" r:id="rId6"/>
    <p:sldId id="260" r:id="rId7"/>
    <p:sldId id="271" r:id="rId8"/>
    <p:sldId id="272" r:id="rId9"/>
    <p:sldId id="273" r:id="rId10"/>
    <p:sldId id="274" r:id="rId11"/>
    <p:sldId id="275" r:id="rId12"/>
    <p:sldId id="276" r:id="rId13"/>
    <p:sldId id="277"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290" r:id="rId27"/>
    <p:sldId id="291" r:id="rId28"/>
    <p:sldId id="292" r:id="rId29"/>
    <p:sldId id="293" r:id="rId30"/>
    <p:sldId id="294" r:id="rId31"/>
    <p:sldId id="295" r:id="rId32"/>
    <p:sldId id="309" r:id="rId33"/>
    <p:sldId id="296" r:id="rId34"/>
    <p:sldId id="298" r:id="rId35"/>
    <p:sldId id="299" r:id="rId36"/>
    <p:sldId id="300" r:id="rId37"/>
    <p:sldId id="301" r:id="rId38"/>
    <p:sldId id="302" r:id="rId39"/>
    <p:sldId id="308" r:id="rId40"/>
    <p:sldId id="303" r:id="rId41"/>
    <p:sldId id="304" r:id="rId42"/>
    <p:sldId id="305" r:id="rId43"/>
    <p:sldId id="306" r:id="rId44"/>
    <p:sldId id="307" r:id="rId45"/>
    <p:sldId id="297" r:id="rId46"/>
    <p:sldId id="310" r:id="rId47"/>
    <p:sldId id="311" r:id="rId48"/>
    <p:sldId id="312" r:id="rId49"/>
    <p:sldId id="313" r:id="rId50"/>
    <p:sldId id="314" r:id="rId51"/>
    <p:sldId id="315" r:id="rId52"/>
    <p:sldId id="316" r:id="rId53"/>
    <p:sldId id="317" r:id="rId54"/>
    <p:sldId id="318" r:id="rId55"/>
    <p:sldId id="319" r:id="rId56"/>
    <p:sldId id="320" r:id="rId57"/>
    <p:sldId id="321" r:id="rId58"/>
    <p:sldId id="322" r:id="rId59"/>
    <p:sldId id="323" r:id="rId60"/>
    <p:sldId id="324" r:id="rId61"/>
    <p:sldId id="325" r:id="rId62"/>
    <p:sldId id="326" r:id="rId63"/>
    <p:sldId id="327" r:id="rId64"/>
    <p:sldId id="335" r:id="rId65"/>
    <p:sldId id="336" r:id="rId66"/>
    <p:sldId id="328" r:id="rId67"/>
    <p:sldId id="329" r:id="rId68"/>
    <p:sldId id="337" r:id="rId69"/>
    <p:sldId id="330" r:id="rId70"/>
    <p:sldId id="331" r:id="rId71"/>
    <p:sldId id="332" r:id="rId72"/>
    <p:sldId id="346" r:id="rId73"/>
    <p:sldId id="333" r:id="rId74"/>
    <p:sldId id="334" r:id="rId75"/>
    <p:sldId id="347" r:id="rId76"/>
    <p:sldId id="348" r:id="rId77"/>
    <p:sldId id="338" r:id="rId78"/>
    <p:sldId id="339" r:id="rId79"/>
    <p:sldId id="341" r:id="rId80"/>
    <p:sldId id="342" r:id="rId81"/>
    <p:sldId id="343" r:id="rId82"/>
    <p:sldId id="344" r:id="rId83"/>
    <p:sldId id="345" r:id="rId84"/>
    <p:sldId id="349" r:id="rId85"/>
    <p:sldId id="350" r:id="rId86"/>
    <p:sldId id="351" r:id="rId87"/>
    <p:sldId id="352" r:id="rId88"/>
    <p:sldId id="353" r:id="rId89"/>
    <p:sldId id="354" r:id="rId90"/>
    <p:sldId id="355" r:id="rId91"/>
    <p:sldId id="356" r:id="rId92"/>
    <p:sldId id="357" r:id="rId93"/>
    <p:sldId id="358" r:id="rId94"/>
    <p:sldId id="361" r:id="rId95"/>
    <p:sldId id="359" r:id="rId96"/>
    <p:sldId id="360" r:id="rId9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microsoft.com/office/2016/11/relationships/changesInfo" Target="changesInfos/changesInfo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ddu Kutchula" userId="21d78c19a9e984d0" providerId="LiveId" clId="{075735CF-22CA-444C-8285-162905594DDF}"/>
    <pc:docChg chg="modSld">
      <pc:chgData name="Siddu Kutchula" userId="21d78c19a9e984d0" providerId="LiveId" clId="{075735CF-22CA-444C-8285-162905594DDF}" dt="2025-11-17T05:59:56.760" v="0" actId="1036"/>
      <pc:docMkLst>
        <pc:docMk/>
      </pc:docMkLst>
      <pc:sldChg chg="modSp mod">
        <pc:chgData name="Siddu Kutchula" userId="21d78c19a9e984d0" providerId="LiveId" clId="{075735CF-22CA-444C-8285-162905594DDF}" dt="2025-11-17T05:59:56.760" v="0" actId="1036"/>
        <pc:sldMkLst>
          <pc:docMk/>
          <pc:sldMk cId="348913185" sldId="283"/>
        </pc:sldMkLst>
        <pc:picChg chg="mod">
          <ac:chgData name="Siddu Kutchula" userId="21d78c19a9e984d0" providerId="LiveId" clId="{075735CF-22CA-444C-8285-162905594DDF}" dt="2025-11-17T05:59:56.760" v="0" actId="1036"/>
          <ac:picMkLst>
            <pc:docMk/>
            <pc:sldMk cId="348913185" sldId="283"/>
            <ac:picMk id="7" creationId="{00985D8B-4CB0-8DC8-D167-54B7A2186F8C}"/>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B7D6A-2676-4607-A378-3D161F6E0A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DFC81B4-E23E-AA0D-C618-9F1B12D987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7D3A483-9B18-A800-9359-7E9C89FB2738}"/>
              </a:ext>
            </a:extLst>
          </p:cNvPr>
          <p:cNvSpPr>
            <a:spLocks noGrp="1"/>
          </p:cNvSpPr>
          <p:nvPr>
            <p:ph type="dt" sz="half" idx="10"/>
          </p:nvPr>
        </p:nvSpPr>
        <p:spPr/>
        <p:txBody>
          <a:bodyPr/>
          <a:lstStyle/>
          <a:p>
            <a:fld id="{CB12EDF4-7A9D-4E90-8430-85BBB2E16C8A}" type="datetimeFigureOut">
              <a:rPr lang="en-IN" smtClean="0"/>
              <a:t>17-11-2025</a:t>
            </a:fld>
            <a:endParaRPr lang="en-IN"/>
          </a:p>
        </p:txBody>
      </p:sp>
      <p:sp>
        <p:nvSpPr>
          <p:cNvPr id="5" name="Footer Placeholder 4">
            <a:extLst>
              <a:ext uri="{FF2B5EF4-FFF2-40B4-BE49-F238E27FC236}">
                <a16:creationId xmlns:a16="http://schemas.microsoft.com/office/drawing/2014/main" id="{C29871ED-8E07-ABBE-87E6-E28A7C5205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54CE99-9EC3-58DA-2150-25E445EC6BCF}"/>
              </a:ext>
            </a:extLst>
          </p:cNvPr>
          <p:cNvSpPr>
            <a:spLocks noGrp="1"/>
          </p:cNvSpPr>
          <p:nvPr>
            <p:ph type="sldNum" sz="quarter" idx="12"/>
          </p:nvPr>
        </p:nvSpPr>
        <p:spPr/>
        <p:txBody>
          <a:bodyPr/>
          <a:lstStyle/>
          <a:p>
            <a:fld id="{80CE91C6-E2BA-4C59-9F2B-7839FE9052CE}" type="slidenum">
              <a:rPr lang="en-IN" smtClean="0"/>
              <a:t>‹#›</a:t>
            </a:fld>
            <a:endParaRPr lang="en-IN"/>
          </a:p>
        </p:txBody>
      </p:sp>
    </p:spTree>
    <p:extLst>
      <p:ext uri="{BB962C8B-B14F-4D97-AF65-F5344CB8AC3E}">
        <p14:creationId xmlns:p14="http://schemas.microsoft.com/office/powerpoint/2010/main" val="2481445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FA92F-43B1-FDD6-831A-C0ECD0BF03E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CEB3018-C322-5924-5B16-0131B8A40AA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39F7E1-5D2F-1A52-0100-53BA1E4979D4}"/>
              </a:ext>
            </a:extLst>
          </p:cNvPr>
          <p:cNvSpPr>
            <a:spLocks noGrp="1"/>
          </p:cNvSpPr>
          <p:nvPr>
            <p:ph type="dt" sz="half" idx="10"/>
          </p:nvPr>
        </p:nvSpPr>
        <p:spPr/>
        <p:txBody>
          <a:bodyPr/>
          <a:lstStyle/>
          <a:p>
            <a:fld id="{CB12EDF4-7A9D-4E90-8430-85BBB2E16C8A}" type="datetimeFigureOut">
              <a:rPr lang="en-IN" smtClean="0"/>
              <a:t>17-11-2025</a:t>
            </a:fld>
            <a:endParaRPr lang="en-IN"/>
          </a:p>
        </p:txBody>
      </p:sp>
      <p:sp>
        <p:nvSpPr>
          <p:cNvPr id="5" name="Footer Placeholder 4">
            <a:extLst>
              <a:ext uri="{FF2B5EF4-FFF2-40B4-BE49-F238E27FC236}">
                <a16:creationId xmlns:a16="http://schemas.microsoft.com/office/drawing/2014/main" id="{874400D2-EF4D-7114-238A-1B5D6E64BA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5241B8-01C1-6B36-26F1-DA5075CB8A68}"/>
              </a:ext>
            </a:extLst>
          </p:cNvPr>
          <p:cNvSpPr>
            <a:spLocks noGrp="1"/>
          </p:cNvSpPr>
          <p:nvPr>
            <p:ph type="sldNum" sz="quarter" idx="12"/>
          </p:nvPr>
        </p:nvSpPr>
        <p:spPr/>
        <p:txBody>
          <a:bodyPr/>
          <a:lstStyle/>
          <a:p>
            <a:fld id="{80CE91C6-E2BA-4C59-9F2B-7839FE9052CE}" type="slidenum">
              <a:rPr lang="en-IN" smtClean="0"/>
              <a:t>‹#›</a:t>
            </a:fld>
            <a:endParaRPr lang="en-IN"/>
          </a:p>
        </p:txBody>
      </p:sp>
    </p:spTree>
    <p:extLst>
      <p:ext uri="{BB962C8B-B14F-4D97-AF65-F5344CB8AC3E}">
        <p14:creationId xmlns:p14="http://schemas.microsoft.com/office/powerpoint/2010/main" val="188446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41970-8908-F516-6EE7-58144BBA8C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ECAE83B-A5FD-EE07-27AB-44F7B42314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DD60AD-9CFA-D3AF-7B0F-D85E2DC593BD}"/>
              </a:ext>
            </a:extLst>
          </p:cNvPr>
          <p:cNvSpPr>
            <a:spLocks noGrp="1"/>
          </p:cNvSpPr>
          <p:nvPr>
            <p:ph type="dt" sz="half" idx="10"/>
          </p:nvPr>
        </p:nvSpPr>
        <p:spPr/>
        <p:txBody>
          <a:bodyPr/>
          <a:lstStyle/>
          <a:p>
            <a:fld id="{CB12EDF4-7A9D-4E90-8430-85BBB2E16C8A}" type="datetimeFigureOut">
              <a:rPr lang="en-IN" smtClean="0"/>
              <a:t>17-11-2025</a:t>
            </a:fld>
            <a:endParaRPr lang="en-IN"/>
          </a:p>
        </p:txBody>
      </p:sp>
      <p:sp>
        <p:nvSpPr>
          <p:cNvPr id="5" name="Footer Placeholder 4">
            <a:extLst>
              <a:ext uri="{FF2B5EF4-FFF2-40B4-BE49-F238E27FC236}">
                <a16:creationId xmlns:a16="http://schemas.microsoft.com/office/drawing/2014/main" id="{09A42665-937E-7D46-B751-286FAED27B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583E94-9927-F3B5-4A7B-3C1DC39BD6F1}"/>
              </a:ext>
            </a:extLst>
          </p:cNvPr>
          <p:cNvSpPr>
            <a:spLocks noGrp="1"/>
          </p:cNvSpPr>
          <p:nvPr>
            <p:ph type="sldNum" sz="quarter" idx="12"/>
          </p:nvPr>
        </p:nvSpPr>
        <p:spPr/>
        <p:txBody>
          <a:bodyPr/>
          <a:lstStyle/>
          <a:p>
            <a:fld id="{80CE91C6-E2BA-4C59-9F2B-7839FE9052CE}" type="slidenum">
              <a:rPr lang="en-IN" smtClean="0"/>
              <a:t>‹#›</a:t>
            </a:fld>
            <a:endParaRPr lang="en-IN"/>
          </a:p>
        </p:txBody>
      </p:sp>
    </p:spTree>
    <p:extLst>
      <p:ext uri="{BB962C8B-B14F-4D97-AF65-F5344CB8AC3E}">
        <p14:creationId xmlns:p14="http://schemas.microsoft.com/office/powerpoint/2010/main" val="894372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5986D-9ACE-D1B5-CDB9-1D76131C808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A3F4651-0048-710E-04F3-8C5B3056A2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A47A00C-F2F9-CDD5-0CA0-756A0FFC3E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293C1B3-0CA3-EB5A-B76B-6A02C6838331}"/>
              </a:ext>
            </a:extLst>
          </p:cNvPr>
          <p:cNvSpPr>
            <a:spLocks noGrp="1"/>
          </p:cNvSpPr>
          <p:nvPr>
            <p:ph type="dt" sz="half" idx="10"/>
          </p:nvPr>
        </p:nvSpPr>
        <p:spPr/>
        <p:txBody>
          <a:bodyPr/>
          <a:lstStyle/>
          <a:p>
            <a:fld id="{CB12EDF4-7A9D-4E90-8430-85BBB2E16C8A}" type="datetimeFigureOut">
              <a:rPr lang="en-IN" smtClean="0"/>
              <a:t>17-11-2025</a:t>
            </a:fld>
            <a:endParaRPr lang="en-IN"/>
          </a:p>
        </p:txBody>
      </p:sp>
      <p:sp>
        <p:nvSpPr>
          <p:cNvPr id="6" name="Footer Placeholder 5">
            <a:extLst>
              <a:ext uri="{FF2B5EF4-FFF2-40B4-BE49-F238E27FC236}">
                <a16:creationId xmlns:a16="http://schemas.microsoft.com/office/drawing/2014/main" id="{3ECA8B5E-3956-45E7-19A7-B3AF6252750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0B741D-9418-70B5-334D-F53CD27E1092}"/>
              </a:ext>
            </a:extLst>
          </p:cNvPr>
          <p:cNvSpPr>
            <a:spLocks noGrp="1"/>
          </p:cNvSpPr>
          <p:nvPr>
            <p:ph type="sldNum" sz="quarter" idx="12"/>
          </p:nvPr>
        </p:nvSpPr>
        <p:spPr/>
        <p:txBody>
          <a:bodyPr/>
          <a:lstStyle/>
          <a:p>
            <a:fld id="{80CE91C6-E2BA-4C59-9F2B-7839FE9052CE}" type="slidenum">
              <a:rPr lang="en-IN" smtClean="0"/>
              <a:t>‹#›</a:t>
            </a:fld>
            <a:endParaRPr lang="en-IN"/>
          </a:p>
        </p:txBody>
      </p:sp>
    </p:spTree>
    <p:extLst>
      <p:ext uri="{BB962C8B-B14F-4D97-AF65-F5344CB8AC3E}">
        <p14:creationId xmlns:p14="http://schemas.microsoft.com/office/powerpoint/2010/main" val="12713651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B6EC7-14EC-1280-7D31-C8D0DA5DCAE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EBA3735-7EB5-A155-7691-A772FA7DAB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1B2BD3-7404-D7B9-B84D-850939A2FE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06FA8E9-0B02-5A42-FD2C-CD4F31B472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84BC02-E923-8F47-FD0B-D3652322D7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6220550-2132-D58D-7C0C-787025D3291D}"/>
              </a:ext>
            </a:extLst>
          </p:cNvPr>
          <p:cNvSpPr>
            <a:spLocks noGrp="1"/>
          </p:cNvSpPr>
          <p:nvPr>
            <p:ph type="dt" sz="half" idx="10"/>
          </p:nvPr>
        </p:nvSpPr>
        <p:spPr/>
        <p:txBody>
          <a:bodyPr/>
          <a:lstStyle/>
          <a:p>
            <a:fld id="{CB12EDF4-7A9D-4E90-8430-85BBB2E16C8A}" type="datetimeFigureOut">
              <a:rPr lang="en-IN" smtClean="0"/>
              <a:t>17-11-2025</a:t>
            </a:fld>
            <a:endParaRPr lang="en-IN"/>
          </a:p>
        </p:txBody>
      </p:sp>
      <p:sp>
        <p:nvSpPr>
          <p:cNvPr id="8" name="Footer Placeholder 7">
            <a:extLst>
              <a:ext uri="{FF2B5EF4-FFF2-40B4-BE49-F238E27FC236}">
                <a16:creationId xmlns:a16="http://schemas.microsoft.com/office/drawing/2014/main" id="{456FFAAD-3AD5-5384-109A-3FE0AA09A11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8BD1DE2-DA4F-04A6-8D88-F29A3227CF8D}"/>
              </a:ext>
            </a:extLst>
          </p:cNvPr>
          <p:cNvSpPr>
            <a:spLocks noGrp="1"/>
          </p:cNvSpPr>
          <p:nvPr>
            <p:ph type="sldNum" sz="quarter" idx="12"/>
          </p:nvPr>
        </p:nvSpPr>
        <p:spPr/>
        <p:txBody>
          <a:bodyPr/>
          <a:lstStyle/>
          <a:p>
            <a:fld id="{80CE91C6-E2BA-4C59-9F2B-7839FE9052CE}" type="slidenum">
              <a:rPr lang="en-IN" smtClean="0"/>
              <a:t>‹#›</a:t>
            </a:fld>
            <a:endParaRPr lang="en-IN"/>
          </a:p>
        </p:txBody>
      </p:sp>
    </p:spTree>
    <p:extLst>
      <p:ext uri="{BB962C8B-B14F-4D97-AF65-F5344CB8AC3E}">
        <p14:creationId xmlns:p14="http://schemas.microsoft.com/office/powerpoint/2010/main" val="2911001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5F13C-C3A8-2336-0A70-7982021F75F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0EAE02D-50B8-0717-193A-51DDEFCC48F7}"/>
              </a:ext>
            </a:extLst>
          </p:cNvPr>
          <p:cNvSpPr>
            <a:spLocks noGrp="1"/>
          </p:cNvSpPr>
          <p:nvPr>
            <p:ph type="dt" sz="half" idx="10"/>
          </p:nvPr>
        </p:nvSpPr>
        <p:spPr/>
        <p:txBody>
          <a:bodyPr/>
          <a:lstStyle/>
          <a:p>
            <a:fld id="{CB12EDF4-7A9D-4E90-8430-85BBB2E16C8A}" type="datetimeFigureOut">
              <a:rPr lang="en-IN" smtClean="0"/>
              <a:t>17-11-2025</a:t>
            </a:fld>
            <a:endParaRPr lang="en-IN"/>
          </a:p>
        </p:txBody>
      </p:sp>
      <p:sp>
        <p:nvSpPr>
          <p:cNvPr id="4" name="Footer Placeholder 3">
            <a:extLst>
              <a:ext uri="{FF2B5EF4-FFF2-40B4-BE49-F238E27FC236}">
                <a16:creationId xmlns:a16="http://schemas.microsoft.com/office/drawing/2014/main" id="{FA8DCB3F-CFEC-C48A-00AC-9B961A3D3C2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6791960-91E0-43CD-9260-DEBB6A2D41F4}"/>
              </a:ext>
            </a:extLst>
          </p:cNvPr>
          <p:cNvSpPr>
            <a:spLocks noGrp="1"/>
          </p:cNvSpPr>
          <p:nvPr>
            <p:ph type="sldNum" sz="quarter" idx="12"/>
          </p:nvPr>
        </p:nvSpPr>
        <p:spPr/>
        <p:txBody>
          <a:bodyPr/>
          <a:lstStyle/>
          <a:p>
            <a:fld id="{80CE91C6-E2BA-4C59-9F2B-7839FE9052CE}" type="slidenum">
              <a:rPr lang="en-IN" smtClean="0"/>
              <a:t>‹#›</a:t>
            </a:fld>
            <a:endParaRPr lang="en-IN"/>
          </a:p>
        </p:txBody>
      </p:sp>
    </p:spTree>
    <p:extLst>
      <p:ext uri="{BB962C8B-B14F-4D97-AF65-F5344CB8AC3E}">
        <p14:creationId xmlns:p14="http://schemas.microsoft.com/office/powerpoint/2010/main" val="2812106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181F44-8B7D-4AC4-03BF-AB9E536EE9CE}"/>
              </a:ext>
            </a:extLst>
          </p:cNvPr>
          <p:cNvSpPr>
            <a:spLocks noGrp="1"/>
          </p:cNvSpPr>
          <p:nvPr>
            <p:ph type="dt" sz="half" idx="10"/>
          </p:nvPr>
        </p:nvSpPr>
        <p:spPr/>
        <p:txBody>
          <a:bodyPr/>
          <a:lstStyle/>
          <a:p>
            <a:fld id="{CB12EDF4-7A9D-4E90-8430-85BBB2E16C8A}" type="datetimeFigureOut">
              <a:rPr lang="en-IN" smtClean="0"/>
              <a:t>17-11-2025</a:t>
            </a:fld>
            <a:endParaRPr lang="en-IN"/>
          </a:p>
        </p:txBody>
      </p:sp>
      <p:sp>
        <p:nvSpPr>
          <p:cNvPr id="3" name="Footer Placeholder 2">
            <a:extLst>
              <a:ext uri="{FF2B5EF4-FFF2-40B4-BE49-F238E27FC236}">
                <a16:creationId xmlns:a16="http://schemas.microsoft.com/office/drawing/2014/main" id="{B6E8FFFF-8015-02CD-682B-A5C87FC955A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51D8C2A-C6AF-7C98-9276-C2350313CE22}"/>
              </a:ext>
            </a:extLst>
          </p:cNvPr>
          <p:cNvSpPr>
            <a:spLocks noGrp="1"/>
          </p:cNvSpPr>
          <p:nvPr>
            <p:ph type="sldNum" sz="quarter" idx="12"/>
          </p:nvPr>
        </p:nvSpPr>
        <p:spPr/>
        <p:txBody>
          <a:bodyPr/>
          <a:lstStyle/>
          <a:p>
            <a:fld id="{80CE91C6-E2BA-4C59-9F2B-7839FE9052CE}" type="slidenum">
              <a:rPr lang="en-IN" smtClean="0"/>
              <a:t>‹#›</a:t>
            </a:fld>
            <a:endParaRPr lang="en-IN"/>
          </a:p>
        </p:txBody>
      </p:sp>
    </p:spTree>
    <p:extLst>
      <p:ext uri="{BB962C8B-B14F-4D97-AF65-F5344CB8AC3E}">
        <p14:creationId xmlns:p14="http://schemas.microsoft.com/office/powerpoint/2010/main" val="1675748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9F8C5-0B43-00D2-FF5C-6278C31585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248F9A3-1C1C-19E0-EC12-00B3FD58C6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1B415FB-284B-B005-326E-CCF85CE54C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D2E2FB-D946-9317-8716-6EDDF1C9911B}"/>
              </a:ext>
            </a:extLst>
          </p:cNvPr>
          <p:cNvSpPr>
            <a:spLocks noGrp="1"/>
          </p:cNvSpPr>
          <p:nvPr>
            <p:ph type="dt" sz="half" idx="10"/>
          </p:nvPr>
        </p:nvSpPr>
        <p:spPr/>
        <p:txBody>
          <a:bodyPr/>
          <a:lstStyle/>
          <a:p>
            <a:fld id="{CB12EDF4-7A9D-4E90-8430-85BBB2E16C8A}" type="datetimeFigureOut">
              <a:rPr lang="en-IN" smtClean="0"/>
              <a:t>17-11-2025</a:t>
            </a:fld>
            <a:endParaRPr lang="en-IN"/>
          </a:p>
        </p:txBody>
      </p:sp>
      <p:sp>
        <p:nvSpPr>
          <p:cNvPr id="6" name="Footer Placeholder 5">
            <a:extLst>
              <a:ext uri="{FF2B5EF4-FFF2-40B4-BE49-F238E27FC236}">
                <a16:creationId xmlns:a16="http://schemas.microsoft.com/office/drawing/2014/main" id="{6B5142F3-FAF7-7837-C08D-9380EE3DE8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C767606-8DB1-8B86-9045-C1288049082F}"/>
              </a:ext>
            </a:extLst>
          </p:cNvPr>
          <p:cNvSpPr>
            <a:spLocks noGrp="1"/>
          </p:cNvSpPr>
          <p:nvPr>
            <p:ph type="sldNum" sz="quarter" idx="12"/>
          </p:nvPr>
        </p:nvSpPr>
        <p:spPr/>
        <p:txBody>
          <a:bodyPr/>
          <a:lstStyle/>
          <a:p>
            <a:fld id="{80CE91C6-E2BA-4C59-9F2B-7839FE9052CE}" type="slidenum">
              <a:rPr lang="en-IN" smtClean="0"/>
              <a:t>‹#›</a:t>
            </a:fld>
            <a:endParaRPr lang="en-IN"/>
          </a:p>
        </p:txBody>
      </p:sp>
    </p:spTree>
    <p:extLst>
      <p:ext uri="{BB962C8B-B14F-4D97-AF65-F5344CB8AC3E}">
        <p14:creationId xmlns:p14="http://schemas.microsoft.com/office/powerpoint/2010/main" val="18579466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45960-345C-0BCC-F035-DEDBA078E5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A4E4C53-81A2-3A33-D364-2C312DC1C8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DA85182-FB73-F198-4A22-E5B0AF2090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7C1C86-79B3-9B08-B71D-99C5BDFF8406}"/>
              </a:ext>
            </a:extLst>
          </p:cNvPr>
          <p:cNvSpPr>
            <a:spLocks noGrp="1"/>
          </p:cNvSpPr>
          <p:nvPr>
            <p:ph type="dt" sz="half" idx="10"/>
          </p:nvPr>
        </p:nvSpPr>
        <p:spPr/>
        <p:txBody>
          <a:bodyPr/>
          <a:lstStyle/>
          <a:p>
            <a:fld id="{CB12EDF4-7A9D-4E90-8430-85BBB2E16C8A}" type="datetimeFigureOut">
              <a:rPr lang="en-IN" smtClean="0"/>
              <a:t>17-11-2025</a:t>
            </a:fld>
            <a:endParaRPr lang="en-IN"/>
          </a:p>
        </p:txBody>
      </p:sp>
      <p:sp>
        <p:nvSpPr>
          <p:cNvPr id="6" name="Footer Placeholder 5">
            <a:extLst>
              <a:ext uri="{FF2B5EF4-FFF2-40B4-BE49-F238E27FC236}">
                <a16:creationId xmlns:a16="http://schemas.microsoft.com/office/drawing/2014/main" id="{02D3B46F-95F6-27BE-EF69-FCD42DCDDE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1230AD9-746D-1FFD-8158-60273667F22E}"/>
              </a:ext>
            </a:extLst>
          </p:cNvPr>
          <p:cNvSpPr>
            <a:spLocks noGrp="1"/>
          </p:cNvSpPr>
          <p:nvPr>
            <p:ph type="sldNum" sz="quarter" idx="12"/>
          </p:nvPr>
        </p:nvSpPr>
        <p:spPr/>
        <p:txBody>
          <a:bodyPr/>
          <a:lstStyle/>
          <a:p>
            <a:fld id="{80CE91C6-E2BA-4C59-9F2B-7839FE9052CE}" type="slidenum">
              <a:rPr lang="en-IN" smtClean="0"/>
              <a:t>‹#›</a:t>
            </a:fld>
            <a:endParaRPr lang="en-IN"/>
          </a:p>
        </p:txBody>
      </p:sp>
    </p:spTree>
    <p:extLst>
      <p:ext uri="{BB962C8B-B14F-4D97-AF65-F5344CB8AC3E}">
        <p14:creationId xmlns:p14="http://schemas.microsoft.com/office/powerpoint/2010/main" val="3893497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01B0D-824F-B239-7457-C9FA2AD30B7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4E86264-2BCC-E806-148E-214EFDEDF50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6387A3-5004-8094-A961-13405E294D4A}"/>
              </a:ext>
            </a:extLst>
          </p:cNvPr>
          <p:cNvSpPr>
            <a:spLocks noGrp="1"/>
          </p:cNvSpPr>
          <p:nvPr>
            <p:ph type="dt" sz="half" idx="10"/>
          </p:nvPr>
        </p:nvSpPr>
        <p:spPr/>
        <p:txBody>
          <a:bodyPr/>
          <a:lstStyle/>
          <a:p>
            <a:fld id="{CB12EDF4-7A9D-4E90-8430-85BBB2E16C8A}" type="datetimeFigureOut">
              <a:rPr lang="en-IN" smtClean="0"/>
              <a:t>17-11-2025</a:t>
            </a:fld>
            <a:endParaRPr lang="en-IN"/>
          </a:p>
        </p:txBody>
      </p:sp>
      <p:sp>
        <p:nvSpPr>
          <p:cNvPr id="5" name="Footer Placeholder 4">
            <a:extLst>
              <a:ext uri="{FF2B5EF4-FFF2-40B4-BE49-F238E27FC236}">
                <a16:creationId xmlns:a16="http://schemas.microsoft.com/office/drawing/2014/main" id="{1A59680F-A619-4D55-7471-A5E5466B14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DDDBA5-4BA4-3436-72E0-5B216EDD1D7E}"/>
              </a:ext>
            </a:extLst>
          </p:cNvPr>
          <p:cNvSpPr>
            <a:spLocks noGrp="1"/>
          </p:cNvSpPr>
          <p:nvPr>
            <p:ph type="sldNum" sz="quarter" idx="12"/>
          </p:nvPr>
        </p:nvSpPr>
        <p:spPr/>
        <p:txBody>
          <a:bodyPr/>
          <a:lstStyle/>
          <a:p>
            <a:fld id="{80CE91C6-E2BA-4C59-9F2B-7839FE9052CE}" type="slidenum">
              <a:rPr lang="en-IN" smtClean="0"/>
              <a:t>‹#›</a:t>
            </a:fld>
            <a:endParaRPr lang="en-IN"/>
          </a:p>
        </p:txBody>
      </p:sp>
    </p:spTree>
    <p:extLst>
      <p:ext uri="{BB962C8B-B14F-4D97-AF65-F5344CB8AC3E}">
        <p14:creationId xmlns:p14="http://schemas.microsoft.com/office/powerpoint/2010/main" val="4186935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B85F1E-DDB0-16FD-4B1C-4CE38BF6988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3E9B4BB-0D7A-27B3-20B7-E5A1DF4F46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02AAF4-E1F3-4DC6-6A85-F6E34A27F6AF}"/>
              </a:ext>
            </a:extLst>
          </p:cNvPr>
          <p:cNvSpPr>
            <a:spLocks noGrp="1"/>
          </p:cNvSpPr>
          <p:nvPr>
            <p:ph type="dt" sz="half" idx="10"/>
          </p:nvPr>
        </p:nvSpPr>
        <p:spPr/>
        <p:txBody>
          <a:bodyPr/>
          <a:lstStyle/>
          <a:p>
            <a:fld id="{CB12EDF4-7A9D-4E90-8430-85BBB2E16C8A}" type="datetimeFigureOut">
              <a:rPr lang="en-IN" smtClean="0"/>
              <a:t>17-11-2025</a:t>
            </a:fld>
            <a:endParaRPr lang="en-IN"/>
          </a:p>
        </p:txBody>
      </p:sp>
      <p:sp>
        <p:nvSpPr>
          <p:cNvPr id="5" name="Footer Placeholder 4">
            <a:extLst>
              <a:ext uri="{FF2B5EF4-FFF2-40B4-BE49-F238E27FC236}">
                <a16:creationId xmlns:a16="http://schemas.microsoft.com/office/drawing/2014/main" id="{D338F8F7-CB5B-FAF6-BB79-AF4B6F1D1E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83D133-FC56-5091-C106-EFE2EA8754EF}"/>
              </a:ext>
            </a:extLst>
          </p:cNvPr>
          <p:cNvSpPr>
            <a:spLocks noGrp="1"/>
          </p:cNvSpPr>
          <p:nvPr>
            <p:ph type="sldNum" sz="quarter" idx="12"/>
          </p:nvPr>
        </p:nvSpPr>
        <p:spPr/>
        <p:txBody>
          <a:bodyPr/>
          <a:lstStyle/>
          <a:p>
            <a:fld id="{80CE91C6-E2BA-4C59-9F2B-7839FE9052CE}" type="slidenum">
              <a:rPr lang="en-IN" smtClean="0"/>
              <a:t>‹#›</a:t>
            </a:fld>
            <a:endParaRPr lang="en-IN"/>
          </a:p>
        </p:txBody>
      </p:sp>
    </p:spTree>
    <p:extLst>
      <p:ext uri="{BB962C8B-B14F-4D97-AF65-F5344CB8AC3E}">
        <p14:creationId xmlns:p14="http://schemas.microsoft.com/office/powerpoint/2010/main" val="21840818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9E1B79-75C9-F065-FB84-656B70DE59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A23E53-48A3-C4BC-63C7-012268BB0F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BF9958-67A4-8C9D-CD3D-40933C34F9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12EDF4-7A9D-4E90-8430-85BBB2E16C8A}" type="datetimeFigureOut">
              <a:rPr lang="en-IN" smtClean="0"/>
              <a:t>17-11-2025</a:t>
            </a:fld>
            <a:endParaRPr lang="en-IN"/>
          </a:p>
        </p:txBody>
      </p:sp>
      <p:sp>
        <p:nvSpPr>
          <p:cNvPr id="5" name="Footer Placeholder 4">
            <a:extLst>
              <a:ext uri="{FF2B5EF4-FFF2-40B4-BE49-F238E27FC236}">
                <a16:creationId xmlns:a16="http://schemas.microsoft.com/office/drawing/2014/main" id="{84D80822-984E-9D8D-0E9E-448A725363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A7DDBB8-45EF-0DC5-0ADD-0CAEBA688C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CE91C6-E2BA-4C59-9F2B-7839FE9052CE}" type="slidenum">
              <a:rPr lang="en-IN" smtClean="0"/>
              <a:t>‹#›</a:t>
            </a:fld>
            <a:endParaRPr lang="en-IN"/>
          </a:p>
        </p:txBody>
      </p:sp>
    </p:spTree>
    <p:extLst>
      <p:ext uri="{BB962C8B-B14F-4D97-AF65-F5344CB8AC3E}">
        <p14:creationId xmlns:p14="http://schemas.microsoft.com/office/powerpoint/2010/main" val="906938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24EB3-6115-5497-11B0-25C4BB599DC9}"/>
              </a:ext>
            </a:extLst>
          </p:cNvPr>
          <p:cNvSpPr>
            <a:spLocks noGrp="1"/>
          </p:cNvSpPr>
          <p:nvPr>
            <p:ph type="ctrTitle"/>
          </p:nvPr>
        </p:nvSpPr>
        <p:spPr/>
        <p:txBody>
          <a:bodyPr/>
          <a:lstStyle/>
          <a:p>
            <a:r>
              <a:rPr lang="en-IN" b="1" dirty="0"/>
              <a:t>INFORMATION RETRIEVAL SYSTEM</a:t>
            </a:r>
          </a:p>
        </p:txBody>
      </p:sp>
    </p:spTree>
    <p:extLst>
      <p:ext uri="{BB962C8B-B14F-4D97-AF65-F5344CB8AC3E}">
        <p14:creationId xmlns:p14="http://schemas.microsoft.com/office/powerpoint/2010/main" val="1178389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3891F-6A97-617F-ECF0-7236F6430FBB}"/>
              </a:ext>
            </a:extLst>
          </p:cNvPr>
          <p:cNvSpPr>
            <a:spLocks noGrp="1"/>
          </p:cNvSpPr>
          <p:nvPr>
            <p:ph type="title"/>
          </p:nvPr>
        </p:nvSpPr>
        <p:spPr/>
        <p:txBody>
          <a:bodyPr/>
          <a:lstStyle/>
          <a:p>
            <a:r>
              <a:rPr lang="en-US" b="1" dirty="0"/>
              <a:t>Unit IV: Stemming Algorithms and Thesaurus Construction: </a:t>
            </a:r>
            <a:endParaRPr lang="en-IN" b="1" dirty="0"/>
          </a:p>
        </p:txBody>
      </p:sp>
      <p:sp>
        <p:nvSpPr>
          <p:cNvPr id="3" name="Content Placeholder 2">
            <a:extLst>
              <a:ext uri="{FF2B5EF4-FFF2-40B4-BE49-F238E27FC236}">
                <a16:creationId xmlns:a16="http://schemas.microsoft.com/office/drawing/2014/main" id="{235AF5FD-FC31-034A-A0B2-404E53D88978}"/>
              </a:ext>
            </a:extLst>
          </p:cNvPr>
          <p:cNvSpPr>
            <a:spLocks noGrp="1"/>
          </p:cNvSpPr>
          <p:nvPr>
            <p:ph idx="1"/>
          </p:nvPr>
        </p:nvSpPr>
        <p:spPr/>
        <p:txBody>
          <a:bodyPr/>
          <a:lstStyle/>
          <a:p>
            <a:r>
              <a:rPr lang="en-US" dirty="0"/>
              <a:t>Types of Stemming algorithms</a:t>
            </a:r>
          </a:p>
          <a:p>
            <a:r>
              <a:rPr lang="en-US" dirty="0"/>
              <a:t>Experimental Evaluations of Stemming</a:t>
            </a:r>
          </a:p>
          <a:p>
            <a:r>
              <a:rPr lang="en-US" dirty="0"/>
              <a:t>Stemming to Compress Inverted Files.</a:t>
            </a:r>
            <a:endParaRPr lang="en-IN" dirty="0"/>
          </a:p>
          <a:p>
            <a:r>
              <a:rPr lang="en-US" b="1" dirty="0"/>
              <a:t>Thesaurus Construction</a:t>
            </a:r>
            <a:r>
              <a:rPr lang="en-US" dirty="0"/>
              <a:t>: Features of Thesauri</a:t>
            </a:r>
          </a:p>
          <a:p>
            <a:r>
              <a:rPr lang="en-US" dirty="0"/>
              <a:t>Thesaurus Construction</a:t>
            </a:r>
          </a:p>
          <a:p>
            <a:r>
              <a:rPr lang="en-US" dirty="0"/>
              <a:t>Thesaurus construction from Texts</a:t>
            </a:r>
          </a:p>
          <a:p>
            <a:r>
              <a:rPr lang="en-US" dirty="0"/>
              <a:t>Merging existing Thesauri.</a:t>
            </a:r>
            <a:endParaRPr lang="en-IN" dirty="0"/>
          </a:p>
          <a:p>
            <a:endParaRPr lang="en-IN" dirty="0"/>
          </a:p>
        </p:txBody>
      </p:sp>
    </p:spTree>
    <p:extLst>
      <p:ext uri="{BB962C8B-B14F-4D97-AF65-F5344CB8AC3E}">
        <p14:creationId xmlns:p14="http://schemas.microsoft.com/office/powerpoint/2010/main" val="695567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E4608-739F-E867-4C37-0D05DF43E38D}"/>
              </a:ext>
            </a:extLst>
          </p:cNvPr>
          <p:cNvSpPr>
            <a:spLocks noGrp="1"/>
          </p:cNvSpPr>
          <p:nvPr>
            <p:ph type="title"/>
          </p:nvPr>
        </p:nvSpPr>
        <p:spPr>
          <a:xfrm>
            <a:off x="838200" y="365126"/>
            <a:ext cx="10515600" cy="824578"/>
          </a:xfrm>
        </p:spPr>
        <p:txBody>
          <a:bodyPr/>
          <a:lstStyle/>
          <a:p>
            <a:r>
              <a:rPr lang="en-IN" b="1" dirty="0"/>
              <a:t>INTRODUCTION</a:t>
            </a:r>
          </a:p>
        </p:txBody>
      </p:sp>
      <p:sp>
        <p:nvSpPr>
          <p:cNvPr id="3" name="Content Placeholder 2">
            <a:extLst>
              <a:ext uri="{FF2B5EF4-FFF2-40B4-BE49-F238E27FC236}">
                <a16:creationId xmlns:a16="http://schemas.microsoft.com/office/drawing/2014/main" id="{C10BD553-4C5C-B75E-E024-97187608AA91}"/>
              </a:ext>
            </a:extLst>
          </p:cNvPr>
          <p:cNvSpPr>
            <a:spLocks noGrp="1"/>
          </p:cNvSpPr>
          <p:nvPr>
            <p:ph idx="1"/>
          </p:nvPr>
        </p:nvSpPr>
        <p:spPr>
          <a:xfrm>
            <a:off x="838200" y="1307690"/>
            <a:ext cx="10515600" cy="4869273"/>
          </a:xfrm>
        </p:spPr>
        <p:txBody>
          <a:bodyPr/>
          <a:lstStyle/>
          <a:p>
            <a:pPr algn="just"/>
            <a:r>
              <a:rPr lang="en-US" dirty="0"/>
              <a:t>One technique for improving IR performance is to provide searchers with ways of finding morphological variants of search terms. </a:t>
            </a:r>
          </a:p>
          <a:p>
            <a:pPr algn="just"/>
            <a:r>
              <a:rPr lang="en-US" b="1" dirty="0"/>
              <a:t>Example: </a:t>
            </a:r>
            <a:r>
              <a:rPr lang="en-US" dirty="0"/>
              <a:t>A searcher enters the term stemming as part of a query, it is likely that he or she will also be interested in such variants as stemmed and stem.</a:t>
            </a:r>
          </a:p>
          <a:p>
            <a:pPr algn="just"/>
            <a:r>
              <a:rPr lang="en-US" b="1" dirty="0"/>
              <a:t>Conflation:</a:t>
            </a:r>
            <a:r>
              <a:rPr lang="en-US" dirty="0"/>
              <a:t> It is the term frequently used to refer to mapping multiple morphological variants to a single representation. </a:t>
            </a:r>
          </a:p>
          <a:p>
            <a:pPr algn="just"/>
            <a:r>
              <a:rPr lang="en-US" dirty="0"/>
              <a:t>Conflation can be either manual or automatic. </a:t>
            </a:r>
          </a:p>
          <a:p>
            <a:pPr algn="just"/>
            <a:r>
              <a:rPr lang="en-US" b="1" dirty="0"/>
              <a:t>Manual conflation: </a:t>
            </a:r>
            <a:r>
              <a:rPr lang="en-US" dirty="0"/>
              <a:t>Using some kind of regular expressions. </a:t>
            </a:r>
          </a:p>
          <a:p>
            <a:pPr algn="just"/>
            <a:r>
              <a:rPr lang="en-US" b="1" dirty="0"/>
              <a:t>Automatic conflation: </a:t>
            </a:r>
            <a:r>
              <a:rPr lang="en-US" dirty="0"/>
              <a:t>Using programs (stemmers).</a:t>
            </a:r>
            <a:endParaRPr lang="en-IN" dirty="0"/>
          </a:p>
        </p:txBody>
      </p:sp>
    </p:spTree>
    <p:extLst>
      <p:ext uri="{BB962C8B-B14F-4D97-AF65-F5344CB8AC3E}">
        <p14:creationId xmlns:p14="http://schemas.microsoft.com/office/powerpoint/2010/main" val="1083718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C38CF5-A492-3AD7-6227-B57A5AEEB72C}"/>
              </a:ext>
            </a:extLst>
          </p:cNvPr>
          <p:cNvSpPr>
            <a:spLocks noGrp="1"/>
          </p:cNvSpPr>
          <p:nvPr>
            <p:ph idx="1"/>
          </p:nvPr>
        </p:nvSpPr>
        <p:spPr>
          <a:xfrm>
            <a:off x="838200" y="245806"/>
            <a:ext cx="10515600" cy="5931157"/>
          </a:xfrm>
        </p:spPr>
        <p:txBody>
          <a:bodyPr/>
          <a:lstStyle/>
          <a:p>
            <a:r>
              <a:rPr lang="en-US" dirty="0"/>
              <a:t>Terms can be stemmed at indexing time or at search time. </a:t>
            </a:r>
            <a:endParaRPr lang="en-IN" dirty="0"/>
          </a:p>
        </p:txBody>
      </p:sp>
      <p:pic>
        <p:nvPicPr>
          <p:cNvPr id="5" name="Picture 4">
            <a:extLst>
              <a:ext uri="{FF2B5EF4-FFF2-40B4-BE49-F238E27FC236}">
                <a16:creationId xmlns:a16="http://schemas.microsoft.com/office/drawing/2014/main" id="{49D5C290-8280-E1F5-B089-D002AC6BA97C}"/>
              </a:ext>
            </a:extLst>
          </p:cNvPr>
          <p:cNvPicPr>
            <a:picLocks noChangeAspect="1"/>
          </p:cNvPicPr>
          <p:nvPr/>
        </p:nvPicPr>
        <p:blipFill>
          <a:blip r:embed="rId2"/>
          <a:stretch>
            <a:fillRect/>
          </a:stretch>
        </p:blipFill>
        <p:spPr>
          <a:xfrm>
            <a:off x="2887702" y="1173284"/>
            <a:ext cx="6416596" cy="4511431"/>
          </a:xfrm>
          <a:prstGeom prst="rect">
            <a:avLst/>
          </a:prstGeom>
        </p:spPr>
      </p:pic>
    </p:spTree>
    <p:extLst>
      <p:ext uri="{BB962C8B-B14F-4D97-AF65-F5344CB8AC3E}">
        <p14:creationId xmlns:p14="http://schemas.microsoft.com/office/powerpoint/2010/main" val="11511047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78F68-0B64-B8A2-9FEA-1652748F3127}"/>
              </a:ext>
            </a:extLst>
          </p:cNvPr>
          <p:cNvSpPr>
            <a:spLocks noGrp="1"/>
          </p:cNvSpPr>
          <p:nvPr>
            <p:ph type="title"/>
          </p:nvPr>
        </p:nvSpPr>
        <p:spPr>
          <a:xfrm>
            <a:off x="838200" y="365125"/>
            <a:ext cx="10515600" cy="401791"/>
          </a:xfrm>
        </p:spPr>
        <p:txBody>
          <a:bodyPr>
            <a:normAutofit fontScale="90000"/>
          </a:bodyPr>
          <a:lstStyle/>
          <a:p>
            <a:r>
              <a:rPr lang="en-US" b="1" dirty="0"/>
              <a:t>Functional View of Paradigm IR System:</a:t>
            </a:r>
            <a:endParaRPr lang="en-IN" b="1" dirty="0"/>
          </a:p>
        </p:txBody>
      </p:sp>
      <p:pic>
        <p:nvPicPr>
          <p:cNvPr id="5" name="Content Placeholder 4">
            <a:extLst>
              <a:ext uri="{FF2B5EF4-FFF2-40B4-BE49-F238E27FC236}">
                <a16:creationId xmlns:a16="http://schemas.microsoft.com/office/drawing/2014/main" id="{661B2894-9A17-451E-62E4-78A46E0FD27E}"/>
              </a:ext>
            </a:extLst>
          </p:cNvPr>
          <p:cNvPicPr>
            <a:picLocks noGrp="1" noChangeAspect="1"/>
          </p:cNvPicPr>
          <p:nvPr>
            <p:ph idx="1"/>
          </p:nvPr>
        </p:nvPicPr>
        <p:blipFill>
          <a:blip r:embed="rId2"/>
          <a:stretch>
            <a:fillRect/>
          </a:stretch>
        </p:blipFill>
        <p:spPr>
          <a:xfrm>
            <a:off x="1042219" y="934064"/>
            <a:ext cx="10127225" cy="5771536"/>
          </a:xfrm>
        </p:spPr>
      </p:pic>
    </p:spTree>
    <p:extLst>
      <p:ext uri="{BB962C8B-B14F-4D97-AF65-F5344CB8AC3E}">
        <p14:creationId xmlns:p14="http://schemas.microsoft.com/office/powerpoint/2010/main" val="2674687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8BE13E-BC32-7889-FA08-7477605185AD}"/>
              </a:ext>
            </a:extLst>
          </p:cNvPr>
          <p:cNvSpPr>
            <a:spLocks noGrp="1"/>
          </p:cNvSpPr>
          <p:nvPr>
            <p:ph idx="1"/>
          </p:nvPr>
        </p:nvSpPr>
        <p:spPr>
          <a:xfrm>
            <a:off x="838200" y="501445"/>
            <a:ext cx="10515600" cy="5675518"/>
          </a:xfrm>
        </p:spPr>
        <p:txBody>
          <a:bodyPr>
            <a:normAutofit/>
          </a:bodyPr>
          <a:lstStyle/>
          <a:p>
            <a:pPr algn="just"/>
            <a:r>
              <a:rPr lang="en-US" dirty="0"/>
              <a:t>The stem carries the meaning of the concept associated with the word and the affixes (endings) introduce subtle modifications to the concept. </a:t>
            </a:r>
          </a:p>
          <a:p>
            <a:pPr algn="just"/>
            <a:r>
              <a:rPr lang="en-US" b="1" dirty="0"/>
              <a:t>For example:</a:t>
            </a:r>
            <a:r>
              <a:rPr lang="en-US" dirty="0"/>
              <a:t> the stem “</a:t>
            </a:r>
            <a:r>
              <a:rPr lang="en-US" dirty="0" err="1"/>
              <a:t>comput</a:t>
            </a:r>
            <a:r>
              <a:rPr lang="en-US" dirty="0"/>
              <a:t>” could associate “computable, computability, computation, computational, computed, computing, computer, computerize” to one compressed word.</a:t>
            </a:r>
          </a:p>
          <a:p>
            <a:pPr algn="just"/>
            <a:r>
              <a:rPr lang="en-IN" dirty="0"/>
              <a:t>Several criteria for judging stemmers: </a:t>
            </a:r>
          </a:p>
          <a:p>
            <a:pPr lvl="1" algn="just">
              <a:buFont typeface="Wingdings" panose="05000000000000000000" pitchFamily="2" charset="2"/>
              <a:buChar char="Ø"/>
            </a:pPr>
            <a:r>
              <a:rPr lang="en-IN" dirty="0"/>
              <a:t>Correctness</a:t>
            </a:r>
          </a:p>
          <a:p>
            <a:pPr lvl="1" algn="just">
              <a:buFont typeface="Wingdings" panose="05000000000000000000" pitchFamily="2" charset="2"/>
              <a:buChar char="Ø"/>
            </a:pPr>
            <a:r>
              <a:rPr lang="en-IN" dirty="0"/>
              <a:t>Retrieval effectiveness</a:t>
            </a:r>
          </a:p>
          <a:p>
            <a:pPr lvl="1" algn="just">
              <a:buFont typeface="Wingdings" panose="05000000000000000000" pitchFamily="2" charset="2"/>
              <a:buChar char="Ø"/>
            </a:pPr>
            <a:r>
              <a:rPr lang="en-IN" dirty="0"/>
              <a:t>Compression performance </a:t>
            </a:r>
          </a:p>
          <a:p>
            <a:pPr algn="just"/>
            <a:r>
              <a:rPr lang="en-IN" dirty="0"/>
              <a:t>Two ways stemming can be incorrect: </a:t>
            </a:r>
          </a:p>
          <a:p>
            <a:pPr lvl="1" algn="just">
              <a:buFont typeface="Wingdings" panose="05000000000000000000" pitchFamily="2" charset="2"/>
              <a:buChar char="Ø"/>
            </a:pPr>
            <a:r>
              <a:rPr lang="en-IN" dirty="0"/>
              <a:t>Over stemming (too much removal) </a:t>
            </a:r>
          </a:p>
          <a:p>
            <a:pPr lvl="1" algn="just">
              <a:buFont typeface="Wingdings" panose="05000000000000000000" pitchFamily="2" charset="2"/>
              <a:buChar char="Ø"/>
            </a:pPr>
            <a:r>
              <a:rPr lang="en-IN" dirty="0"/>
              <a:t>Under stemming (too little removal)</a:t>
            </a:r>
          </a:p>
        </p:txBody>
      </p:sp>
    </p:spTree>
    <p:extLst>
      <p:ext uri="{BB962C8B-B14F-4D97-AF65-F5344CB8AC3E}">
        <p14:creationId xmlns:p14="http://schemas.microsoft.com/office/powerpoint/2010/main" val="2466186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BBF25-D405-787F-9223-A5CFCDF4C42C}"/>
              </a:ext>
            </a:extLst>
          </p:cNvPr>
          <p:cNvSpPr>
            <a:spLocks noGrp="1"/>
          </p:cNvSpPr>
          <p:nvPr>
            <p:ph type="title"/>
          </p:nvPr>
        </p:nvSpPr>
        <p:spPr>
          <a:xfrm>
            <a:off x="838200" y="365126"/>
            <a:ext cx="10515600" cy="873740"/>
          </a:xfrm>
        </p:spPr>
        <p:txBody>
          <a:bodyPr/>
          <a:lstStyle/>
          <a:p>
            <a:r>
              <a:rPr lang="en-US" b="1" dirty="0"/>
              <a:t>Example of Stemmer Use in Searching</a:t>
            </a:r>
            <a:endParaRPr lang="en-IN" b="1" dirty="0"/>
          </a:p>
        </p:txBody>
      </p:sp>
      <p:sp>
        <p:nvSpPr>
          <p:cNvPr id="3" name="Content Placeholder 2">
            <a:extLst>
              <a:ext uri="{FF2B5EF4-FFF2-40B4-BE49-F238E27FC236}">
                <a16:creationId xmlns:a16="http://schemas.microsoft.com/office/drawing/2014/main" id="{CAB9C223-2A42-CF1B-5358-0351A4D2415D}"/>
              </a:ext>
            </a:extLst>
          </p:cNvPr>
          <p:cNvSpPr>
            <a:spLocks noGrp="1"/>
          </p:cNvSpPr>
          <p:nvPr>
            <p:ph idx="1"/>
          </p:nvPr>
        </p:nvSpPr>
        <p:spPr>
          <a:xfrm>
            <a:off x="838200" y="1258530"/>
            <a:ext cx="10515600" cy="4938097"/>
          </a:xfrm>
        </p:spPr>
        <p:txBody>
          <a:bodyPr/>
          <a:lstStyle/>
          <a:p>
            <a:pPr algn="just"/>
            <a:r>
              <a:rPr lang="en-US" dirty="0"/>
              <a:t>In CATALOG, terms are stemmed at search time rather than at indexing time. </a:t>
            </a:r>
          </a:p>
          <a:p>
            <a:pPr algn="just"/>
            <a:r>
              <a:rPr lang="en-US" dirty="0"/>
              <a:t>CATALOG prompts for queries with the string "Look for:” </a:t>
            </a:r>
          </a:p>
          <a:p>
            <a:pPr algn="just"/>
            <a:r>
              <a:rPr lang="en-US" dirty="0"/>
              <a:t>At the prompt, the user types in one or more terms of interest. </a:t>
            </a:r>
          </a:p>
          <a:p>
            <a:pPr algn="just"/>
            <a:r>
              <a:rPr lang="en-US" dirty="0"/>
              <a:t>For example: Look for: system users will cause CATALOG to attempt to find documents about system users. </a:t>
            </a:r>
          </a:p>
          <a:p>
            <a:pPr algn="just"/>
            <a:r>
              <a:rPr lang="en-US" dirty="0"/>
              <a:t>CATALOG takes each term in the query, and tries to determine which other terms in the database might have the same stem.</a:t>
            </a:r>
          </a:p>
          <a:p>
            <a:pPr algn="just"/>
            <a:r>
              <a:rPr lang="en-US" dirty="0"/>
              <a:t>If any possibly related terms are found, CATALOG presents them to the user for selection. </a:t>
            </a:r>
          </a:p>
          <a:p>
            <a:pPr algn="just"/>
            <a:endParaRPr lang="en-IN" dirty="0"/>
          </a:p>
        </p:txBody>
      </p:sp>
    </p:spTree>
    <p:extLst>
      <p:ext uri="{BB962C8B-B14F-4D97-AF65-F5344CB8AC3E}">
        <p14:creationId xmlns:p14="http://schemas.microsoft.com/office/powerpoint/2010/main" val="16498412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6C0CA5-F91E-70F4-1D86-09B35C0DE4EE}"/>
              </a:ext>
            </a:extLst>
          </p:cNvPr>
          <p:cNvSpPr>
            <a:spLocks noGrp="1"/>
          </p:cNvSpPr>
          <p:nvPr>
            <p:ph idx="1"/>
          </p:nvPr>
        </p:nvSpPr>
        <p:spPr/>
        <p:txBody>
          <a:bodyPr/>
          <a:lstStyle/>
          <a:p>
            <a:r>
              <a:rPr lang="en-US" dirty="0"/>
              <a:t>In the case of the query term "users," for example, CATALOG might respond as follows:</a:t>
            </a:r>
          </a:p>
          <a:p>
            <a:endParaRPr lang="en-IN" dirty="0"/>
          </a:p>
        </p:txBody>
      </p:sp>
      <p:pic>
        <p:nvPicPr>
          <p:cNvPr id="5" name="Picture 4">
            <a:extLst>
              <a:ext uri="{FF2B5EF4-FFF2-40B4-BE49-F238E27FC236}">
                <a16:creationId xmlns:a16="http://schemas.microsoft.com/office/drawing/2014/main" id="{E8E9D1AD-C28A-79CE-91E6-39C54E2A5AF1}"/>
              </a:ext>
            </a:extLst>
          </p:cNvPr>
          <p:cNvPicPr>
            <a:picLocks noChangeAspect="1"/>
          </p:cNvPicPr>
          <p:nvPr/>
        </p:nvPicPr>
        <p:blipFill>
          <a:blip r:embed="rId2"/>
          <a:stretch>
            <a:fillRect/>
          </a:stretch>
        </p:blipFill>
        <p:spPr>
          <a:xfrm>
            <a:off x="3005822" y="2849829"/>
            <a:ext cx="6180356" cy="1928647"/>
          </a:xfrm>
          <a:prstGeom prst="rect">
            <a:avLst/>
          </a:prstGeom>
        </p:spPr>
      </p:pic>
    </p:spTree>
    <p:extLst>
      <p:ext uri="{BB962C8B-B14F-4D97-AF65-F5344CB8AC3E}">
        <p14:creationId xmlns:p14="http://schemas.microsoft.com/office/powerpoint/2010/main" val="1535685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8E258-A63F-A4BA-96B8-B3E357E59291}"/>
              </a:ext>
            </a:extLst>
          </p:cNvPr>
          <p:cNvSpPr>
            <a:spLocks noGrp="1"/>
          </p:cNvSpPr>
          <p:nvPr>
            <p:ph type="title"/>
          </p:nvPr>
        </p:nvSpPr>
        <p:spPr>
          <a:xfrm>
            <a:off x="838200" y="365125"/>
            <a:ext cx="10515600" cy="922901"/>
          </a:xfrm>
        </p:spPr>
        <p:txBody>
          <a:bodyPr>
            <a:normAutofit fontScale="90000"/>
          </a:bodyPr>
          <a:lstStyle/>
          <a:p>
            <a:r>
              <a:rPr lang="en-IN" b="1" dirty="0"/>
              <a:t>TYPES OF STEMMING ALGORITHMS-TABLE LOOKUP </a:t>
            </a:r>
          </a:p>
        </p:txBody>
      </p:sp>
      <p:sp>
        <p:nvSpPr>
          <p:cNvPr id="3" name="Content Placeholder 2">
            <a:extLst>
              <a:ext uri="{FF2B5EF4-FFF2-40B4-BE49-F238E27FC236}">
                <a16:creationId xmlns:a16="http://schemas.microsoft.com/office/drawing/2014/main" id="{C5368471-0842-100B-4CBD-7A3092B7B731}"/>
              </a:ext>
            </a:extLst>
          </p:cNvPr>
          <p:cNvSpPr>
            <a:spLocks noGrp="1"/>
          </p:cNvSpPr>
          <p:nvPr>
            <p:ph idx="1"/>
          </p:nvPr>
        </p:nvSpPr>
        <p:spPr>
          <a:xfrm>
            <a:off x="838200" y="1150374"/>
            <a:ext cx="10515600" cy="5026589"/>
          </a:xfrm>
        </p:spPr>
        <p:txBody>
          <a:bodyPr/>
          <a:lstStyle/>
          <a:p>
            <a:pPr algn="just"/>
            <a:r>
              <a:rPr lang="en-US" dirty="0"/>
              <a:t>There are several approaches to stemming. One way to do stemming is to store a table of all index terms and their stems. For example: </a:t>
            </a:r>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r>
              <a:rPr lang="en-US" dirty="0"/>
              <a:t>Terms from queries and indexes could then be stemmed via table lookup. Using a B-tree or hash table, such lookups would be very fast.</a:t>
            </a:r>
            <a:endParaRPr lang="en-IN" dirty="0"/>
          </a:p>
        </p:txBody>
      </p:sp>
      <p:pic>
        <p:nvPicPr>
          <p:cNvPr id="5" name="Picture 4">
            <a:extLst>
              <a:ext uri="{FF2B5EF4-FFF2-40B4-BE49-F238E27FC236}">
                <a16:creationId xmlns:a16="http://schemas.microsoft.com/office/drawing/2014/main" id="{AABDCAAE-B895-0A5E-4636-D041E434A003}"/>
              </a:ext>
            </a:extLst>
          </p:cNvPr>
          <p:cNvPicPr>
            <a:picLocks noChangeAspect="1"/>
          </p:cNvPicPr>
          <p:nvPr/>
        </p:nvPicPr>
        <p:blipFill>
          <a:blip r:embed="rId2"/>
          <a:stretch>
            <a:fillRect/>
          </a:stretch>
        </p:blipFill>
        <p:spPr>
          <a:xfrm>
            <a:off x="3814245" y="2073275"/>
            <a:ext cx="3556990" cy="2608459"/>
          </a:xfrm>
          <a:prstGeom prst="rect">
            <a:avLst/>
          </a:prstGeom>
        </p:spPr>
      </p:pic>
    </p:spTree>
    <p:extLst>
      <p:ext uri="{BB962C8B-B14F-4D97-AF65-F5344CB8AC3E}">
        <p14:creationId xmlns:p14="http://schemas.microsoft.com/office/powerpoint/2010/main" val="1268123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75A175-3018-1A86-A693-7EFFEEDA6791}"/>
              </a:ext>
            </a:extLst>
          </p:cNvPr>
          <p:cNvSpPr>
            <a:spLocks noGrp="1"/>
          </p:cNvSpPr>
          <p:nvPr>
            <p:ph idx="1"/>
          </p:nvPr>
        </p:nvSpPr>
        <p:spPr/>
        <p:txBody>
          <a:bodyPr/>
          <a:lstStyle/>
          <a:p>
            <a:pPr algn="just"/>
            <a:r>
              <a:rPr lang="en-US" dirty="0"/>
              <a:t>There are problems with this approach are: </a:t>
            </a:r>
          </a:p>
          <a:p>
            <a:pPr algn="just"/>
            <a:r>
              <a:rPr lang="en-US" dirty="0"/>
              <a:t>There is no such data for English. Hence no standard database </a:t>
            </a:r>
            <a:r>
              <a:rPr lang="en-US"/>
              <a:t>exist and </a:t>
            </a:r>
            <a:r>
              <a:rPr lang="en-US" dirty="0"/>
              <a:t>some other stemming method would be needed. </a:t>
            </a:r>
          </a:p>
          <a:p>
            <a:pPr algn="just"/>
            <a:r>
              <a:rPr lang="en-US" dirty="0"/>
              <a:t>Storage overhead for such a table. </a:t>
            </a:r>
            <a:endParaRPr lang="en-IN" dirty="0"/>
          </a:p>
        </p:txBody>
      </p:sp>
    </p:spTree>
    <p:extLst>
      <p:ext uri="{BB962C8B-B14F-4D97-AF65-F5344CB8AC3E}">
        <p14:creationId xmlns:p14="http://schemas.microsoft.com/office/powerpoint/2010/main" val="32658320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CFC19-2F1E-90ED-CB4E-5CD8AF8AEC6F}"/>
              </a:ext>
            </a:extLst>
          </p:cNvPr>
          <p:cNvSpPr>
            <a:spLocks noGrp="1"/>
          </p:cNvSpPr>
          <p:nvPr>
            <p:ph type="title"/>
          </p:nvPr>
        </p:nvSpPr>
        <p:spPr>
          <a:xfrm>
            <a:off x="838200" y="365125"/>
            <a:ext cx="10515600" cy="765585"/>
          </a:xfrm>
        </p:spPr>
        <p:txBody>
          <a:bodyPr/>
          <a:lstStyle/>
          <a:p>
            <a:r>
              <a:rPr lang="en-IN" b="1" dirty="0"/>
              <a:t>SUCCESSOR STEMMERS </a:t>
            </a:r>
          </a:p>
        </p:txBody>
      </p:sp>
      <p:sp>
        <p:nvSpPr>
          <p:cNvPr id="3" name="Content Placeholder 2">
            <a:extLst>
              <a:ext uri="{FF2B5EF4-FFF2-40B4-BE49-F238E27FC236}">
                <a16:creationId xmlns:a16="http://schemas.microsoft.com/office/drawing/2014/main" id="{6F68FC3A-4C38-9375-D156-54C6E9D576E4}"/>
              </a:ext>
            </a:extLst>
          </p:cNvPr>
          <p:cNvSpPr>
            <a:spLocks noGrp="1"/>
          </p:cNvSpPr>
          <p:nvPr>
            <p:ph idx="1"/>
          </p:nvPr>
        </p:nvSpPr>
        <p:spPr>
          <a:xfrm>
            <a:off x="838200" y="1130710"/>
            <a:ext cx="10515600" cy="5046253"/>
          </a:xfrm>
        </p:spPr>
        <p:txBody>
          <a:bodyPr>
            <a:normAutofit/>
          </a:bodyPr>
          <a:lstStyle/>
          <a:p>
            <a:pPr algn="just"/>
            <a:r>
              <a:rPr lang="en-US" dirty="0"/>
              <a:t>Successor stemmers are based upon the length of prefixes that optimally stem expansions of additional suffixes. </a:t>
            </a:r>
          </a:p>
          <a:p>
            <a:pPr algn="just"/>
            <a:r>
              <a:rPr lang="en-US" dirty="0"/>
              <a:t>The algorithm is based upon an analogy in structural linguistics that investigated word and morpheme boundaries based upon file distribution of phonemes, the smallest unit of speech that distinguish one word from another. </a:t>
            </a:r>
          </a:p>
          <a:p>
            <a:pPr algn="just"/>
            <a:r>
              <a:rPr lang="en-US" dirty="0"/>
              <a:t>The successor variety of a segment of a word in a set of words is the number of distinct letters that occupy the segment length plus one character. </a:t>
            </a:r>
            <a:endParaRPr lang="en-IN" dirty="0"/>
          </a:p>
        </p:txBody>
      </p:sp>
    </p:spTree>
    <p:extLst>
      <p:ext uri="{BB962C8B-B14F-4D97-AF65-F5344CB8AC3E}">
        <p14:creationId xmlns:p14="http://schemas.microsoft.com/office/powerpoint/2010/main" val="18278966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1FB52F-501F-17AB-5EE6-AAE7DD2B3BA2}"/>
              </a:ext>
            </a:extLst>
          </p:cNvPr>
          <p:cNvSpPr>
            <a:spLocks noGrp="1"/>
          </p:cNvSpPr>
          <p:nvPr>
            <p:ph idx="1"/>
          </p:nvPr>
        </p:nvSpPr>
        <p:spPr>
          <a:xfrm>
            <a:off x="838200" y="363794"/>
            <a:ext cx="10515600" cy="5813169"/>
          </a:xfrm>
        </p:spPr>
        <p:txBody>
          <a:bodyPr/>
          <a:lstStyle/>
          <a:p>
            <a:pPr algn="just"/>
            <a:r>
              <a:rPr lang="en-US" dirty="0"/>
              <a:t>The successor varieties of a word are used to segment a word by applying one of the following four methods:</a:t>
            </a:r>
          </a:p>
          <a:p>
            <a:pPr marL="514350" indent="-514350" algn="just">
              <a:buAutoNum type="arabicPeriod"/>
            </a:pPr>
            <a:r>
              <a:rPr lang="en-US" b="1" dirty="0"/>
              <a:t>Cutoff method: </a:t>
            </a:r>
            <a:r>
              <a:rPr lang="en-US" dirty="0"/>
              <a:t>Some cutoff value (Threshold) is selected for successor varieties and a boundary is reached.</a:t>
            </a:r>
          </a:p>
          <a:p>
            <a:pPr marL="514350" indent="-514350" algn="just">
              <a:buAutoNum type="arabicPeriod"/>
            </a:pPr>
            <a:r>
              <a:rPr lang="en-US" b="1" dirty="0"/>
              <a:t>Peak and Plateau: </a:t>
            </a:r>
            <a:r>
              <a:rPr lang="en-US" dirty="0"/>
              <a:t>A segment break is made after a character whose successor variety exceeds that of the character immediately preceding it and the character immediately following it. </a:t>
            </a:r>
            <a:endParaRPr lang="en-US" b="1" dirty="0"/>
          </a:p>
          <a:p>
            <a:pPr marL="514350" indent="-514350" algn="just">
              <a:buAutoNum type="arabicPeriod"/>
            </a:pPr>
            <a:r>
              <a:rPr lang="en-US" b="1" dirty="0"/>
              <a:t>Complete word method: </a:t>
            </a:r>
            <a:r>
              <a:rPr lang="en-US" dirty="0"/>
              <a:t>A break is made after a segment if the segment is a complete </a:t>
            </a:r>
            <a:r>
              <a:rPr lang="en-IN" dirty="0"/>
              <a:t>word in the corpus.</a:t>
            </a:r>
            <a:r>
              <a:rPr lang="en-US" dirty="0"/>
              <a:t> </a:t>
            </a:r>
            <a:endParaRPr lang="en-US" b="1" dirty="0"/>
          </a:p>
          <a:p>
            <a:pPr marL="0" indent="0" algn="just">
              <a:buNone/>
            </a:pPr>
            <a:endParaRPr lang="en-IN" dirty="0"/>
          </a:p>
        </p:txBody>
      </p:sp>
    </p:spTree>
    <p:extLst>
      <p:ext uri="{BB962C8B-B14F-4D97-AF65-F5344CB8AC3E}">
        <p14:creationId xmlns:p14="http://schemas.microsoft.com/office/powerpoint/2010/main" val="32118004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B385ED-3576-A7AC-693F-446FDE17596C}"/>
              </a:ext>
            </a:extLst>
          </p:cNvPr>
          <p:cNvSpPr>
            <a:spLocks noGrp="1"/>
          </p:cNvSpPr>
          <p:nvPr>
            <p:ph idx="1"/>
          </p:nvPr>
        </p:nvSpPr>
        <p:spPr>
          <a:xfrm>
            <a:off x="838200" y="0"/>
            <a:ext cx="10515600" cy="6176963"/>
          </a:xfrm>
        </p:spPr>
        <p:txBody>
          <a:bodyPr/>
          <a:lstStyle/>
          <a:p>
            <a:pPr marL="0" indent="0" algn="just">
              <a:buNone/>
            </a:pPr>
            <a:r>
              <a:rPr lang="en-IN" dirty="0"/>
              <a:t>4. </a:t>
            </a:r>
            <a:r>
              <a:rPr lang="en-US" b="1" dirty="0"/>
              <a:t>Entropy method: </a:t>
            </a:r>
            <a:endParaRPr lang="en-IN" dirty="0"/>
          </a:p>
          <a:p>
            <a:pPr marL="0" indent="0" algn="just">
              <a:buNone/>
            </a:pPr>
            <a:r>
              <a:rPr lang="en-US" dirty="0"/>
              <a:t>The method works as follows: </a:t>
            </a:r>
          </a:p>
          <a:p>
            <a:pPr algn="just"/>
            <a:r>
              <a:rPr lang="en-US" dirty="0"/>
              <a:t>Let | Dα</a:t>
            </a:r>
            <a:r>
              <a:rPr lang="en-US" dirty="0" err="1"/>
              <a:t>i</a:t>
            </a:r>
            <a:r>
              <a:rPr lang="en-US" dirty="0"/>
              <a:t>| be the number of words in a text body beginning with the </a:t>
            </a:r>
            <a:r>
              <a:rPr lang="en-US" dirty="0" err="1"/>
              <a:t>i</a:t>
            </a:r>
            <a:r>
              <a:rPr lang="en-US" dirty="0"/>
              <a:t> length sequence of letters α.</a:t>
            </a:r>
          </a:p>
          <a:p>
            <a:pPr algn="just"/>
            <a:r>
              <a:rPr lang="en-US" dirty="0"/>
              <a:t>Let |Dα</a:t>
            </a:r>
            <a:r>
              <a:rPr lang="en-US" dirty="0" err="1"/>
              <a:t>ij</a:t>
            </a:r>
            <a:r>
              <a:rPr lang="en-US" dirty="0"/>
              <a:t>| the number of words in |Dα</a:t>
            </a:r>
            <a:r>
              <a:rPr lang="en-US" dirty="0" err="1"/>
              <a:t>i</a:t>
            </a:r>
            <a:r>
              <a:rPr lang="en-US" dirty="0"/>
              <a:t>| with the successor j computed in step one.</a:t>
            </a:r>
          </a:p>
          <a:p>
            <a:pPr algn="just"/>
            <a:r>
              <a:rPr lang="en-US" dirty="0"/>
              <a:t>The probability that a word has the successor j is given by: </a:t>
            </a:r>
          </a:p>
          <a:p>
            <a:pPr marL="0" indent="0" algn="just">
              <a:buNone/>
            </a:pPr>
            <a:endParaRPr lang="en-IN" dirty="0"/>
          </a:p>
          <a:p>
            <a:pPr marL="0" indent="0" algn="just">
              <a:buNone/>
            </a:pPr>
            <a:r>
              <a:rPr lang="en-IN" dirty="0"/>
              <a:t>The entropy of </a:t>
            </a:r>
          </a:p>
          <a:p>
            <a:pPr marL="0" indent="0" algn="just">
              <a:buNone/>
            </a:pPr>
            <a:endParaRPr lang="en-IN" dirty="0"/>
          </a:p>
          <a:p>
            <a:pPr algn="just"/>
            <a:r>
              <a:rPr lang="en-US" dirty="0"/>
              <a:t>A cutoff value is selected, and a boundary is identified whenever the cutoff value reached</a:t>
            </a:r>
            <a:r>
              <a:rPr lang="en-IN" dirty="0"/>
              <a:t> </a:t>
            </a:r>
          </a:p>
        </p:txBody>
      </p:sp>
      <p:pic>
        <p:nvPicPr>
          <p:cNvPr id="4" name="Picture 3">
            <a:extLst>
              <a:ext uri="{FF2B5EF4-FFF2-40B4-BE49-F238E27FC236}">
                <a16:creationId xmlns:a16="http://schemas.microsoft.com/office/drawing/2014/main" id="{F6F75A98-9A8E-C875-D3BA-F6C5C0713381}"/>
              </a:ext>
            </a:extLst>
          </p:cNvPr>
          <p:cNvPicPr>
            <a:picLocks noChangeAspect="1"/>
          </p:cNvPicPr>
          <p:nvPr/>
        </p:nvPicPr>
        <p:blipFill>
          <a:blip r:embed="rId2"/>
          <a:stretch>
            <a:fillRect/>
          </a:stretch>
        </p:blipFill>
        <p:spPr>
          <a:xfrm>
            <a:off x="3492375" y="3429000"/>
            <a:ext cx="2102179" cy="1118590"/>
          </a:xfrm>
          <a:prstGeom prst="rect">
            <a:avLst/>
          </a:prstGeom>
        </p:spPr>
      </p:pic>
      <p:pic>
        <p:nvPicPr>
          <p:cNvPr id="6" name="Picture 5">
            <a:extLst>
              <a:ext uri="{FF2B5EF4-FFF2-40B4-BE49-F238E27FC236}">
                <a16:creationId xmlns:a16="http://schemas.microsoft.com/office/drawing/2014/main" id="{3604516C-E816-46AB-4090-E51D6138FAA3}"/>
              </a:ext>
            </a:extLst>
          </p:cNvPr>
          <p:cNvPicPr>
            <a:picLocks noChangeAspect="1"/>
          </p:cNvPicPr>
          <p:nvPr/>
        </p:nvPicPr>
        <p:blipFill>
          <a:blip r:embed="rId3"/>
          <a:stretch>
            <a:fillRect/>
          </a:stretch>
        </p:blipFill>
        <p:spPr>
          <a:xfrm>
            <a:off x="7421873" y="3347093"/>
            <a:ext cx="4209687" cy="1569036"/>
          </a:xfrm>
          <a:prstGeom prst="rect">
            <a:avLst/>
          </a:prstGeom>
        </p:spPr>
      </p:pic>
    </p:spTree>
    <p:extLst>
      <p:ext uri="{BB962C8B-B14F-4D97-AF65-F5344CB8AC3E}">
        <p14:creationId xmlns:p14="http://schemas.microsoft.com/office/powerpoint/2010/main" val="532834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A387D0-1B3B-476E-1367-DEFB4BE31C33}"/>
              </a:ext>
            </a:extLst>
          </p:cNvPr>
          <p:cNvSpPr>
            <a:spLocks noGrp="1"/>
          </p:cNvSpPr>
          <p:nvPr>
            <p:ph idx="1"/>
          </p:nvPr>
        </p:nvSpPr>
        <p:spPr>
          <a:xfrm>
            <a:off x="838200" y="334297"/>
            <a:ext cx="10515600" cy="5842666"/>
          </a:xfrm>
        </p:spPr>
        <p:txBody>
          <a:bodyPr/>
          <a:lstStyle/>
          <a:p>
            <a:r>
              <a:rPr lang="en-IN" dirty="0"/>
              <a:t>Example</a:t>
            </a:r>
          </a:p>
          <a:p>
            <a:endParaRPr lang="en-IN" dirty="0"/>
          </a:p>
          <a:p>
            <a:endParaRPr lang="en-IN" dirty="0"/>
          </a:p>
          <a:p>
            <a:endParaRPr lang="en-IN" dirty="0"/>
          </a:p>
          <a:p>
            <a:r>
              <a:rPr lang="en-IN" dirty="0"/>
              <a:t>Cutoff method:  </a:t>
            </a:r>
          </a:p>
        </p:txBody>
      </p:sp>
      <p:pic>
        <p:nvPicPr>
          <p:cNvPr id="5" name="Picture 4">
            <a:extLst>
              <a:ext uri="{FF2B5EF4-FFF2-40B4-BE49-F238E27FC236}">
                <a16:creationId xmlns:a16="http://schemas.microsoft.com/office/drawing/2014/main" id="{385DCCAC-429B-1292-1F7B-00054BF1E399}"/>
              </a:ext>
            </a:extLst>
          </p:cNvPr>
          <p:cNvPicPr>
            <a:picLocks noChangeAspect="1"/>
          </p:cNvPicPr>
          <p:nvPr/>
        </p:nvPicPr>
        <p:blipFill>
          <a:blip r:embed="rId2"/>
          <a:stretch>
            <a:fillRect/>
          </a:stretch>
        </p:blipFill>
        <p:spPr>
          <a:xfrm>
            <a:off x="2609189" y="334297"/>
            <a:ext cx="7268589" cy="1971950"/>
          </a:xfrm>
          <a:prstGeom prst="rect">
            <a:avLst/>
          </a:prstGeom>
        </p:spPr>
      </p:pic>
      <p:pic>
        <p:nvPicPr>
          <p:cNvPr id="7" name="Picture 6">
            <a:extLst>
              <a:ext uri="{FF2B5EF4-FFF2-40B4-BE49-F238E27FC236}">
                <a16:creationId xmlns:a16="http://schemas.microsoft.com/office/drawing/2014/main" id="{E65AAB25-6D98-D336-EBE6-6EDA8F821DBF}"/>
              </a:ext>
            </a:extLst>
          </p:cNvPr>
          <p:cNvPicPr>
            <a:picLocks noChangeAspect="1"/>
          </p:cNvPicPr>
          <p:nvPr/>
        </p:nvPicPr>
        <p:blipFill>
          <a:blip r:embed="rId3"/>
          <a:stretch>
            <a:fillRect/>
          </a:stretch>
        </p:blipFill>
        <p:spPr>
          <a:xfrm>
            <a:off x="3563003" y="2341645"/>
            <a:ext cx="6049219" cy="4420217"/>
          </a:xfrm>
          <a:prstGeom prst="rect">
            <a:avLst/>
          </a:prstGeom>
        </p:spPr>
      </p:pic>
    </p:spTree>
    <p:extLst>
      <p:ext uri="{BB962C8B-B14F-4D97-AF65-F5344CB8AC3E}">
        <p14:creationId xmlns:p14="http://schemas.microsoft.com/office/powerpoint/2010/main" val="1190251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4B61AA-4DEE-DA89-3DFD-3F03F0C2C8AD}"/>
              </a:ext>
            </a:extLst>
          </p:cNvPr>
          <p:cNvSpPr>
            <a:spLocks noGrp="1"/>
          </p:cNvSpPr>
          <p:nvPr>
            <p:ph idx="1"/>
          </p:nvPr>
        </p:nvSpPr>
        <p:spPr>
          <a:xfrm>
            <a:off x="838200" y="432619"/>
            <a:ext cx="10515600" cy="5744344"/>
          </a:xfrm>
        </p:spPr>
        <p:txBody>
          <a:bodyPr/>
          <a:lstStyle/>
          <a:p>
            <a:r>
              <a:rPr lang="en-IN" dirty="0"/>
              <a:t>Peak and plateau method : </a:t>
            </a:r>
            <a:r>
              <a:rPr lang="en-US" dirty="0"/>
              <a:t>Break at the character whose successor variety is greater than both its preceding and following character READ|ABLE.</a:t>
            </a:r>
          </a:p>
          <a:p>
            <a:endParaRPr lang="en-US" dirty="0"/>
          </a:p>
          <a:p>
            <a:r>
              <a:rPr lang="en-US" dirty="0"/>
              <a:t>Complete word method: Break is made if the segment is a complete word in the corpus (READ). </a:t>
            </a:r>
            <a:endParaRPr lang="en-IN" dirty="0"/>
          </a:p>
        </p:txBody>
      </p:sp>
    </p:spTree>
    <p:extLst>
      <p:ext uri="{BB962C8B-B14F-4D97-AF65-F5344CB8AC3E}">
        <p14:creationId xmlns:p14="http://schemas.microsoft.com/office/powerpoint/2010/main" val="27004216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855D09-D22B-014F-F1AF-6E327F71CE26}"/>
              </a:ext>
            </a:extLst>
          </p:cNvPr>
          <p:cNvSpPr>
            <a:spLocks noGrp="1"/>
          </p:cNvSpPr>
          <p:nvPr>
            <p:ph idx="1"/>
          </p:nvPr>
        </p:nvSpPr>
        <p:spPr>
          <a:xfrm>
            <a:off x="838200" y="393290"/>
            <a:ext cx="10515600" cy="5783673"/>
          </a:xfrm>
        </p:spPr>
        <p:txBody>
          <a:bodyPr>
            <a:normAutofit fontScale="92500" lnSpcReduction="20000"/>
          </a:bodyPr>
          <a:lstStyle/>
          <a:p>
            <a:r>
              <a:rPr lang="en-IN" dirty="0"/>
              <a:t>Entropy method:</a:t>
            </a:r>
          </a:p>
          <a:p>
            <a:pPr marL="0" indent="0">
              <a:buNone/>
            </a:pPr>
            <a:endParaRPr lang="en-IN" dirty="0"/>
          </a:p>
          <a:p>
            <a:pPr marL="0" indent="0">
              <a:buNone/>
            </a:pPr>
            <a:r>
              <a:rPr lang="en-IN" dirty="0"/>
              <a:t>• for </a:t>
            </a:r>
            <a:r>
              <a:rPr lang="en-IN" dirty="0" err="1"/>
              <a:t>i</a:t>
            </a:r>
            <a:r>
              <a:rPr lang="en-IN" dirty="0"/>
              <a:t> = 2, </a:t>
            </a:r>
            <a:r>
              <a:rPr lang="el-GR" dirty="0"/>
              <a:t>α = </a:t>
            </a:r>
            <a:r>
              <a:rPr lang="en-IN" dirty="0"/>
              <a:t>RE, |D</a:t>
            </a:r>
            <a:r>
              <a:rPr lang="el-GR" dirty="0"/>
              <a:t>α</a:t>
            </a:r>
            <a:r>
              <a:rPr lang="en-IN" dirty="0" err="1"/>
              <a:t>i</a:t>
            </a:r>
            <a:r>
              <a:rPr lang="en-IN" dirty="0"/>
              <a:t>| = 5 </a:t>
            </a:r>
          </a:p>
          <a:p>
            <a:pPr marL="0" indent="0">
              <a:buNone/>
            </a:pPr>
            <a:r>
              <a:rPr lang="en-IN" dirty="0"/>
              <a:t> </a:t>
            </a:r>
            <a:r>
              <a:rPr lang="en-US" b="1" dirty="0"/>
              <a:t>Choose </a:t>
            </a:r>
            <a:r>
              <a:rPr lang="en-US" b="1" dirty="0" err="1"/>
              <a:t>i</a:t>
            </a:r>
            <a:r>
              <a:rPr lang="en-US" b="1" dirty="0"/>
              <a:t> = 2, α = "RE"</a:t>
            </a:r>
          </a:p>
          <a:p>
            <a:pPr marL="0" indent="0">
              <a:buNone/>
            </a:pPr>
            <a:r>
              <a:rPr lang="en-US"/>
              <a:t>  That </a:t>
            </a:r>
            <a:r>
              <a:rPr lang="en-US" dirty="0"/>
              <a:t>means: look at the 2-letter prefix "RE" in the corpus and check what letters can come </a:t>
            </a:r>
            <a:r>
              <a:rPr lang="en-US" b="1" dirty="0"/>
              <a:t>immediately after</a:t>
            </a:r>
            <a:r>
              <a:rPr lang="en-US" dirty="0"/>
              <a:t> it.</a:t>
            </a:r>
          </a:p>
          <a:p>
            <a:pPr marL="0" indent="0">
              <a:buNone/>
            </a:pPr>
            <a:endParaRPr lang="en-IN" dirty="0"/>
          </a:p>
          <a:p>
            <a:pPr marL="0" indent="0">
              <a:buNone/>
            </a:pPr>
            <a:r>
              <a:rPr lang="en-IN" dirty="0"/>
              <a:t>• for j = ‘A’, |D</a:t>
            </a:r>
            <a:r>
              <a:rPr lang="el-GR" dirty="0"/>
              <a:t>α</a:t>
            </a:r>
            <a:r>
              <a:rPr lang="en-IN" dirty="0" err="1"/>
              <a:t>ij</a:t>
            </a:r>
            <a:r>
              <a:rPr lang="en-IN" dirty="0"/>
              <a:t>| = 4 </a:t>
            </a:r>
          </a:p>
          <a:p>
            <a:pPr marL="0" indent="0">
              <a:buNone/>
            </a:pPr>
            <a:r>
              <a:rPr lang="en-IN" dirty="0"/>
              <a:t>• for j = ‘D’, |D</a:t>
            </a:r>
            <a:r>
              <a:rPr lang="el-GR" dirty="0"/>
              <a:t>α</a:t>
            </a:r>
            <a:r>
              <a:rPr lang="en-IN" dirty="0" err="1"/>
              <a:t>ij</a:t>
            </a:r>
            <a:r>
              <a:rPr lang="en-IN" dirty="0"/>
              <a:t>| = 1 </a:t>
            </a:r>
          </a:p>
          <a:p>
            <a:pPr marL="0" indent="0">
              <a:buNone/>
            </a:pPr>
            <a:r>
              <a:rPr lang="en-IN" dirty="0"/>
              <a:t>• </a:t>
            </a:r>
            <a:r>
              <a:rPr lang="en-IN" dirty="0" err="1"/>
              <a:t>Haij</a:t>
            </a:r>
            <a:r>
              <a:rPr lang="en-IN" dirty="0"/>
              <a:t> = - 1/5 * log2 (1/5) - 4/5 * log2 (4/5) = 0.46 + 0.26 = 0.72 </a:t>
            </a:r>
          </a:p>
          <a:p>
            <a:pPr marL="0" indent="0">
              <a:buNone/>
            </a:pPr>
            <a:endParaRPr lang="en-IN" dirty="0"/>
          </a:p>
          <a:p>
            <a:pPr marL="0" indent="0">
              <a:buNone/>
            </a:pPr>
            <a:r>
              <a:rPr lang="en-IN" dirty="0"/>
              <a:t>This value is low because “REA…” appears four times!</a:t>
            </a:r>
          </a:p>
          <a:p>
            <a:pPr marL="0" indent="0" algn="just">
              <a:buNone/>
            </a:pPr>
            <a:r>
              <a:rPr lang="en-US" dirty="0"/>
              <a:t>The calculation shows that "RE" is </a:t>
            </a:r>
            <a:r>
              <a:rPr lang="en-US" b="1" dirty="0"/>
              <a:t>strongly biased towards successor "A"</a:t>
            </a:r>
            <a:r>
              <a:rPr lang="en-US" dirty="0"/>
              <a:t> (→ "REA..."). Therefore, entropy is low, meaning "RE" is a predictable sequence in this corpus.</a:t>
            </a:r>
            <a:endParaRPr lang="en-IN" dirty="0"/>
          </a:p>
        </p:txBody>
      </p:sp>
    </p:spTree>
    <p:extLst>
      <p:ext uri="{BB962C8B-B14F-4D97-AF65-F5344CB8AC3E}">
        <p14:creationId xmlns:p14="http://schemas.microsoft.com/office/powerpoint/2010/main" val="39798016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17B86-486F-4993-D0D2-9C37E7C0CF4C}"/>
              </a:ext>
            </a:extLst>
          </p:cNvPr>
          <p:cNvSpPr>
            <a:spLocks noGrp="1"/>
          </p:cNvSpPr>
          <p:nvPr>
            <p:ph type="title"/>
          </p:nvPr>
        </p:nvSpPr>
        <p:spPr/>
        <p:txBody>
          <a:bodyPr/>
          <a:lstStyle/>
          <a:p>
            <a:r>
              <a:rPr lang="en-IN" b="1" dirty="0"/>
              <a:t>N-Gram Stemmers</a:t>
            </a:r>
          </a:p>
        </p:txBody>
      </p:sp>
      <p:sp>
        <p:nvSpPr>
          <p:cNvPr id="3" name="Content Placeholder 2">
            <a:extLst>
              <a:ext uri="{FF2B5EF4-FFF2-40B4-BE49-F238E27FC236}">
                <a16:creationId xmlns:a16="http://schemas.microsoft.com/office/drawing/2014/main" id="{433247D8-376E-145A-4865-FF8E8FC68E3A}"/>
              </a:ext>
            </a:extLst>
          </p:cNvPr>
          <p:cNvSpPr>
            <a:spLocks noGrp="1"/>
          </p:cNvSpPr>
          <p:nvPr>
            <p:ph idx="1"/>
          </p:nvPr>
        </p:nvSpPr>
        <p:spPr/>
        <p:txBody>
          <a:bodyPr/>
          <a:lstStyle/>
          <a:p>
            <a:r>
              <a:rPr lang="en-US" dirty="0"/>
              <a:t>A </a:t>
            </a:r>
            <a:r>
              <a:rPr lang="en-US" dirty="0" err="1"/>
              <a:t>digram</a:t>
            </a:r>
            <a:r>
              <a:rPr lang="en-US" dirty="0"/>
              <a:t> is a pair of consecutive letters. </a:t>
            </a:r>
          </a:p>
          <a:p>
            <a:pPr algn="just"/>
            <a:r>
              <a:rPr lang="en-US" dirty="0"/>
              <a:t>Since trigrams, or n-grams could be used, we have called it the n-gram method. </a:t>
            </a:r>
          </a:p>
          <a:p>
            <a:pPr algn="just"/>
            <a:r>
              <a:rPr lang="en-US" dirty="0"/>
              <a:t>Though we call this a "stemming method," this is a bit confusing since no stem is produced.</a:t>
            </a:r>
            <a:endParaRPr lang="en-IN" dirty="0"/>
          </a:p>
        </p:txBody>
      </p:sp>
    </p:spTree>
    <p:extLst>
      <p:ext uri="{BB962C8B-B14F-4D97-AF65-F5344CB8AC3E}">
        <p14:creationId xmlns:p14="http://schemas.microsoft.com/office/powerpoint/2010/main" val="5299864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13B956-9747-E81B-BBDC-46E514DE2292}"/>
              </a:ext>
            </a:extLst>
          </p:cNvPr>
          <p:cNvSpPr>
            <a:spLocks noGrp="1"/>
          </p:cNvSpPr>
          <p:nvPr>
            <p:ph idx="1"/>
          </p:nvPr>
        </p:nvSpPr>
        <p:spPr>
          <a:xfrm>
            <a:off x="838200" y="550606"/>
            <a:ext cx="10515600" cy="5626357"/>
          </a:xfrm>
        </p:spPr>
        <p:txBody>
          <a:bodyPr/>
          <a:lstStyle/>
          <a:p>
            <a:pPr algn="just"/>
            <a:r>
              <a:rPr lang="en-US" dirty="0"/>
              <a:t>In this approach, association measures are calculated between pairs of terms based on shared unique </a:t>
            </a:r>
            <a:r>
              <a:rPr lang="en-US" dirty="0" err="1"/>
              <a:t>digrams</a:t>
            </a:r>
            <a:r>
              <a:rPr lang="en-US" dirty="0"/>
              <a:t>. </a:t>
            </a:r>
          </a:p>
          <a:p>
            <a:pPr algn="just"/>
            <a:r>
              <a:rPr lang="en-US" dirty="0"/>
              <a:t>For example, the terms statistics and statistical can be broken into </a:t>
            </a:r>
            <a:r>
              <a:rPr lang="en-US" dirty="0" err="1"/>
              <a:t>digrams</a:t>
            </a:r>
            <a:r>
              <a:rPr lang="en-US" dirty="0"/>
              <a:t> as follows.</a:t>
            </a:r>
          </a:p>
          <a:p>
            <a:r>
              <a:rPr lang="en-US" dirty="0"/>
              <a:t>statistics =&gt; </a:t>
            </a:r>
            <a:r>
              <a:rPr lang="en-US" dirty="0" err="1"/>
              <a:t>st</a:t>
            </a:r>
            <a:r>
              <a:rPr lang="en-US" dirty="0"/>
              <a:t> ta at </a:t>
            </a:r>
            <a:r>
              <a:rPr lang="en-US" dirty="0" err="1"/>
              <a:t>ti</a:t>
            </a:r>
            <a:r>
              <a:rPr lang="en-US" dirty="0"/>
              <a:t> is </a:t>
            </a:r>
            <a:r>
              <a:rPr lang="en-US" dirty="0" err="1"/>
              <a:t>st</a:t>
            </a:r>
            <a:r>
              <a:rPr lang="en-US" dirty="0"/>
              <a:t> </a:t>
            </a:r>
            <a:r>
              <a:rPr lang="en-US" dirty="0" err="1"/>
              <a:t>ti</a:t>
            </a:r>
            <a:r>
              <a:rPr lang="en-US" dirty="0"/>
              <a:t> </a:t>
            </a:r>
            <a:r>
              <a:rPr lang="en-US" dirty="0" err="1"/>
              <a:t>ic</a:t>
            </a:r>
            <a:r>
              <a:rPr lang="en-US" dirty="0"/>
              <a:t> cs</a:t>
            </a:r>
          </a:p>
          <a:p>
            <a:r>
              <a:rPr lang="en-US" dirty="0"/>
              <a:t>           unique </a:t>
            </a:r>
            <a:r>
              <a:rPr lang="en-US" dirty="0" err="1"/>
              <a:t>digrams</a:t>
            </a:r>
            <a:r>
              <a:rPr lang="en-US" dirty="0"/>
              <a:t> = at cs </a:t>
            </a:r>
            <a:r>
              <a:rPr lang="en-US" dirty="0" err="1"/>
              <a:t>ic</a:t>
            </a:r>
            <a:r>
              <a:rPr lang="en-US" dirty="0"/>
              <a:t> is </a:t>
            </a:r>
            <a:r>
              <a:rPr lang="en-US" dirty="0" err="1"/>
              <a:t>st</a:t>
            </a:r>
            <a:r>
              <a:rPr lang="en-US" dirty="0"/>
              <a:t> ta </a:t>
            </a:r>
            <a:r>
              <a:rPr lang="en-US" dirty="0" err="1"/>
              <a:t>ti</a:t>
            </a:r>
            <a:endParaRPr lang="en-US" dirty="0"/>
          </a:p>
          <a:p>
            <a:r>
              <a:rPr lang="en-US" dirty="0"/>
              <a:t>statistical =&gt; </a:t>
            </a:r>
            <a:r>
              <a:rPr lang="en-US" dirty="0" err="1"/>
              <a:t>st</a:t>
            </a:r>
            <a:r>
              <a:rPr lang="en-US" dirty="0"/>
              <a:t> ta at </a:t>
            </a:r>
            <a:r>
              <a:rPr lang="en-US" dirty="0" err="1"/>
              <a:t>ti</a:t>
            </a:r>
            <a:r>
              <a:rPr lang="en-US" dirty="0"/>
              <a:t> is </a:t>
            </a:r>
            <a:r>
              <a:rPr lang="en-US" dirty="0" err="1"/>
              <a:t>st</a:t>
            </a:r>
            <a:r>
              <a:rPr lang="en-US" dirty="0"/>
              <a:t> </a:t>
            </a:r>
            <a:r>
              <a:rPr lang="en-US" dirty="0" err="1"/>
              <a:t>ti</a:t>
            </a:r>
            <a:r>
              <a:rPr lang="en-US" dirty="0"/>
              <a:t> </a:t>
            </a:r>
            <a:r>
              <a:rPr lang="en-US" dirty="0" err="1"/>
              <a:t>ic</a:t>
            </a:r>
            <a:r>
              <a:rPr lang="en-US" dirty="0"/>
              <a:t> ca al</a:t>
            </a:r>
          </a:p>
          <a:p>
            <a:r>
              <a:rPr lang="en-US" dirty="0"/>
              <a:t>           unique </a:t>
            </a:r>
            <a:r>
              <a:rPr lang="en-US" dirty="0" err="1"/>
              <a:t>digrams</a:t>
            </a:r>
            <a:r>
              <a:rPr lang="en-US" dirty="0"/>
              <a:t> = al at ca </a:t>
            </a:r>
            <a:r>
              <a:rPr lang="en-US" dirty="0" err="1"/>
              <a:t>ic</a:t>
            </a:r>
            <a:r>
              <a:rPr lang="en-US" dirty="0"/>
              <a:t> is </a:t>
            </a:r>
            <a:r>
              <a:rPr lang="en-US" dirty="0" err="1"/>
              <a:t>st</a:t>
            </a:r>
            <a:r>
              <a:rPr lang="en-US" dirty="0"/>
              <a:t> ta </a:t>
            </a:r>
            <a:r>
              <a:rPr lang="en-US" dirty="0" err="1"/>
              <a:t>ti</a:t>
            </a:r>
            <a:endParaRPr lang="en-US" dirty="0"/>
          </a:p>
          <a:p>
            <a:pPr algn="just"/>
            <a:endParaRPr lang="en-IN" dirty="0"/>
          </a:p>
        </p:txBody>
      </p:sp>
    </p:spTree>
    <p:extLst>
      <p:ext uri="{BB962C8B-B14F-4D97-AF65-F5344CB8AC3E}">
        <p14:creationId xmlns:p14="http://schemas.microsoft.com/office/powerpoint/2010/main" val="20398991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0D4E4D-E7D9-9349-1F19-6391D24A04A8}"/>
              </a:ext>
            </a:extLst>
          </p:cNvPr>
          <p:cNvSpPr>
            <a:spLocks noGrp="1"/>
          </p:cNvSpPr>
          <p:nvPr>
            <p:ph idx="1"/>
          </p:nvPr>
        </p:nvSpPr>
        <p:spPr>
          <a:xfrm>
            <a:off x="838200" y="452284"/>
            <a:ext cx="10515600" cy="5724679"/>
          </a:xfrm>
        </p:spPr>
        <p:txBody>
          <a:bodyPr/>
          <a:lstStyle/>
          <a:p>
            <a:pPr algn="just"/>
            <a:r>
              <a:rPr lang="en-US" dirty="0"/>
              <a:t>Thus, "statistics" has nine </a:t>
            </a:r>
            <a:r>
              <a:rPr lang="en-US" dirty="0" err="1"/>
              <a:t>digrams</a:t>
            </a:r>
            <a:r>
              <a:rPr lang="en-US" dirty="0"/>
              <a:t>, seven of which are unique, and "statistical" has ten </a:t>
            </a:r>
            <a:r>
              <a:rPr lang="en-US" dirty="0" err="1"/>
              <a:t>digrams</a:t>
            </a:r>
            <a:r>
              <a:rPr lang="en-US" dirty="0"/>
              <a:t>, eight of which are unique. </a:t>
            </a:r>
          </a:p>
          <a:p>
            <a:pPr algn="just"/>
            <a:r>
              <a:rPr lang="en-US" dirty="0"/>
              <a:t>The two words share six unique </a:t>
            </a:r>
            <a:r>
              <a:rPr lang="en-US" dirty="0" err="1"/>
              <a:t>digrams</a:t>
            </a:r>
            <a:r>
              <a:rPr lang="en-US" dirty="0"/>
              <a:t>: at, </a:t>
            </a:r>
            <a:r>
              <a:rPr lang="en-US" dirty="0" err="1"/>
              <a:t>ic</a:t>
            </a:r>
            <a:r>
              <a:rPr lang="en-US" dirty="0"/>
              <a:t>, is, </a:t>
            </a:r>
            <a:r>
              <a:rPr lang="en-US" dirty="0" err="1"/>
              <a:t>st</a:t>
            </a:r>
            <a:r>
              <a:rPr lang="en-US" dirty="0"/>
              <a:t>, ta, </a:t>
            </a:r>
            <a:r>
              <a:rPr lang="en-US" dirty="0" err="1"/>
              <a:t>ti</a:t>
            </a:r>
            <a:r>
              <a:rPr lang="en-US" dirty="0"/>
              <a:t>.</a:t>
            </a:r>
          </a:p>
          <a:p>
            <a:pPr algn="just"/>
            <a:r>
              <a:rPr lang="en-US" dirty="0"/>
              <a:t>Once the unique </a:t>
            </a:r>
            <a:r>
              <a:rPr lang="en-US" dirty="0" err="1"/>
              <a:t>digrams</a:t>
            </a:r>
            <a:r>
              <a:rPr lang="en-US" dirty="0"/>
              <a:t> for the word pair have been identified and counted, a similarity measure based on them is computed. The similarity measure used was Dice's coefficient, which is defined as</a:t>
            </a:r>
          </a:p>
          <a:p>
            <a:pPr algn="just"/>
            <a:endParaRPr lang="en-US" dirty="0"/>
          </a:p>
          <a:p>
            <a:pPr algn="just"/>
            <a:endParaRPr lang="en-US" dirty="0"/>
          </a:p>
          <a:p>
            <a:pPr algn="just"/>
            <a:r>
              <a:rPr lang="en-US" dirty="0"/>
              <a:t>where </a:t>
            </a:r>
            <a:r>
              <a:rPr lang="en-US" i="1" dirty="0"/>
              <a:t>A</a:t>
            </a:r>
            <a:r>
              <a:rPr lang="en-US" dirty="0"/>
              <a:t> is the number of unique </a:t>
            </a:r>
            <a:r>
              <a:rPr lang="en-US" dirty="0" err="1"/>
              <a:t>digrams</a:t>
            </a:r>
            <a:r>
              <a:rPr lang="en-US" dirty="0"/>
              <a:t> in the first word, </a:t>
            </a:r>
            <a:r>
              <a:rPr lang="en-US" i="1" dirty="0"/>
              <a:t>B</a:t>
            </a:r>
            <a:r>
              <a:rPr lang="en-US" dirty="0"/>
              <a:t> the number of unique </a:t>
            </a:r>
            <a:r>
              <a:rPr lang="en-US" dirty="0" err="1"/>
              <a:t>digrams</a:t>
            </a:r>
            <a:r>
              <a:rPr lang="en-US" dirty="0"/>
              <a:t> in the second, and </a:t>
            </a:r>
            <a:r>
              <a:rPr lang="en-US" i="1" dirty="0"/>
              <a:t>C</a:t>
            </a:r>
            <a:r>
              <a:rPr lang="en-US" dirty="0"/>
              <a:t> the number of unique </a:t>
            </a:r>
            <a:r>
              <a:rPr lang="en-US" dirty="0" err="1"/>
              <a:t>digrams</a:t>
            </a:r>
            <a:r>
              <a:rPr lang="en-US" dirty="0"/>
              <a:t> shared by </a:t>
            </a:r>
            <a:r>
              <a:rPr lang="en-US" i="1" dirty="0"/>
              <a:t>A</a:t>
            </a:r>
            <a:r>
              <a:rPr lang="en-US" dirty="0"/>
              <a:t> and </a:t>
            </a:r>
            <a:r>
              <a:rPr lang="en-US" i="1" dirty="0"/>
              <a:t>B</a:t>
            </a:r>
            <a:r>
              <a:rPr lang="en-US" dirty="0"/>
              <a:t>.</a:t>
            </a:r>
            <a:endParaRPr lang="en-IN" dirty="0"/>
          </a:p>
        </p:txBody>
      </p:sp>
      <p:pic>
        <p:nvPicPr>
          <p:cNvPr id="7" name="Picture 6">
            <a:extLst>
              <a:ext uri="{FF2B5EF4-FFF2-40B4-BE49-F238E27FC236}">
                <a16:creationId xmlns:a16="http://schemas.microsoft.com/office/drawing/2014/main" id="{00985D8B-4CB0-8DC8-D167-54B7A2186F8C}"/>
              </a:ext>
            </a:extLst>
          </p:cNvPr>
          <p:cNvPicPr>
            <a:picLocks noChangeAspect="1"/>
          </p:cNvPicPr>
          <p:nvPr/>
        </p:nvPicPr>
        <p:blipFill>
          <a:blip r:embed="rId2"/>
          <a:stretch>
            <a:fillRect/>
          </a:stretch>
        </p:blipFill>
        <p:spPr>
          <a:xfrm>
            <a:off x="4803827" y="3044581"/>
            <a:ext cx="2073248" cy="1045638"/>
          </a:xfrm>
          <a:prstGeom prst="rect">
            <a:avLst/>
          </a:prstGeom>
        </p:spPr>
      </p:pic>
    </p:spTree>
    <p:extLst>
      <p:ext uri="{BB962C8B-B14F-4D97-AF65-F5344CB8AC3E}">
        <p14:creationId xmlns:p14="http://schemas.microsoft.com/office/powerpoint/2010/main" val="3489131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A47149-2789-8D8E-0978-8855008BC2C1}"/>
              </a:ext>
            </a:extLst>
          </p:cNvPr>
          <p:cNvSpPr>
            <a:spLocks noGrp="1"/>
          </p:cNvSpPr>
          <p:nvPr>
            <p:ph idx="1"/>
          </p:nvPr>
        </p:nvSpPr>
        <p:spPr>
          <a:xfrm>
            <a:off x="838200" y="393290"/>
            <a:ext cx="10515600" cy="5783673"/>
          </a:xfrm>
        </p:spPr>
        <p:txBody>
          <a:bodyPr>
            <a:normAutofit fontScale="85000" lnSpcReduction="20000"/>
          </a:bodyPr>
          <a:lstStyle/>
          <a:p>
            <a:endParaRPr lang="en-US" dirty="0"/>
          </a:p>
          <a:p>
            <a:endParaRPr lang="en-US" dirty="0"/>
          </a:p>
          <a:p>
            <a:r>
              <a:rPr lang="en-US" dirty="0"/>
              <a:t>For the example above, Dice's coefficient would equal </a:t>
            </a:r>
          </a:p>
          <a:p>
            <a:pPr marL="0" indent="0">
              <a:buNone/>
            </a:pPr>
            <a:r>
              <a:rPr lang="en-US" dirty="0"/>
              <a:t>			(2 x 6)/(7 + 8) = .80.</a:t>
            </a:r>
          </a:p>
          <a:p>
            <a:pPr algn="just"/>
            <a:endParaRPr lang="en-US" dirty="0"/>
          </a:p>
          <a:p>
            <a:pPr algn="just"/>
            <a:r>
              <a:rPr lang="en-US" dirty="0"/>
              <a:t>Such similarity measures are determined for all pairs of terms in the database, forming a similarity matrix. </a:t>
            </a:r>
          </a:p>
          <a:p>
            <a:pPr algn="just"/>
            <a:endParaRPr lang="en-US" dirty="0"/>
          </a:p>
          <a:p>
            <a:pPr algn="just"/>
            <a:r>
              <a:rPr lang="en-US" dirty="0"/>
              <a:t>Since Dice's coefficient is symmetric (</a:t>
            </a:r>
            <a:r>
              <a:rPr lang="en-US" i="1" dirty="0" err="1"/>
              <a:t>S</a:t>
            </a:r>
            <a:r>
              <a:rPr lang="en-US" i="1" baseline="-25000" dirty="0" err="1"/>
              <a:t>ij</a:t>
            </a:r>
            <a:r>
              <a:rPr lang="en-US" dirty="0"/>
              <a:t> = </a:t>
            </a:r>
            <a:r>
              <a:rPr lang="en-US" i="1" dirty="0" err="1"/>
              <a:t>S</a:t>
            </a:r>
            <a:r>
              <a:rPr lang="en-US" i="1" baseline="-25000" dirty="0" err="1"/>
              <a:t>ji</a:t>
            </a:r>
            <a:r>
              <a:rPr lang="en-US" dirty="0"/>
              <a:t>), a lower triangular similarity matrix can be used as in the example below.</a:t>
            </a:r>
          </a:p>
          <a:p>
            <a:pPr algn="just"/>
            <a:endParaRPr lang="en-IN" dirty="0"/>
          </a:p>
          <a:p>
            <a:endParaRPr lang="en-US" dirty="0"/>
          </a:p>
          <a:p>
            <a:endParaRPr lang="en-US" dirty="0"/>
          </a:p>
          <a:p>
            <a:endParaRPr lang="en-US" dirty="0"/>
          </a:p>
          <a:p>
            <a:pPr marL="0" indent="0">
              <a:buNone/>
            </a:pPr>
            <a:r>
              <a:rPr lang="en-US" dirty="0"/>
              <a:t>		</a:t>
            </a:r>
          </a:p>
        </p:txBody>
      </p:sp>
    </p:spTree>
    <p:extLst>
      <p:ext uri="{BB962C8B-B14F-4D97-AF65-F5344CB8AC3E}">
        <p14:creationId xmlns:p14="http://schemas.microsoft.com/office/powerpoint/2010/main" val="33075862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3EFB93-E971-C85A-7547-61DA71467E96}"/>
              </a:ext>
            </a:extLst>
          </p:cNvPr>
          <p:cNvSpPr>
            <a:spLocks noGrp="1"/>
          </p:cNvSpPr>
          <p:nvPr>
            <p:ph idx="1"/>
          </p:nvPr>
        </p:nvSpPr>
        <p:spPr/>
        <p:txBody>
          <a:bodyPr/>
          <a:lstStyle/>
          <a:p>
            <a:endParaRPr lang="en-US" dirty="0"/>
          </a:p>
          <a:p>
            <a:endParaRPr lang="en-US" dirty="0"/>
          </a:p>
          <a:p>
            <a:endParaRPr lang="en-US" dirty="0"/>
          </a:p>
          <a:p>
            <a:endParaRPr lang="en-US" dirty="0"/>
          </a:p>
          <a:p>
            <a:endParaRPr lang="en-US" dirty="0"/>
          </a:p>
          <a:p>
            <a:r>
              <a:rPr lang="en-US" dirty="0"/>
              <a:t>Once such a similarity matrix is available, terms are clustered using a single link clustering method </a:t>
            </a:r>
            <a:endParaRPr lang="en-IN" dirty="0"/>
          </a:p>
        </p:txBody>
      </p:sp>
      <p:pic>
        <p:nvPicPr>
          <p:cNvPr id="5" name="Picture 4">
            <a:extLst>
              <a:ext uri="{FF2B5EF4-FFF2-40B4-BE49-F238E27FC236}">
                <a16:creationId xmlns:a16="http://schemas.microsoft.com/office/drawing/2014/main" id="{01420345-6E00-03C1-53DF-8CC8E96555B0}"/>
              </a:ext>
            </a:extLst>
          </p:cNvPr>
          <p:cNvPicPr>
            <a:picLocks noChangeAspect="1"/>
          </p:cNvPicPr>
          <p:nvPr/>
        </p:nvPicPr>
        <p:blipFill>
          <a:blip r:embed="rId2"/>
          <a:stretch>
            <a:fillRect/>
          </a:stretch>
        </p:blipFill>
        <p:spPr>
          <a:xfrm>
            <a:off x="3529781" y="1102364"/>
            <a:ext cx="4660490" cy="3059655"/>
          </a:xfrm>
          <a:prstGeom prst="rect">
            <a:avLst/>
          </a:prstGeom>
        </p:spPr>
      </p:pic>
    </p:spTree>
    <p:extLst>
      <p:ext uri="{BB962C8B-B14F-4D97-AF65-F5344CB8AC3E}">
        <p14:creationId xmlns:p14="http://schemas.microsoft.com/office/powerpoint/2010/main" val="3932927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B19F6-7EEA-74BA-29FD-541292E4AA06}"/>
              </a:ext>
            </a:extLst>
          </p:cNvPr>
          <p:cNvSpPr>
            <a:spLocks noGrp="1"/>
          </p:cNvSpPr>
          <p:nvPr>
            <p:ph type="title"/>
          </p:nvPr>
        </p:nvSpPr>
        <p:spPr>
          <a:xfrm>
            <a:off x="838200" y="681037"/>
            <a:ext cx="10515600" cy="765585"/>
          </a:xfrm>
        </p:spPr>
        <p:txBody>
          <a:bodyPr>
            <a:normAutofit fontScale="90000"/>
          </a:bodyPr>
          <a:lstStyle/>
          <a:p>
            <a:r>
              <a:rPr lang="en-IN" b="1" dirty="0"/>
              <a:t>AFFIX REMOVAL STEMMERS</a:t>
            </a:r>
            <a:br>
              <a:rPr lang="en-IN" b="1" dirty="0"/>
            </a:br>
            <a:endParaRPr lang="en-IN" dirty="0"/>
          </a:p>
        </p:txBody>
      </p:sp>
      <p:sp>
        <p:nvSpPr>
          <p:cNvPr id="3" name="Content Placeholder 2">
            <a:extLst>
              <a:ext uri="{FF2B5EF4-FFF2-40B4-BE49-F238E27FC236}">
                <a16:creationId xmlns:a16="http://schemas.microsoft.com/office/drawing/2014/main" id="{ADEB7FF6-21C4-CCE3-D847-ACD45F76D2F9}"/>
              </a:ext>
            </a:extLst>
          </p:cNvPr>
          <p:cNvSpPr>
            <a:spLocks noGrp="1"/>
          </p:cNvSpPr>
          <p:nvPr>
            <p:ph idx="1"/>
          </p:nvPr>
        </p:nvSpPr>
        <p:spPr>
          <a:xfrm>
            <a:off x="838200" y="1563329"/>
            <a:ext cx="10515600" cy="4613634"/>
          </a:xfrm>
        </p:spPr>
        <p:txBody>
          <a:bodyPr>
            <a:normAutofit/>
          </a:bodyPr>
          <a:lstStyle/>
          <a:p>
            <a:pPr algn="just"/>
            <a:r>
              <a:rPr lang="en-US" dirty="0"/>
              <a:t>Affix removal algorithms remove suffixes and/or prefixes from terms leaving a </a:t>
            </a:r>
            <a:r>
              <a:rPr lang="en-US" i="1" dirty="0"/>
              <a:t>stem</a:t>
            </a:r>
            <a:r>
              <a:rPr lang="en-US" dirty="0"/>
              <a:t>. </a:t>
            </a:r>
          </a:p>
          <a:p>
            <a:pPr algn="just"/>
            <a:r>
              <a:rPr lang="en-US" dirty="0"/>
              <a:t>These algorithms sometimes also transform the resultant stem. </a:t>
            </a:r>
          </a:p>
          <a:p>
            <a:pPr algn="just"/>
            <a:r>
              <a:rPr lang="en-US" dirty="0"/>
              <a:t>A simple example of an affix removal stemmer is one that removes the plurals from terms. </a:t>
            </a:r>
          </a:p>
          <a:p>
            <a:pPr marL="0" indent="0" algn="just">
              <a:buNone/>
            </a:pPr>
            <a:endParaRPr lang="en-IN" dirty="0"/>
          </a:p>
        </p:txBody>
      </p:sp>
    </p:spTree>
    <p:extLst>
      <p:ext uri="{BB962C8B-B14F-4D97-AF65-F5344CB8AC3E}">
        <p14:creationId xmlns:p14="http://schemas.microsoft.com/office/powerpoint/2010/main" val="31460178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D80824-F99B-4DB3-E4CE-5FF4A0C5BC14}"/>
              </a:ext>
            </a:extLst>
          </p:cNvPr>
          <p:cNvSpPr>
            <a:spLocks noGrp="1"/>
          </p:cNvSpPr>
          <p:nvPr>
            <p:ph idx="1"/>
          </p:nvPr>
        </p:nvSpPr>
        <p:spPr>
          <a:xfrm>
            <a:off x="838200" y="796413"/>
            <a:ext cx="10515600" cy="5380550"/>
          </a:xfrm>
        </p:spPr>
        <p:txBody>
          <a:bodyPr/>
          <a:lstStyle/>
          <a:p>
            <a:pPr algn="just"/>
            <a:r>
              <a:rPr lang="en-US" dirty="0"/>
              <a:t>A set of rules for such a stemmer is as follows </a:t>
            </a:r>
          </a:p>
          <a:p>
            <a:r>
              <a:rPr lang="en-US" dirty="0"/>
              <a:t>If a word ends in "</a:t>
            </a:r>
            <a:r>
              <a:rPr lang="en-US" dirty="0" err="1"/>
              <a:t>ies</a:t>
            </a:r>
            <a:r>
              <a:rPr lang="en-US" dirty="0"/>
              <a:t>" but not "</a:t>
            </a:r>
            <a:r>
              <a:rPr lang="en-US" dirty="0" err="1"/>
              <a:t>eies</a:t>
            </a:r>
            <a:r>
              <a:rPr lang="en-US" dirty="0"/>
              <a:t>" or "</a:t>
            </a:r>
            <a:r>
              <a:rPr lang="en-US" dirty="0" err="1"/>
              <a:t>aies</a:t>
            </a:r>
            <a:r>
              <a:rPr lang="en-US" dirty="0"/>
              <a:t>"</a:t>
            </a:r>
          </a:p>
          <a:p>
            <a:pPr marL="0" indent="0">
              <a:buNone/>
            </a:pPr>
            <a:r>
              <a:rPr lang="en-US" dirty="0"/>
              <a:t>	Then "</a:t>
            </a:r>
            <a:r>
              <a:rPr lang="en-US" dirty="0" err="1"/>
              <a:t>ies</a:t>
            </a:r>
            <a:r>
              <a:rPr lang="en-US" dirty="0"/>
              <a:t>" -&gt; "y"</a:t>
            </a:r>
          </a:p>
          <a:p>
            <a:r>
              <a:rPr lang="en-US" dirty="0"/>
              <a:t>If a word ends in "es" but not "</a:t>
            </a:r>
            <a:r>
              <a:rPr lang="en-US" dirty="0" err="1"/>
              <a:t>aes</a:t>
            </a:r>
            <a:r>
              <a:rPr lang="en-US" dirty="0"/>
              <a:t>", "ees", or "</a:t>
            </a:r>
            <a:r>
              <a:rPr lang="en-US" dirty="0" err="1"/>
              <a:t>oes</a:t>
            </a:r>
            <a:r>
              <a:rPr lang="en-US" dirty="0"/>
              <a:t>"</a:t>
            </a:r>
          </a:p>
          <a:p>
            <a:pPr marL="0" indent="0">
              <a:buNone/>
            </a:pPr>
            <a:r>
              <a:rPr lang="en-US" dirty="0"/>
              <a:t>	then "es" -&gt; "e"</a:t>
            </a:r>
          </a:p>
          <a:p>
            <a:r>
              <a:rPr lang="en-US" dirty="0"/>
              <a:t>If a word ends in "s", but not "us" or "ss"</a:t>
            </a:r>
          </a:p>
          <a:p>
            <a:pPr marL="0" indent="0">
              <a:buNone/>
            </a:pPr>
            <a:r>
              <a:rPr lang="en-US" dirty="0"/>
              <a:t>	then "s" -&gt; NULL</a:t>
            </a:r>
          </a:p>
          <a:p>
            <a:endParaRPr lang="en-IN" dirty="0"/>
          </a:p>
        </p:txBody>
      </p:sp>
    </p:spTree>
    <p:extLst>
      <p:ext uri="{BB962C8B-B14F-4D97-AF65-F5344CB8AC3E}">
        <p14:creationId xmlns:p14="http://schemas.microsoft.com/office/powerpoint/2010/main" val="29729896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BF1126-A8C8-0FB4-AC95-862D152BFB86}"/>
              </a:ext>
            </a:extLst>
          </p:cNvPr>
          <p:cNvSpPr>
            <a:spLocks noGrp="1"/>
          </p:cNvSpPr>
          <p:nvPr>
            <p:ph idx="1"/>
          </p:nvPr>
        </p:nvSpPr>
        <p:spPr>
          <a:xfrm>
            <a:off x="838200" y="452284"/>
            <a:ext cx="10515600" cy="5724679"/>
          </a:xfrm>
        </p:spPr>
        <p:txBody>
          <a:bodyPr/>
          <a:lstStyle/>
          <a:p>
            <a:pPr algn="just"/>
            <a:r>
              <a:rPr lang="en-US" dirty="0"/>
              <a:t>Most stemmers currently in use are iterative longest match stemmers, a kind of affix removal stemmer </a:t>
            </a:r>
            <a:r>
              <a:rPr lang="en-US" dirty="0" err="1"/>
              <a:t>irst</a:t>
            </a:r>
            <a:r>
              <a:rPr lang="en-US" dirty="0"/>
              <a:t> developed by Lovins (1968).</a:t>
            </a:r>
          </a:p>
          <a:p>
            <a:pPr algn="just"/>
            <a:r>
              <a:rPr lang="en-US" dirty="0"/>
              <a:t>An iterative longest match stemmer removes the longest possible string of characters from a word according to a set of rules. </a:t>
            </a:r>
          </a:p>
          <a:p>
            <a:pPr algn="just"/>
            <a:r>
              <a:rPr lang="en-US" dirty="0"/>
              <a:t>This process is repeated until no more characters can be removed.</a:t>
            </a:r>
          </a:p>
          <a:p>
            <a:pPr algn="just"/>
            <a:r>
              <a:rPr lang="en-US" dirty="0"/>
              <a:t> Even after all characters have been removed, stems may not be correctly conflated. </a:t>
            </a:r>
          </a:p>
          <a:p>
            <a:pPr algn="just"/>
            <a:r>
              <a:rPr lang="en-US" dirty="0"/>
              <a:t>The word "skies," for example, may have been reduced to the stem "ski" which will not match "sky." </a:t>
            </a:r>
          </a:p>
          <a:p>
            <a:pPr algn="just"/>
            <a:r>
              <a:rPr lang="en-US" dirty="0"/>
              <a:t>There are two techniques to handle this--recoding or partial matching.</a:t>
            </a:r>
          </a:p>
          <a:p>
            <a:pPr algn="just"/>
            <a:endParaRPr lang="en-IN" dirty="0"/>
          </a:p>
        </p:txBody>
      </p:sp>
    </p:spTree>
    <p:extLst>
      <p:ext uri="{BB962C8B-B14F-4D97-AF65-F5344CB8AC3E}">
        <p14:creationId xmlns:p14="http://schemas.microsoft.com/office/powerpoint/2010/main" val="12682553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D32EA1-0ADE-15DF-8A54-DB083F45951A}"/>
              </a:ext>
            </a:extLst>
          </p:cNvPr>
          <p:cNvSpPr>
            <a:spLocks noGrp="1"/>
          </p:cNvSpPr>
          <p:nvPr>
            <p:ph idx="1"/>
          </p:nvPr>
        </p:nvSpPr>
        <p:spPr>
          <a:xfrm>
            <a:off x="838200" y="993058"/>
            <a:ext cx="10515600" cy="5213401"/>
          </a:xfrm>
        </p:spPr>
        <p:txBody>
          <a:bodyPr/>
          <a:lstStyle/>
          <a:p>
            <a:pPr algn="just"/>
            <a:r>
              <a:rPr lang="en-US" dirty="0"/>
              <a:t>Recoding is a context sensitive transformation of the form </a:t>
            </a:r>
            <a:r>
              <a:rPr lang="en-US" dirty="0" err="1"/>
              <a:t>AxC</a:t>
            </a:r>
            <a:r>
              <a:rPr lang="en-US" dirty="0"/>
              <a:t> -&gt; </a:t>
            </a:r>
            <a:r>
              <a:rPr lang="en-US" dirty="0" err="1"/>
              <a:t>AyC</a:t>
            </a:r>
            <a:r>
              <a:rPr lang="en-US" dirty="0"/>
              <a:t> where A and C specify the context of the transformation, x is the input string, and y is the transformed string.</a:t>
            </a:r>
          </a:p>
          <a:p>
            <a:pPr algn="just"/>
            <a:r>
              <a:rPr lang="en-US" dirty="0"/>
              <a:t>For example, specify that if a stem ends in an "</a:t>
            </a:r>
            <a:r>
              <a:rPr lang="en-US" dirty="0" err="1"/>
              <a:t>i</a:t>
            </a:r>
            <a:r>
              <a:rPr lang="en-US" dirty="0"/>
              <a:t>" following a "k," then </a:t>
            </a:r>
            <a:r>
              <a:rPr lang="en-US" dirty="0" err="1"/>
              <a:t>i</a:t>
            </a:r>
            <a:r>
              <a:rPr lang="en-US" dirty="0"/>
              <a:t> -&gt; y. </a:t>
            </a:r>
          </a:p>
          <a:p>
            <a:pPr algn="just"/>
            <a:r>
              <a:rPr lang="en-US" dirty="0"/>
              <a:t>In partial matching, only the n initial characters of stems are used in comparing them. </a:t>
            </a:r>
          </a:p>
          <a:p>
            <a:pPr algn="just"/>
            <a:r>
              <a:rPr lang="en-US" dirty="0"/>
              <a:t>Using this approach, we might say that two stems are equivalent if they agree in all but their last characters.</a:t>
            </a:r>
            <a:endParaRPr lang="en-IN" dirty="0"/>
          </a:p>
        </p:txBody>
      </p:sp>
    </p:spTree>
    <p:extLst>
      <p:ext uri="{BB962C8B-B14F-4D97-AF65-F5344CB8AC3E}">
        <p14:creationId xmlns:p14="http://schemas.microsoft.com/office/powerpoint/2010/main" val="22154256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C5A5D7-3B5C-FEB9-C528-4E0936834C12}"/>
              </a:ext>
            </a:extLst>
          </p:cNvPr>
          <p:cNvSpPr>
            <a:spLocks noGrp="1"/>
          </p:cNvSpPr>
          <p:nvPr>
            <p:ph idx="1"/>
          </p:nvPr>
        </p:nvSpPr>
        <p:spPr>
          <a:xfrm>
            <a:off x="838200" y="688258"/>
            <a:ext cx="10515600" cy="5488705"/>
          </a:xfrm>
        </p:spPr>
        <p:txBody>
          <a:bodyPr/>
          <a:lstStyle/>
          <a:p>
            <a:pPr algn="just"/>
            <a:r>
              <a:rPr lang="en-US" dirty="0"/>
              <a:t>The Porter algorithm is more compact than Lovins, to give retrieval performance comparable to the larger algorithms.</a:t>
            </a:r>
          </a:p>
          <a:p>
            <a:pPr algn="just"/>
            <a:r>
              <a:rPr lang="en-US" dirty="0"/>
              <a:t>The Porter algorithm consists of a set of condition/action rules. </a:t>
            </a:r>
          </a:p>
          <a:p>
            <a:pPr algn="just"/>
            <a:r>
              <a:rPr lang="en-US" dirty="0"/>
              <a:t>The conditions fall into three classes: </a:t>
            </a:r>
          </a:p>
          <a:p>
            <a:pPr lvl="1" algn="just">
              <a:lnSpc>
                <a:spcPct val="150000"/>
              </a:lnSpc>
              <a:buFont typeface="Wingdings" panose="05000000000000000000" pitchFamily="2" charset="2"/>
              <a:buChar char="Ø"/>
            </a:pPr>
            <a:r>
              <a:rPr lang="en-US" dirty="0"/>
              <a:t>Conditions on the stem</a:t>
            </a:r>
          </a:p>
          <a:p>
            <a:pPr lvl="1" algn="just">
              <a:lnSpc>
                <a:spcPct val="150000"/>
              </a:lnSpc>
              <a:buFont typeface="Wingdings" panose="05000000000000000000" pitchFamily="2" charset="2"/>
              <a:buChar char="Ø"/>
            </a:pPr>
            <a:r>
              <a:rPr lang="en-US" dirty="0"/>
              <a:t>Conditions on the suffix</a:t>
            </a:r>
          </a:p>
          <a:p>
            <a:pPr lvl="1" algn="just">
              <a:lnSpc>
                <a:spcPct val="150000"/>
              </a:lnSpc>
              <a:buFont typeface="Wingdings" panose="05000000000000000000" pitchFamily="2" charset="2"/>
              <a:buChar char="Ø"/>
            </a:pPr>
            <a:r>
              <a:rPr lang="en-US" dirty="0"/>
              <a:t>Conditions on the rules.</a:t>
            </a:r>
            <a:endParaRPr lang="en-IN" dirty="0"/>
          </a:p>
        </p:txBody>
      </p:sp>
    </p:spTree>
    <p:extLst>
      <p:ext uri="{BB962C8B-B14F-4D97-AF65-F5344CB8AC3E}">
        <p14:creationId xmlns:p14="http://schemas.microsoft.com/office/powerpoint/2010/main" val="5891936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0F68EC-C5A9-B8CD-D09F-686C59DC8A42}"/>
              </a:ext>
            </a:extLst>
          </p:cNvPr>
          <p:cNvSpPr>
            <a:spLocks noGrp="1"/>
          </p:cNvSpPr>
          <p:nvPr>
            <p:ph idx="1"/>
          </p:nvPr>
        </p:nvSpPr>
        <p:spPr>
          <a:xfrm>
            <a:off x="838200" y="717755"/>
            <a:ext cx="10515600" cy="5459208"/>
          </a:xfrm>
        </p:spPr>
        <p:txBody>
          <a:bodyPr/>
          <a:lstStyle/>
          <a:p>
            <a:r>
              <a:rPr lang="en-US" dirty="0"/>
              <a:t>There are several types of </a:t>
            </a:r>
            <a:r>
              <a:rPr lang="en-US" b="1" dirty="0"/>
              <a:t>stem conditions</a:t>
            </a:r>
            <a:r>
              <a:rPr lang="en-US" dirty="0"/>
              <a:t>.</a:t>
            </a:r>
          </a:p>
          <a:p>
            <a:pPr marL="0" indent="0" algn="just">
              <a:buNone/>
            </a:pPr>
            <a:r>
              <a:rPr lang="en-US" b="1" dirty="0"/>
              <a:t>1. </a:t>
            </a:r>
            <a:r>
              <a:rPr lang="en-US" dirty="0"/>
              <a:t>The </a:t>
            </a:r>
            <a:r>
              <a:rPr lang="en-US" i="1" dirty="0"/>
              <a:t>measure</a:t>
            </a:r>
            <a:r>
              <a:rPr lang="en-US" dirty="0"/>
              <a:t>, denoted </a:t>
            </a:r>
            <a:r>
              <a:rPr lang="en-US" i="1" dirty="0"/>
              <a:t>m</a:t>
            </a:r>
            <a:r>
              <a:rPr lang="en-US" dirty="0"/>
              <a:t>, of a stem is based on its alternate vowel-consonant sequences. Vowels are a, e, </a:t>
            </a:r>
            <a:r>
              <a:rPr lang="en-US" dirty="0" err="1"/>
              <a:t>i</a:t>
            </a:r>
            <a:r>
              <a:rPr lang="en-US" dirty="0"/>
              <a:t>, o, u, and y if preceded by a consonant. Consonants are all letters that are not vowels. Let</a:t>
            </a:r>
            <a:r>
              <a:rPr lang="en-US" i="1" dirty="0"/>
              <a:t> C</a:t>
            </a:r>
            <a:r>
              <a:rPr lang="en-US" dirty="0"/>
              <a:t> stand for a sequence of consonants, and </a:t>
            </a:r>
            <a:r>
              <a:rPr lang="en-US" i="1" dirty="0"/>
              <a:t>V</a:t>
            </a:r>
            <a:r>
              <a:rPr lang="en-US" dirty="0"/>
              <a:t> for a sequence of vowels. The measure </a:t>
            </a:r>
            <a:r>
              <a:rPr lang="en-US" i="1" dirty="0"/>
              <a:t>m</a:t>
            </a:r>
            <a:r>
              <a:rPr lang="en-US" dirty="0"/>
              <a:t>, then, is defined as</a:t>
            </a:r>
          </a:p>
          <a:p>
            <a:pPr marL="0" indent="0">
              <a:buNone/>
            </a:pPr>
            <a:r>
              <a:rPr lang="en-US" dirty="0"/>
              <a:t>				[</a:t>
            </a:r>
            <a:r>
              <a:rPr lang="en-US" i="1" dirty="0"/>
              <a:t>C</a:t>
            </a:r>
            <a:r>
              <a:rPr lang="en-US" dirty="0"/>
              <a:t>](</a:t>
            </a:r>
            <a:r>
              <a:rPr lang="en-US" i="1" dirty="0"/>
              <a:t>VC</a:t>
            </a:r>
            <a:r>
              <a:rPr lang="en-US" dirty="0"/>
              <a:t>)</a:t>
            </a:r>
            <a:r>
              <a:rPr lang="en-US" i="1" baseline="30000" dirty="0"/>
              <a:t>m</a:t>
            </a:r>
            <a:r>
              <a:rPr lang="en-US" dirty="0"/>
              <a:t>[</a:t>
            </a:r>
            <a:r>
              <a:rPr lang="en-US" i="1" dirty="0"/>
              <a:t>V</a:t>
            </a:r>
            <a:r>
              <a:rPr lang="en-US" dirty="0"/>
              <a:t>]</a:t>
            </a:r>
          </a:p>
          <a:p>
            <a:pPr algn="just"/>
            <a:r>
              <a:rPr lang="en-US" dirty="0"/>
              <a:t>The superscript </a:t>
            </a:r>
            <a:r>
              <a:rPr lang="en-US" i="1" dirty="0"/>
              <a:t>m</a:t>
            </a:r>
            <a:r>
              <a:rPr lang="en-US" dirty="0"/>
              <a:t> in the equation, which is the measure, indicates the number of </a:t>
            </a:r>
            <a:r>
              <a:rPr lang="en-US" i="1" dirty="0"/>
              <a:t>VC</a:t>
            </a:r>
            <a:r>
              <a:rPr lang="en-US" dirty="0"/>
              <a:t> sequences. Square brackets indicate an optional occurrence. Some examples of measures for terms follows.</a:t>
            </a:r>
          </a:p>
          <a:p>
            <a:pPr marL="0" indent="0">
              <a:buNone/>
            </a:pPr>
            <a:endParaRPr lang="en-IN" dirty="0"/>
          </a:p>
        </p:txBody>
      </p:sp>
    </p:spTree>
    <p:extLst>
      <p:ext uri="{BB962C8B-B14F-4D97-AF65-F5344CB8AC3E}">
        <p14:creationId xmlns:p14="http://schemas.microsoft.com/office/powerpoint/2010/main" val="11189182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D61FC46-5B19-E069-C04C-F244220F28EF}"/>
              </a:ext>
            </a:extLst>
          </p:cNvPr>
          <p:cNvPicPr>
            <a:picLocks noChangeAspect="1"/>
          </p:cNvPicPr>
          <p:nvPr/>
        </p:nvPicPr>
        <p:blipFill>
          <a:blip r:embed="rId2"/>
          <a:stretch>
            <a:fillRect/>
          </a:stretch>
        </p:blipFill>
        <p:spPr>
          <a:xfrm>
            <a:off x="2263849" y="1386348"/>
            <a:ext cx="7973264" cy="3932903"/>
          </a:xfrm>
          <a:prstGeom prst="rect">
            <a:avLst/>
          </a:prstGeom>
        </p:spPr>
      </p:pic>
    </p:spTree>
    <p:extLst>
      <p:ext uri="{BB962C8B-B14F-4D97-AF65-F5344CB8AC3E}">
        <p14:creationId xmlns:p14="http://schemas.microsoft.com/office/powerpoint/2010/main" val="40768446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75B540-F070-18F6-92AF-AEDBAA3FB174}"/>
              </a:ext>
            </a:extLst>
          </p:cNvPr>
          <p:cNvSpPr>
            <a:spLocks noGrp="1"/>
          </p:cNvSpPr>
          <p:nvPr>
            <p:ph idx="1"/>
          </p:nvPr>
        </p:nvSpPr>
        <p:spPr>
          <a:xfrm>
            <a:off x="838200" y="825910"/>
            <a:ext cx="10515600" cy="5351053"/>
          </a:xfrm>
        </p:spPr>
        <p:txBody>
          <a:bodyPr/>
          <a:lstStyle/>
          <a:p>
            <a:pPr marL="0" indent="0">
              <a:buNone/>
            </a:pPr>
            <a:r>
              <a:rPr lang="en-US" b="1" dirty="0"/>
              <a:t>2. </a:t>
            </a:r>
            <a:r>
              <a:rPr lang="en-US" dirty="0"/>
              <a:t>* &lt; X &gt;--the stem ends with a given letter X</a:t>
            </a:r>
          </a:p>
          <a:p>
            <a:pPr marL="0" indent="0">
              <a:buNone/>
            </a:pPr>
            <a:r>
              <a:rPr lang="en-US" b="1" dirty="0"/>
              <a:t>3. </a:t>
            </a:r>
            <a:r>
              <a:rPr lang="en-US" dirty="0"/>
              <a:t>*v*--the stem contains a vowel</a:t>
            </a:r>
          </a:p>
          <a:p>
            <a:pPr marL="0" indent="0">
              <a:buNone/>
            </a:pPr>
            <a:r>
              <a:rPr lang="en-US" b="1" dirty="0"/>
              <a:t>4. </a:t>
            </a:r>
            <a:r>
              <a:rPr lang="en-US" dirty="0"/>
              <a:t>*d--the stem ends in a double consonant</a:t>
            </a:r>
          </a:p>
          <a:p>
            <a:pPr marL="0" indent="0">
              <a:buNone/>
            </a:pPr>
            <a:r>
              <a:rPr lang="en-US" b="1" dirty="0"/>
              <a:t>5. </a:t>
            </a:r>
            <a:r>
              <a:rPr lang="en-US" dirty="0"/>
              <a:t>*o--the stem ends with a consonant-vowel-consonant, sequence, where the final consonant is not w, x, or y.</a:t>
            </a:r>
          </a:p>
          <a:p>
            <a:r>
              <a:rPr lang="en-US" b="1" dirty="0"/>
              <a:t>Suffix conditions </a:t>
            </a:r>
            <a:r>
              <a:rPr lang="en-US" dirty="0"/>
              <a:t>take the form: (</a:t>
            </a:r>
            <a:r>
              <a:rPr lang="en-US" dirty="0" err="1"/>
              <a:t>current_suffix</a:t>
            </a:r>
            <a:r>
              <a:rPr lang="en-US" dirty="0"/>
              <a:t> == pattern). </a:t>
            </a:r>
          </a:p>
          <a:p>
            <a:r>
              <a:rPr lang="en-US" b="1" dirty="0"/>
              <a:t>Rule conditions </a:t>
            </a:r>
            <a:r>
              <a:rPr lang="en-US" dirty="0"/>
              <a:t>take the form: (rule was used).</a:t>
            </a:r>
          </a:p>
          <a:p>
            <a:r>
              <a:rPr lang="en-US" dirty="0"/>
              <a:t>Actions are rewrite rules of the form:</a:t>
            </a:r>
          </a:p>
          <a:p>
            <a:r>
              <a:rPr lang="en-US" dirty="0" err="1"/>
              <a:t>old_suffix</a:t>
            </a:r>
            <a:r>
              <a:rPr lang="en-US" dirty="0"/>
              <a:t> -&gt; </a:t>
            </a:r>
            <a:r>
              <a:rPr lang="en-US" dirty="0" err="1"/>
              <a:t>new_suffix</a:t>
            </a:r>
            <a:endParaRPr lang="en-US" dirty="0"/>
          </a:p>
          <a:p>
            <a:endParaRPr lang="en-IN" dirty="0"/>
          </a:p>
        </p:txBody>
      </p:sp>
    </p:spTree>
    <p:extLst>
      <p:ext uri="{BB962C8B-B14F-4D97-AF65-F5344CB8AC3E}">
        <p14:creationId xmlns:p14="http://schemas.microsoft.com/office/powerpoint/2010/main" val="31542995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B3D5F6-71C8-D1CB-7914-7D0BC170CA35}"/>
              </a:ext>
            </a:extLst>
          </p:cNvPr>
          <p:cNvSpPr>
            <a:spLocks noGrp="1"/>
          </p:cNvSpPr>
          <p:nvPr>
            <p:ph idx="1"/>
          </p:nvPr>
        </p:nvSpPr>
        <p:spPr>
          <a:xfrm>
            <a:off x="838200" y="452284"/>
            <a:ext cx="10515600" cy="5724679"/>
          </a:xfrm>
        </p:spPr>
        <p:txBody>
          <a:bodyPr/>
          <a:lstStyle/>
          <a:p>
            <a:r>
              <a:rPr lang="en-US" dirty="0"/>
              <a:t>The rules for the steps of the stemmer are as follows.</a:t>
            </a:r>
            <a:endParaRPr lang="en-IN" dirty="0"/>
          </a:p>
        </p:txBody>
      </p:sp>
      <p:pic>
        <p:nvPicPr>
          <p:cNvPr id="7" name="Picture 6">
            <a:extLst>
              <a:ext uri="{FF2B5EF4-FFF2-40B4-BE49-F238E27FC236}">
                <a16:creationId xmlns:a16="http://schemas.microsoft.com/office/drawing/2014/main" id="{0F805908-682E-21AF-28B2-3D6F92F25F6A}"/>
              </a:ext>
            </a:extLst>
          </p:cNvPr>
          <p:cNvPicPr>
            <a:picLocks noChangeAspect="1"/>
          </p:cNvPicPr>
          <p:nvPr/>
        </p:nvPicPr>
        <p:blipFill>
          <a:blip r:embed="rId2"/>
          <a:stretch>
            <a:fillRect/>
          </a:stretch>
        </p:blipFill>
        <p:spPr>
          <a:xfrm>
            <a:off x="1721888" y="1258529"/>
            <a:ext cx="8000719" cy="4788309"/>
          </a:xfrm>
          <a:prstGeom prst="rect">
            <a:avLst/>
          </a:prstGeom>
        </p:spPr>
      </p:pic>
    </p:spTree>
    <p:extLst>
      <p:ext uri="{BB962C8B-B14F-4D97-AF65-F5344CB8AC3E}">
        <p14:creationId xmlns:p14="http://schemas.microsoft.com/office/powerpoint/2010/main" val="21823851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E318F3D-B7E3-A186-2901-228C21ABDFFB}"/>
              </a:ext>
            </a:extLst>
          </p:cNvPr>
          <p:cNvPicPr>
            <a:picLocks noChangeAspect="1"/>
          </p:cNvPicPr>
          <p:nvPr/>
        </p:nvPicPr>
        <p:blipFill>
          <a:blip r:embed="rId2"/>
          <a:stretch>
            <a:fillRect/>
          </a:stretch>
        </p:blipFill>
        <p:spPr>
          <a:xfrm>
            <a:off x="891733" y="580103"/>
            <a:ext cx="10464525" cy="5911610"/>
          </a:xfrm>
          <a:prstGeom prst="rect">
            <a:avLst/>
          </a:prstGeom>
        </p:spPr>
      </p:pic>
    </p:spTree>
    <p:extLst>
      <p:ext uri="{BB962C8B-B14F-4D97-AF65-F5344CB8AC3E}">
        <p14:creationId xmlns:p14="http://schemas.microsoft.com/office/powerpoint/2010/main" val="609740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03901D-81B8-A2E9-5397-7EF7CD920CE5}"/>
              </a:ext>
            </a:extLst>
          </p:cNvPr>
          <p:cNvSpPr>
            <a:spLocks noGrp="1"/>
          </p:cNvSpPr>
          <p:nvPr>
            <p:ph idx="1"/>
          </p:nvPr>
        </p:nvSpPr>
        <p:spPr/>
        <p:txBody>
          <a:bodyPr/>
          <a:lstStyle/>
          <a:p>
            <a:pPr algn="just"/>
            <a:r>
              <a:rPr lang="en-US" b="1" dirty="0"/>
              <a:t>Purpose of Step 1b1</a:t>
            </a:r>
          </a:p>
          <a:p>
            <a:pPr algn="just"/>
            <a:r>
              <a:rPr lang="en-US" dirty="0"/>
              <a:t>After Step 1b removes “ed” or “</a:t>
            </a:r>
            <a:r>
              <a:rPr lang="en-US" dirty="0" err="1"/>
              <a:t>ing</a:t>
            </a:r>
            <a:r>
              <a:rPr lang="en-US" dirty="0"/>
              <a:t>”, Step 1b1 checks the resulting stem for:</a:t>
            </a:r>
          </a:p>
          <a:p>
            <a:pPr algn="just"/>
            <a:r>
              <a:rPr lang="en-US" dirty="0"/>
              <a:t>Specific endings like “at”, “bl”, “</a:t>
            </a:r>
            <a:r>
              <a:rPr lang="en-US" dirty="0" err="1"/>
              <a:t>iz</a:t>
            </a:r>
            <a:r>
              <a:rPr lang="en-US" dirty="0"/>
              <a:t>” → replace with “ate”, “</a:t>
            </a:r>
            <a:r>
              <a:rPr lang="en-US" dirty="0" err="1"/>
              <a:t>ble</a:t>
            </a:r>
            <a:r>
              <a:rPr lang="en-US" dirty="0"/>
              <a:t>”, “</a:t>
            </a:r>
            <a:r>
              <a:rPr lang="en-US" dirty="0" err="1"/>
              <a:t>ize</a:t>
            </a:r>
            <a:r>
              <a:rPr lang="en-US" dirty="0"/>
              <a:t>”.</a:t>
            </a:r>
          </a:p>
          <a:p>
            <a:pPr algn="just"/>
            <a:r>
              <a:rPr lang="en-US" dirty="0"/>
              <a:t>Double consonants at the end → remove one of the repeated letters.</a:t>
            </a:r>
          </a:p>
          <a:p>
            <a:pPr algn="just"/>
            <a:r>
              <a:rPr lang="en-US" dirty="0"/>
              <a:t>Short (CVC) words → add “e” at the end.</a:t>
            </a:r>
          </a:p>
          <a:p>
            <a:pPr algn="just"/>
            <a:endParaRPr lang="en-IN" dirty="0"/>
          </a:p>
        </p:txBody>
      </p:sp>
    </p:spTree>
    <p:extLst>
      <p:ext uri="{BB962C8B-B14F-4D97-AF65-F5344CB8AC3E}">
        <p14:creationId xmlns:p14="http://schemas.microsoft.com/office/powerpoint/2010/main" val="21161188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3147E22-16F1-70F2-8E98-DA913B9EA353}"/>
              </a:ext>
            </a:extLst>
          </p:cNvPr>
          <p:cNvPicPr>
            <a:picLocks noChangeAspect="1"/>
          </p:cNvPicPr>
          <p:nvPr/>
        </p:nvPicPr>
        <p:blipFill>
          <a:blip r:embed="rId2"/>
          <a:stretch>
            <a:fillRect/>
          </a:stretch>
        </p:blipFill>
        <p:spPr>
          <a:xfrm>
            <a:off x="1445342" y="785443"/>
            <a:ext cx="10107561" cy="5287113"/>
          </a:xfrm>
          <a:prstGeom prst="rect">
            <a:avLst/>
          </a:prstGeom>
        </p:spPr>
      </p:pic>
    </p:spTree>
    <p:extLst>
      <p:ext uri="{BB962C8B-B14F-4D97-AF65-F5344CB8AC3E}">
        <p14:creationId xmlns:p14="http://schemas.microsoft.com/office/powerpoint/2010/main" val="13013790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FF9EAC2-23FF-40BC-CB7E-762A0B96F5FB}"/>
              </a:ext>
            </a:extLst>
          </p:cNvPr>
          <p:cNvPicPr>
            <a:picLocks noChangeAspect="1"/>
          </p:cNvPicPr>
          <p:nvPr/>
        </p:nvPicPr>
        <p:blipFill>
          <a:blip r:embed="rId2"/>
          <a:stretch>
            <a:fillRect/>
          </a:stretch>
        </p:blipFill>
        <p:spPr>
          <a:xfrm>
            <a:off x="1539512" y="1445342"/>
            <a:ext cx="9465814" cy="3824747"/>
          </a:xfrm>
          <a:prstGeom prst="rect">
            <a:avLst/>
          </a:prstGeom>
        </p:spPr>
      </p:pic>
    </p:spTree>
    <p:extLst>
      <p:ext uri="{BB962C8B-B14F-4D97-AF65-F5344CB8AC3E}">
        <p14:creationId xmlns:p14="http://schemas.microsoft.com/office/powerpoint/2010/main" val="12810558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3DD394C-0B05-CAB4-57FE-8AD3C661FF8A}"/>
              </a:ext>
            </a:extLst>
          </p:cNvPr>
          <p:cNvPicPr>
            <a:picLocks noChangeAspect="1"/>
          </p:cNvPicPr>
          <p:nvPr/>
        </p:nvPicPr>
        <p:blipFill>
          <a:blip r:embed="rId2"/>
          <a:stretch>
            <a:fillRect/>
          </a:stretch>
        </p:blipFill>
        <p:spPr>
          <a:xfrm>
            <a:off x="216310" y="0"/>
            <a:ext cx="11808542" cy="6858000"/>
          </a:xfrm>
          <a:prstGeom prst="rect">
            <a:avLst/>
          </a:prstGeom>
        </p:spPr>
      </p:pic>
    </p:spTree>
    <p:extLst>
      <p:ext uri="{BB962C8B-B14F-4D97-AF65-F5344CB8AC3E}">
        <p14:creationId xmlns:p14="http://schemas.microsoft.com/office/powerpoint/2010/main" val="33357773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639E3DC-09AA-F1F8-0639-24B8439C942A}"/>
              </a:ext>
            </a:extLst>
          </p:cNvPr>
          <p:cNvPicPr>
            <a:picLocks noChangeAspect="1"/>
          </p:cNvPicPr>
          <p:nvPr/>
        </p:nvPicPr>
        <p:blipFill>
          <a:blip r:embed="rId2"/>
          <a:stretch>
            <a:fillRect/>
          </a:stretch>
        </p:blipFill>
        <p:spPr>
          <a:xfrm>
            <a:off x="2439575" y="432619"/>
            <a:ext cx="7889264" cy="5584723"/>
          </a:xfrm>
          <a:prstGeom prst="rect">
            <a:avLst/>
          </a:prstGeom>
        </p:spPr>
      </p:pic>
    </p:spTree>
    <p:extLst>
      <p:ext uri="{BB962C8B-B14F-4D97-AF65-F5344CB8AC3E}">
        <p14:creationId xmlns:p14="http://schemas.microsoft.com/office/powerpoint/2010/main" val="10821135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56CA47E-15B4-DE39-75D9-C853665E1B82}"/>
              </a:ext>
            </a:extLst>
          </p:cNvPr>
          <p:cNvPicPr>
            <a:picLocks noChangeAspect="1"/>
          </p:cNvPicPr>
          <p:nvPr/>
        </p:nvPicPr>
        <p:blipFill>
          <a:blip r:embed="rId2"/>
          <a:stretch>
            <a:fillRect/>
          </a:stretch>
        </p:blipFill>
        <p:spPr>
          <a:xfrm>
            <a:off x="1071715" y="94784"/>
            <a:ext cx="10854813" cy="6668431"/>
          </a:xfrm>
          <a:prstGeom prst="rect">
            <a:avLst/>
          </a:prstGeom>
        </p:spPr>
      </p:pic>
    </p:spTree>
    <p:extLst>
      <p:ext uri="{BB962C8B-B14F-4D97-AF65-F5344CB8AC3E}">
        <p14:creationId xmlns:p14="http://schemas.microsoft.com/office/powerpoint/2010/main" val="8971583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6BF5541-BBAA-1D0B-BBA0-551AC55FC0E8}"/>
              </a:ext>
            </a:extLst>
          </p:cNvPr>
          <p:cNvPicPr>
            <a:picLocks noChangeAspect="1"/>
          </p:cNvPicPr>
          <p:nvPr/>
        </p:nvPicPr>
        <p:blipFill>
          <a:blip r:embed="rId2"/>
          <a:stretch>
            <a:fillRect/>
          </a:stretch>
        </p:blipFill>
        <p:spPr>
          <a:xfrm>
            <a:off x="2359743" y="471948"/>
            <a:ext cx="8548714" cy="5614220"/>
          </a:xfrm>
          <a:prstGeom prst="rect">
            <a:avLst/>
          </a:prstGeom>
        </p:spPr>
      </p:pic>
    </p:spTree>
    <p:extLst>
      <p:ext uri="{BB962C8B-B14F-4D97-AF65-F5344CB8AC3E}">
        <p14:creationId xmlns:p14="http://schemas.microsoft.com/office/powerpoint/2010/main" val="40781497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11917D-8F6B-F262-E621-127A0354B70C}"/>
              </a:ext>
            </a:extLst>
          </p:cNvPr>
          <p:cNvSpPr>
            <a:spLocks noGrp="1"/>
          </p:cNvSpPr>
          <p:nvPr>
            <p:ph idx="1"/>
          </p:nvPr>
        </p:nvSpPr>
        <p:spPr>
          <a:xfrm>
            <a:off x="875070" y="521110"/>
            <a:ext cx="10478729" cy="5655853"/>
          </a:xfrm>
        </p:spPr>
        <p:txBody>
          <a:bodyPr>
            <a:normAutofit fontScale="92500" lnSpcReduction="20000"/>
          </a:bodyPr>
          <a:lstStyle/>
          <a:p>
            <a:pPr marL="0" indent="0">
              <a:buNone/>
            </a:pPr>
            <a:r>
              <a:rPr lang="en-US" dirty="0"/>
              <a:t>The algorithm is as follows.</a:t>
            </a:r>
          </a:p>
          <a:p>
            <a:pPr marL="0" indent="0">
              <a:buNone/>
            </a:pPr>
            <a:r>
              <a:rPr lang="en-US" dirty="0"/>
              <a:t>{</a:t>
            </a:r>
          </a:p>
          <a:p>
            <a:pPr marL="0" indent="0">
              <a:buNone/>
            </a:pPr>
            <a:r>
              <a:rPr lang="en-US" dirty="0"/>
              <a:t>step1a(word);</a:t>
            </a:r>
          </a:p>
          <a:p>
            <a:pPr marL="0" indent="0">
              <a:buNone/>
            </a:pPr>
            <a:r>
              <a:rPr lang="en-US" dirty="0"/>
              <a:t>step1b(stem);</a:t>
            </a:r>
          </a:p>
          <a:p>
            <a:pPr marL="0" indent="0">
              <a:buNone/>
            </a:pPr>
            <a:r>
              <a:rPr lang="en-US" dirty="0"/>
              <a:t>if (the second or third rule of step 1b was used)</a:t>
            </a:r>
          </a:p>
          <a:p>
            <a:pPr marL="0" indent="0">
              <a:buNone/>
            </a:pPr>
            <a:r>
              <a:rPr lang="en-US" dirty="0"/>
              <a:t>step1b1(stem);</a:t>
            </a:r>
          </a:p>
          <a:p>
            <a:pPr marL="0" indent="0">
              <a:buNone/>
            </a:pPr>
            <a:r>
              <a:rPr lang="en-US" dirty="0"/>
              <a:t>step1c(stem);</a:t>
            </a:r>
          </a:p>
          <a:p>
            <a:pPr marL="0" indent="0">
              <a:buNone/>
            </a:pPr>
            <a:r>
              <a:rPr lang="en-US" dirty="0"/>
              <a:t>step2(stem);</a:t>
            </a:r>
          </a:p>
          <a:p>
            <a:pPr marL="0" indent="0">
              <a:buNone/>
            </a:pPr>
            <a:r>
              <a:rPr lang="en-US" dirty="0"/>
              <a:t>step3(stem);</a:t>
            </a:r>
          </a:p>
          <a:p>
            <a:pPr marL="0" indent="0">
              <a:buNone/>
            </a:pPr>
            <a:r>
              <a:rPr lang="en-US" dirty="0"/>
              <a:t>step4(stem);</a:t>
            </a:r>
          </a:p>
          <a:p>
            <a:pPr marL="0" indent="0">
              <a:buNone/>
            </a:pPr>
            <a:r>
              <a:rPr lang="en-US" dirty="0"/>
              <a:t>step5a(stem);</a:t>
            </a:r>
          </a:p>
          <a:p>
            <a:pPr marL="0" indent="0">
              <a:buNone/>
            </a:pPr>
            <a:r>
              <a:rPr lang="en-US" dirty="0"/>
              <a:t>step5b(stem);</a:t>
            </a:r>
          </a:p>
          <a:p>
            <a:pPr marL="0" indent="0">
              <a:buNone/>
            </a:pPr>
            <a:r>
              <a:rPr lang="en-US" dirty="0"/>
              <a:t>}</a:t>
            </a:r>
          </a:p>
          <a:p>
            <a:endParaRPr lang="en-IN" dirty="0"/>
          </a:p>
        </p:txBody>
      </p:sp>
    </p:spTree>
    <p:extLst>
      <p:ext uri="{BB962C8B-B14F-4D97-AF65-F5344CB8AC3E}">
        <p14:creationId xmlns:p14="http://schemas.microsoft.com/office/powerpoint/2010/main" val="29735877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EDFD95-B116-125D-F4FA-B3E52F53A4CC}"/>
              </a:ext>
            </a:extLst>
          </p:cNvPr>
          <p:cNvSpPr>
            <a:spLocks noGrp="1"/>
          </p:cNvSpPr>
          <p:nvPr>
            <p:ph idx="1"/>
          </p:nvPr>
        </p:nvSpPr>
        <p:spPr>
          <a:xfrm>
            <a:off x="838200" y="432619"/>
            <a:ext cx="10515600" cy="5744344"/>
          </a:xfrm>
        </p:spPr>
        <p:txBody>
          <a:bodyPr/>
          <a:lstStyle/>
          <a:p>
            <a:r>
              <a:rPr lang="en-US" b="1" dirty="0"/>
              <a:t>Original Word: caresses</a:t>
            </a:r>
          </a:p>
          <a:p>
            <a:pPr marL="0" indent="0">
              <a:buNone/>
            </a:pPr>
            <a:r>
              <a:rPr lang="en-US" b="1" dirty="0"/>
              <a:t>Step 1a: Plural Rules</a:t>
            </a:r>
          </a:p>
          <a:p>
            <a:r>
              <a:rPr lang="en-US" dirty="0"/>
              <a:t>Rule: SSES → SS</a:t>
            </a:r>
          </a:p>
          <a:p>
            <a:r>
              <a:rPr lang="en-US" dirty="0"/>
              <a:t>caresses → caress</a:t>
            </a:r>
          </a:p>
          <a:p>
            <a:r>
              <a:rPr lang="en-US" dirty="0"/>
              <a:t>✅ Result: </a:t>
            </a:r>
            <a:r>
              <a:rPr lang="en-US" b="1" dirty="0"/>
              <a:t>caress</a:t>
            </a:r>
            <a:endParaRPr lang="en-US" dirty="0"/>
          </a:p>
          <a:p>
            <a:pPr marL="0" indent="0">
              <a:buNone/>
            </a:pPr>
            <a:endParaRPr lang="en-IN" dirty="0"/>
          </a:p>
          <a:p>
            <a:pPr marL="0" indent="0">
              <a:buNone/>
            </a:pPr>
            <a:r>
              <a:rPr lang="en-US" b="1" dirty="0"/>
              <a:t>Step 1b: -ed / -</a:t>
            </a:r>
            <a:r>
              <a:rPr lang="en-US" b="1" dirty="0" err="1"/>
              <a:t>ing</a:t>
            </a:r>
            <a:r>
              <a:rPr lang="en-US" b="1" dirty="0"/>
              <a:t> Removal</a:t>
            </a:r>
          </a:p>
          <a:p>
            <a:r>
              <a:rPr lang="en-US" dirty="0"/>
              <a:t>Word: </a:t>
            </a:r>
            <a:r>
              <a:rPr lang="en-US" i="1" dirty="0"/>
              <a:t>caress</a:t>
            </a:r>
            <a:r>
              <a:rPr lang="en-US" dirty="0"/>
              <a:t> → does not end with </a:t>
            </a:r>
            <a:r>
              <a:rPr lang="en-US" i="1" dirty="0" err="1"/>
              <a:t>eed</a:t>
            </a:r>
            <a:r>
              <a:rPr lang="en-US" i="1" dirty="0"/>
              <a:t>/ed/</a:t>
            </a:r>
            <a:r>
              <a:rPr lang="en-US" i="1" dirty="0" err="1"/>
              <a:t>ing</a:t>
            </a:r>
            <a:endParaRPr lang="en-US" dirty="0"/>
          </a:p>
          <a:p>
            <a:r>
              <a:rPr lang="en-US" dirty="0"/>
              <a:t>❌ No change.</a:t>
            </a:r>
          </a:p>
          <a:p>
            <a:r>
              <a:rPr lang="en-US" dirty="0"/>
              <a:t>✅ Result: </a:t>
            </a:r>
            <a:r>
              <a:rPr lang="en-US" b="1" dirty="0"/>
              <a:t>caress</a:t>
            </a:r>
            <a:endParaRPr lang="en-US" dirty="0"/>
          </a:p>
          <a:p>
            <a:pPr marL="0" indent="0">
              <a:buNone/>
            </a:pPr>
            <a:endParaRPr lang="en-IN" dirty="0"/>
          </a:p>
        </p:txBody>
      </p:sp>
    </p:spTree>
    <p:extLst>
      <p:ext uri="{BB962C8B-B14F-4D97-AF65-F5344CB8AC3E}">
        <p14:creationId xmlns:p14="http://schemas.microsoft.com/office/powerpoint/2010/main" val="41425794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C8CB41-BD73-662C-3E8E-2843F1130DB1}"/>
              </a:ext>
            </a:extLst>
          </p:cNvPr>
          <p:cNvSpPr>
            <a:spLocks noGrp="1"/>
          </p:cNvSpPr>
          <p:nvPr>
            <p:ph idx="1"/>
          </p:nvPr>
        </p:nvSpPr>
        <p:spPr>
          <a:xfrm>
            <a:off x="838200" y="707923"/>
            <a:ext cx="10515600" cy="5469040"/>
          </a:xfrm>
        </p:spPr>
        <p:txBody>
          <a:bodyPr/>
          <a:lstStyle/>
          <a:p>
            <a:pPr marL="0" indent="0">
              <a:buNone/>
            </a:pPr>
            <a:r>
              <a:rPr lang="en-US" b="1" dirty="0"/>
              <a:t>Step 1b1: Adjustments</a:t>
            </a:r>
          </a:p>
          <a:p>
            <a:r>
              <a:rPr lang="en-US" dirty="0"/>
              <a:t>Only applies if Step 1b removed </a:t>
            </a:r>
            <a:r>
              <a:rPr lang="en-US" i="1" dirty="0"/>
              <a:t>ed/</a:t>
            </a:r>
            <a:r>
              <a:rPr lang="en-US" i="1" dirty="0" err="1"/>
              <a:t>ing</a:t>
            </a:r>
            <a:r>
              <a:rPr lang="en-US" dirty="0"/>
              <a:t> → not applicable.</a:t>
            </a:r>
          </a:p>
          <a:p>
            <a:r>
              <a:rPr lang="en-US" dirty="0"/>
              <a:t>❌ No change.</a:t>
            </a:r>
          </a:p>
          <a:p>
            <a:r>
              <a:rPr lang="en-US" dirty="0"/>
              <a:t>✅ Result: </a:t>
            </a:r>
            <a:r>
              <a:rPr lang="en-US" b="1" dirty="0"/>
              <a:t>caress</a:t>
            </a:r>
          </a:p>
          <a:p>
            <a:endParaRPr lang="en-US" b="1" dirty="0"/>
          </a:p>
          <a:p>
            <a:pPr marL="0" indent="0">
              <a:buNone/>
            </a:pPr>
            <a:r>
              <a:rPr lang="en-US" b="1" dirty="0"/>
              <a:t>Step 1c: Replace Y with I</a:t>
            </a:r>
          </a:p>
          <a:p>
            <a:r>
              <a:rPr lang="en-US" dirty="0"/>
              <a:t>Word ends in </a:t>
            </a:r>
            <a:r>
              <a:rPr lang="en-US" i="1" dirty="0"/>
              <a:t>ss</a:t>
            </a:r>
            <a:r>
              <a:rPr lang="en-US" dirty="0"/>
              <a:t>, not </a:t>
            </a:r>
            <a:r>
              <a:rPr lang="en-US" i="1" dirty="0"/>
              <a:t>y</a:t>
            </a:r>
            <a:r>
              <a:rPr lang="en-US" dirty="0"/>
              <a:t> → ❌ No change.</a:t>
            </a:r>
          </a:p>
          <a:p>
            <a:r>
              <a:rPr lang="en-US" dirty="0"/>
              <a:t>✅ Result: </a:t>
            </a:r>
            <a:r>
              <a:rPr lang="en-US" b="1" dirty="0"/>
              <a:t>caress</a:t>
            </a:r>
            <a:endParaRPr lang="en-US" dirty="0"/>
          </a:p>
          <a:p>
            <a:endParaRPr lang="en-US" dirty="0"/>
          </a:p>
          <a:p>
            <a:endParaRPr lang="en-IN" dirty="0"/>
          </a:p>
        </p:txBody>
      </p:sp>
    </p:spTree>
    <p:extLst>
      <p:ext uri="{BB962C8B-B14F-4D97-AF65-F5344CB8AC3E}">
        <p14:creationId xmlns:p14="http://schemas.microsoft.com/office/powerpoint/2010/main" val="37937148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F0AA3E-7A98-69A6-BEAB-3CC1C8926092}"/>
              </a:ext>
            </a:extLst>
          </p:cNvPr>
          <p:cNvSpPr>
            <a:spLocks noGrp="1"/>
          </p:cNvSpPr>
          <p:nvPr>
            <p:ph idx="1"/>
          </p:nvPr>
        </p:nvSpPr>
        <p:spPr>
          <a:xfrm>
            <a:off x="838200" y="737419"/>
            <a:ext cx="10515600" cy="5439544"/>
          </a:xfrm>
        </p:spPr>
        <p:txBody>
          <a:bodyPr>
            <a:normAutofit lnSpcReduction="10000"/>
          </a:bodyPr>
          <a:lstStyle/>
          <a:p>
            <a:pPr marL="0" indent="0">
              <a:buNone/>
            </a:pPr>
            <a:r>
              <a:rPr lang="en-US" b="1" dirty="0"/>
              <a:t>Step 2: Long Suffix Replacement</a:t>
            </a:r>
          </a:p>
          <a:p>
            <a:r>
              <a:rPr lang="en-US" dirty="0"/>
              <a:t>Look for suffixes like </a:t>
            </a:r>
            <a:r>
              <a:rPr lang="en-US" i="1" dirty="0" err="1"/>
              <a:t>ational</a:t>
            </a:r>
            <a:r>
              <a:rPr lang="en-US" i="1" dirty="0"/>
              <a:t>, </a:t>
            </a:r>
            <a:r>
              <a:rPr lang="en-US" i="1" dirty="0" err="1"/>
              <a:t>tional</a:t>
            </a:r>
            <a:r>
              <a:rPr lang="en-US" i="1" dirty="0"/>
              <a:t>, </a:t>
            </a:r>
            <a:r>
              <a:rPr lang="en-US" i="1" dirty="0" err="1"/>
              <a:t>enci</a:t>
            </a:r>
            <a:r>
              <a:rPr lang="en-US" i="1" dirty="0"/>
              <a:t>, </a:t>
            </a:r>
            <a:r>
              <a:rPr lang="en-US" i="1" dirty="0" err="1"/>
              <a:t>ization</a:t>
            </a:r>
            <a:r>
              <a:rPr lang="en-US" i="1" dirty="0"/>
              <a:t>...</a:t>
            </a:r>
            <a:endParaRPr lang="en-US" dirty="0"/>
          </a:p>
          <a:p>
            <a:r>
              <a:rPr lang="en-US" dirty="0"/>
              <a:t>Word </a:t>
            </a:r>
            <a:r>
              <a:rPr lang="en-US" i="1" dirty="0"/>
              <a:t>caress</a:t>
            </a:r>
            <a:r>
              <a:rPr lang="en-US" dirty="0"/>
              <a:t> has none.</a:t>
            </a:r>
          </a:p>
          <a:p>
            <a:r>
              <a:rPr lang="en-US" dirty="0"/>
              <a:t>❌ No change.</a:t>
            </a:r>
          </a:p>
          <a:p>
            <a:r>
              <a:rPr lang="en-US" dirty="0"/>
              <a:t>✅ Result: </a:t>
            </a:r>
            <a:r>
              <a:rPr lang="en-US" b="1" dirty="0"/>
              <a:t>caress</a:t>
            </a:r>
          </a:p>
          <a:p>
            <a:endParaRPr lang="en-US" b="1" dirty="0"/>
          </a:p>
          <a:p>
            <a:pPr marL="0" indent="0">
              <a:buNone/>
            </a:pPr>
            <a:r>
              <a:rPr lang="en-US" b="1" dirty="0"/>
              <a:t>Step 3: Further Suffix Reduction</a:t>
            </a:r>
          </a:p>
          <a:p>
            <a:r>
              <a:rPr lang="en-US" dirty="0"/>
              <a:t>Rules like </a:t>
            </a:r>
            <a:r>
              <a:rPr lang="en-US" i="1" dirty="0" err="1"/>
              <a:t>icate</a:t>
            </a:r>
            <a:r>
              <a:rPr lang="en-US" i="1" dirty="0"/>
              <a:t> → </a:t>
            </a:r>
            <a:r>
              <a:rPr lang="en-US" i="1" dirty="0" err="1"/>
              <a:t>ic</a:t>
            </a:r>
            <a:r>
              <a:rPr lang="en-US" i="1" dirty="0"/>
              <a:t>, </a:t>
            </a:r>
            <a:r>
              <a:rPr lang="en-US" i="1" dirty="0" err="1"/>
              <a:t>ative</a:t>
            </a:r>
            <a:r>
              <a:rPr lang="en-US" i="1" dirty="0"/>
              <a:t> → "", </a:t>
            </a:r>
            <a:r>
              <a:rPr lang="en-US" i="1" dirty="0" err="1"/>
              <a:t>alize</a:t>
            </a:r>
            <a:r>
              <a:rPr lang="en-US" i="1" dirty="0"/>
              <a:t> → al...</a:t>
            </a:r>
            <a:endParaRPr lang="en-US" dirty="0"/>
          </a:p>
          <a:p>
            <a:r>
              <a:rPr lang="en-US" dirty="0"/>
              <a:t>Word </a:t>
            </a:r>
            <a:r>
              <a:rPr lang="en-US" i="1" dirty="0"/>
              <a:t>caress</a:t>
            </a:r>
            <a:r>
              <a:rPr lang="en-US" dirty="0"/>
              <a:t> has none.</a:t>
            </a:r>
          </a:p>
          <a:p>
            <a:r>
              <a:rPr lang="en-US" dirty="0"/>
              <a:t>❌ No change.</a:t>
            </a:r>
          </a:p>
          <a:p>
            <a:r>
              <a:rPr lang="en-US" dirty="0"/>
              <a:t>✅ Result: </a:t>
            </a:r>
            <a:r>
              <a:rPr lang="en-US" b="1" dirty="0"/>
              <a:t>caress</a:t>
            </a:r>
            <a:endParaRPr lang="en-US" dirty="0"/>
          </a:p>
          <a:p>
            <a:endParaRPr lang="en-US" dirty="0"/>
          </a:p>
          <a:p>
            <a:endParaRPr lang="en-IN" dirty="0"/>
          </a:p>
        </p:txBody>
      </p:sp>
    </p:spTree>
    <p:extLst>
      <p:ext uri="{BB962C8B-B14F-4D97-AF65-F5344CB8AC3E}">
        <p14:creationId xmlns:p14="http://schemas.microsoft.com/office/powerpoint/2010/main" val="20699829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67C801-838B-34C0-084A-E7ED4CF01DAA}"/>
              </a:ext>
            </a:extLst>
          </p:cNvPr>
          <p:cNvSpPr>
            <a:spLocks noGrp="1"/>
          </p:cNvSpPr>
          <p:nvPr>
            <p:ph idx="1"/>
          </p:nvPr>
        </p:nvSpPr>
        <p:spPr>
          <a:xfrm>
            <a:off x="838200" y="914400"/>
            <a:ext cx="10515600" cy="5262563"/>
          </a:xfrm>
        </p:spPr>
        <p:txBody>
          <a:bodyPr/>
          <a:lstStyle/>
          <a:p>
            <a:pPr marL="0" indent="0">
              <a:buNone/>
            </a:pPr>
            <a:r>
              <a:rPr lang="en-US" b="1" dirty="0"/>
              <a:t>Step 4: Common Suffix Removal</a:t>
            </a:r>
          </a:p>
          <a:p>
            <a:r>
              <a:rPr lang="en-US" dirty="0"/>
              <a:t>Suffixes: </a:t>
            </a:r>
            <a:r>
              <a:rPr lang="en-US" i="1" dirty="0"/>
              <a:t>al, </a:t>
            </a:r>
            <a:r>
              <a:rPr lang="en-US" i="1" dirty="0" err="1"/>
              <a:t>ance</a:t>
            </a:r>
            <a:r>
              <a:rPr lang="en-US" i="1" dirty="0"/>
              <a:t>, </a:t>
            </a:r>
            <a:r>
              <a:rPr lang="en-US" i="1" dirty="0" err="1"/>
              <a:t>ence</a:t>
            </a:r>
            <a:r>
              <a:rPr lang="en-US" i="1" dirty="0"/>
              <a:t>, er, </a:t>
            </a:r>
            <a:r>
              <a:rPr lang="en-US" i="1" dirty="0" err="1"/>
              <a:t>ic</a:t>
            </a:r>
            <a:r>
              <a:rPr lang="en-US" i="1" dirty="0"/>
              <a:t>, able, </a:t>
            </a:r>
            <a:r>
              <a:rPr lang="en-US" i="1" dirty="0" err="1"/>
              <a:t>ible</a:t>
            </a:r>
            <a:r>
              <a:rPr lang="en-US" i="1" dirty="0"/>
              <a:t>, ant, </a:t>
            </a:r>
            <a:r>
              <a:rPr lang="en-US" i="1" dirty="0" err="1"/>
              <a:t>ent</a:t>
            </a:r>
            <a:r>
              <a:rPr lang="en-US" i="1" dirty="0"/>
              <a:t>, ism, ate, </a:t>
            </a:r>
            <a:r>
              <a:rPr lang="en-US" i="1" dirty="0" err="1"/>
              <a:t>iti</a:t>
            </a:r>
            <a:r>
              <a:rPr lang="en-US" i="1" dirty="0"/>
              <a:t>, </a:t>
            </a:r>
            <a:r>
              <a:rPr lang="en-US" i="1" dirty="0" err="1"/>
              <a:t>ous</a:t>
            </a:r>
            <a:r>
              <a:rPr lang="en-US" i="1" dirty="0"/>
              <a:t>, </a:t>
            </a:r>
            <a:r>
              <a:rPr lang="en-US" i="1" dirty="0" err="1"/>
              <a:t>ive</a:t>
            </a:r>
            <a:r>
              <a:rPr lang="en-US" i="1" dirty="0"/>
              <a:t>, </a:t>
            </a:r>
            <a:r>
              <a:rPr lang="en-US" i="1" dirty="0" err="1"/>
              <a:t>ize</a:t>
            </a:r>
            <a:endParaRPr lang="en-US" dirty="0"/>
          </a:p>
          <a:p>
            <a:r>
              <a:rPr lang="en-US" dirty="0"/>
              <a:t>Word </a:t>
            </a:r>
            <a:r>
              <a:rPr lang="en-US" i="1" dirty="0"/>
              <a:t>caress</a:t>
            </a:r>
            <a:r>
              <a:rPr lang="en-US" dirty="0"/>
              <a:t> has none.</a:t>
            </a:r>
          </a:p>
          <a:p>
            <a:r>
              <a:rPr lang="en-US" dirty="0"/>
              <a:t>❌ No change.</a:t>
            </a:r>
          </a:p>
          <a:p>
            <a:r>
              <a:rPr lang="en-US" dirty="0"/>
              <a:t>✅ Result: </a:t>
            </a:r>
            <a:r>
              <a:rPr lang="en-US" b="1" dirty="0"/>
              <a:t>caress</a:t>
            </a:r>
            <a:endParaRPr lang="en-US" dirty="0"/>
          </a:p>
          <a:p>
            <a:endParaRPr lang="en-IN" dirty="0"/>
          </a:p>
        </p:txBody>
      </p:sp>
    </p:spTree>
    <p:extLst>
      <p:ext uri="{BB962C8B-B14F-4D97-AF65-F5344CB8AC3E}">
        <p14:creationId xmlns:p14="http://schemas.microsoft.com/office/powerpoint/2010/main" val="38011397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B694EA-7F5D-3898-CBE2-FDFC9DE9DDDF}"/>
              </a:ext>
            </a:extLst>
          </p:cNvPr>
          <p:cNvSpPr>
            <a:spLocks noGrp="1"/>
          </p:cNvSpPr>
          <p:nvPr>
            <p:ph idx="1"/>
          </p:nvPr>
        </p:nvSpPr>
        <p:spPr>
          <a:xfrm>
            <a:off x="838200" y="393290"/>
            <a:ext cx="10515600" cy="5783673"/>
          </a:xfrm>
        </p:spPr>
        <p:txBody>
          <a:bodyPr>
            <a:normAutofit lnSpcReduction="10000"/>
          </a:bodyPr>
          <a:lstStyle/>
          <a:p>
            <a:pPr marL="0" indent="0">
              <a:buNone/>
            </a:pPr>
            <a:r>
              <a:rPr lang="en-US" b="1" dirty="0"/>
              <a:t>Step 5a: Final -e Removal</a:t>
            </a:r>
          </a:p>
          <a:p>
            <a:r>
              <a:rPr lang="en-US" dirty="0"/>
              <a:t>Word ends with </a:t>
            </a:r>
            <a:r>
              <a:rPr lang="en-US" i="1" dirty="0"/>
              <a:t>ss</a:t>
            </a:r>
            <a:r>
              <a:rPr lang="en-US" dirty="0"/>
              <a:t>, not </a:t>
            </a:r>
            <a:r>
              <a:rPr lang="en-US" i="1" dirty="0"/>
              <a:t>e</a:t>
            </a:r>
            <a:r>
              <a:rPr lang="en-US" dirty="0"/>
              <a:t>.</a:t>
            </a:r>
          </a:p>
          <a:p>
            <a:r>
              <a:rPr lang="en-US" dirty="0"/>
              <a:t>❌ No change.</a:t>
            </a:r>
          </a:p>
          <a:p>
            <a:r>
              <a:rPr lang="en-US" dirty="0"/>
              <a:t>✅ Result: </a:t>
            </a:r>
            <a:r>
              <a:rPr lang="en-US" b="1" dirty="0"/>
              <a:t>caress</a:t>
            </a:r>
            <a:endParaRPr lang="en-US" dirty="0"/>
          </a:p>
          <a:p>
            <a:pPr marL="0" indent="0">
              <a:buNone/>
            </a:pPr>
            <a:br>
              <a:rPr lang="en-US" dirty="0"/>
            </a:br>
            <a:endParaRPr lang="en-US" dirty="0"/>
          </a:p>
          <a:p>
            <a:pPr marL="0" indent="0">
              <a:buNone/>
            </a:pPr>
            <a:r>
              <a:rPr lang="en-US" b="1" dirty="0"/>
              <a:t>Step 5b: Double L Rule</a:t>
            </a:r>
          </a:p>
          <a:p>
            <a:r>
              <a:rPr lang="en-US" dirty="0"/>
              <a:t>Word does not end in </a:t>
            </a:r>
            <a:r>
              <a:rPr lang="en-US" i="1" dirty="0"/>
              <a:t>ll</a:t>
            </a:r>
            <a:r>
              <a:rPr lang="en-US" dirty="0"/>
              <a:t>.</a:t>
            </a:r>
          </a:p>
          <a:p>
            <a:r>
              <a:rPr lang="en-US" dirty="0"/>
              <a:t>❌ No change.</a:t>
            </a:r>
          </a:p>
          <a:p>
            <a:r>
              <a:rPr lang="en-US" dirty="0"/>
              <a:t>✅ Result: </a:t>
            </a:r>
            <a:r>
              <a:rPr lang="en-US" b="1" dirty="0"/>
              <a:t>caress</a:t>
            </a:r>
          </a:p>
          <a:p>
            <a:endParaRPr lang="en-US" b="1" dirty="0"/>
          </a:p>
          <a:p>
            <a:pPr marL="0" indent="0">
              <a:buNone/>
            </a:pPr>
            <a:r>
              <a:rPr lang="en-IN" dirty="0"/>
              <a:t>Final Stemmed Word: </a:t>
            </a:r>
            <a:r>
              <a:rPr lang="en-IN" b="1" dirty="0"/>
              <a:t>caress</a:t>
            </a:r>
            <a:endParaRPr lang="en-US" dirty="0"/>
          </a:p>
        </p:txBody>
      </p:sp>
    </p:spTree>
    <p:extLst>
      <p:ext uri="{BB962C8B-B14F-4D97-AF65-F5344CB8AC3E}">
        <p14:creationId xmlns:p14="http://schemas.microsoft.com/office/powerpoint/2010/main" val="26046763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BD27AE-E542-0438-F2C6-048117F157DF}"/>
              </a:ext>
            </a:extLst>
          </p:cNvPr>
          <p:cNvSpPr txBox="1"/>
          <p:nvPr/>
        </p:nvSpPr>
        <p:spPr>
          <a:xfrm>
            <a:off x="1445342" y="668595"/>
            <a:ext cx="8298426" cy="2585323"/>
          </a:xfrm>
          <a:prstGeom prst="rect">
            <a:avLst/>
          </a:prstGeom>
          <a:noFill/>
        </p:spPr>
        <p:txBody>
          <a:bodyPr wrap="square">
            <a:spAutoFit/>
          </a:bodyPr>
          <a:lstStyle/>
          <a:p>
            <a:pPr>
              <a:buNone/>
            </a:pPr>
            <a:r>
              <a:rPr lang="en-IN" b="1" dirty="0"/>
              <a:t>Full Example Walkthrough</a:t>
            </a:r>
          </a:p>
          <a:p>
            <a:pPr>
              <a:buNone/>
            </a:pPr>
            <a:r>
              <a:rPr lang="en-IN" dirty="0"/>
              <a:t>Let’s trace the algorithm with </a:t>
            </a:r>
            <a:r>
              <a:rPr lang="en-IN" b="1" dirty="0"/>
              <a:t>word = “relational”</a:t>
            </a:r>
            <a:r>
              <a:rPr lang="en-IN" dirty="0"/>
              <a:t>:</a:t>
            </a:r>
          </a:p>
          <a:p>
            <a:pPr>
              <a:buFont typeface="+mj-lt"/>
              <a:buAutoNum type="arabicPeriod"/>
            </a:pPr>
            <a:r>
              <a:rPr lang="en-IN" b="1" dirty="0"/>
              <a:t>Step 1a:</a:t>
            </a:r>
            <a:r>
              <a:rPr lang="en-IN" dirty="0"/>
              <a:t> no plural → stays </a:t>
            </a:r>
            <a:r>
              <a:rPr lang="en-IN" i="1" dirty="0"/>
              <a:t>relational</a:t>
            </a:r>
            <a:endParaRPr lang="en-IN" dirty="0"/>
          </a:p>
          <a:p>
            <a:pPr>
              <a:buFont typeface="+mj-lt"/>
              <a:buAutoNum type="arabicPeriod"/>
            </a:pPr>
            <a:r>
              <a:rPr lang="en-IN" b="1" dirty="0"/>
              <a:t>Step 1b:</a:t>
            </a:r>
            <a:r>
              <a:rPr lang="en-IN" dirty="0"/>
              <a:t> no </a:t>
            </a:r>
            <a:r>
              <a:rPr lang="en-IN" i="1" dirty="0"/>
              <a:t>ed/</a:t>
            </a:r>
            <a:r>
              <a:rPr lang="en-IN" i="1" dirty="0" err="1"/>
              <a:t>ing</a:t>
            </a:r>
            <a:r>
              <a:rPr lang="en-IN" dirty="0"/>
              <a:t> → unchanged</a:t>
            </a:r>
          </a:p>
          <a:p>
            <a:pPr>
              <a:buFont typeface="+mj-lt"/>
              <a:buAutoNum type="arabicPeriod"/>
            </a:pPr>
            <a:r>
              <a:rPr lang="en-IN" b="1" dirty="0"/>
              <a:t>Step 1c:</a:t>
            </a:r>
            <a:r>
              <a:rPr lang="en-IN" dirty="0"/>
              <a:t> no final </a:t>
            </a:r>
            <a:r>
              <a:rPr lang="en-IN" i="1" dirty="0"/>
              <a:t>y</a:t>
            </a:r>
            <a:r>
              <a:rPr lang="en-IN" dirty="0"/>
              <a:t> → unchanged</a:t>
            </a:r>
          </a:p>
          <a:p>
            <a:pPr>
              <a:buFont typeface="+mj-lt"/>
              <a:buAutoNum type="arabicPeriod"/>
            </a:pPr>
            <a:r>
              <a:rPr lang="en-IN" b="1" dirty="0"/>
              <a:t>Step 2:</a:t>
            </a:r>
            <a:r>
              <a:rPr lang="en-IN" dirty="0"/>
              <a:t> </a:t>
            </a:r>
            <a:r>
              <a:rPr lang="en-IN" i="1" dirty="0" err="1"/>
              <a:t>ational</a:t>
            </a:r>
            <a:r>
              <a:rPr lang="en-IN" i="1" dirty="0"/>
              <a:t> → ate</a:t>
            </a:r>
            <a:r>
              <a:rPr lang="en-IN" dirty="0"/>
              <a:t> → </a:t>
            </a:r>
            <a:r>
              <a:rPr lang="en-IN" i="1" dirty="0"/>
              <a:t>relate</a:t>
            </a:r>
            <a:endParaRPr lang="en-IN" dirty="0"/>
          </a:p>
          <a:p>
            <a:pPr>
              <a:buFont typeface="+mj-lt"/>
              <a:buAutoNum type="arabicPeriod"/>
            </a:pPr>
            <a:r>
              <a:rPr lang="en-IN" b="1" dirty="0"/>
              <a:t>Step 3:</a:t>
            </a:r>
            <a:r>
              <a:rPr lang="en-IN" dirty="0"/>
              <a:t> no further suffix match</a:t>
            </a:r>
          </a:p>
          <a:p>
            <a:pPr>
              <a:buFont typeface="+mj-lt"/>
              <a:buAutoNum type="arabicPeriod"/>
            </a:pPr>
            <a:r>
              <a:rPr lang="en-IN" b="1" dirty="0"/>
              <a:t>Step 4:</a:t>
            </a:r>
            <a:r>
              <a:rPr lang="en-IN" dirty="0"/>
              <a:t> no removal</a:t>
            </a:r>
          </a:p>
          <a:p>
            <a:pPr>
              <a:buFont typeface="+mj-lt"/>
              <a:buAutoNum type="arabicPeriod"/>
            </a:pPr>
            <a:r>
              <a:rPr lang="en-IN" b="1" dirty="0"/>
              <a:t>Step 5a/5b:</a:t>
            </a:r>
            <a:r>
              <a:rPr lang="en-IN" dirty="0"/>
              <a:t> final </a:t>
            </a:r>
            <a:r>
              <a:rPr lang="en-IN" i="1" dirty="0"/>
              <a:t>e</a:t>
            </a:r>
            <a:r>
              <a:rPr lang="en-IN" dirty="0"/>
              <a:t> not removed → final stem = </a:t>
            </a:r>
            <a:r>
              <a:rPr lang="en-IN" b="1" dirty="0"/>
              <a:t>relate</a:t>
            </a:r>
            <a:endParaRPr lang="en-IN" dirty="0"/>
          </a:p>
        </p:txBody>
      </p:sp>
    </p:spTree>
    <p:extLst>
      <p:ext uri="{BB962C8B-B14F-4D97-AF65-F5344CB8AC3E}">
        <p14:creationId xmlns:p14="http://schemas.microsoft.com/office/powerpoint/2010/main" val="12227896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9A555-86BE-A086-F9A5-9A3D3250E6E9}"/>
              </a:ext>
            </a:extLst>
          </p:cNvPr>
          <p:cNvSpPr>
            <a:spLocks noGrp="1"/>
          </p:cNvSpPr>
          <p:nvPr>
            <p:ph type="title"/>
          </p:nvPr>
        </p:nvSpPr>
        <p:spPr/>
        <p:txBody>
          <a:bodyPr/>
          <a:lstStyle/>
          <a:p>
            <a:r>
              <a:rPr lang="en-IN" dirty="0"/>
              <a:t>Another Example: “Controllably”</a:t>
            </a:r>
          </a:p>
        </p:txBody>
      </p:sp>
      <p:graphicFrame>
        <p:nvGraphicFramePr>
          <p:cNvPr id="4" name="Content Placeholder 3">
            <a:extLst>
              <a:ext uri="{FF2B5EF4-FFF2-40B4-BE49-F238E27FC236}">
                <a16:creationId xmlns:a16="http://schemas.microsoft.com/office/drawing/2014/main" id="{3A7D0319-4330-FDCD-7E04-305E76659A6A}"/>
              </a:ext>
            </a:extLst>
          </p:cNvPr>
          <p:cNvGraphicFramePr>
            <a:graphicFrameLocks noGrp="1"/>
          </p:cNvGraphicFramePr>
          <p:nvPr>
            <p:ph idx="1"/>
            <p:extLst>
              <p:ext uri="{D42A27DB-BD31-4B8C-83A1-F6EECF244321}">
                <p14:modId xmlns:p14="http://schemas.microsoft.com/office/powerpoint/2010/main" val="3860827160"/>
              </p:ext>
            </p:extLst>
          </p:nvPr>
        </p:nvGraphicFramePr>
        <p:xfrm>
          <a:off x="838200" y="1524000"/>
          <a:ext cx="10515600" cy="5334003"/>
        </p:xfrm>
        <a:graphic>
          <a:graphicData uri="http://schemas.openxmlformats.org/drawingml/2006/table">
            <a:tbl>
              <a:tblPr/>
              <a:tblGrid>
                <a:gridCol w="3505200">
                  <a:extLst>
                    <a:ext uri="{9D8B030D-6E8A-4147-A177-3AD203B41FA5}">
                      <a16:colId xmlns:a16="http://schemas.microsoft.com/office/drawing/2014/main" val="2861180234"/>
                    </a:ext>
                  </a:extLst>
                </a:gridCol>
                <a:gridCol w="3505200">
                  <a:extLst>
                    <a:ext uri="{9D8B030D-6E8A-4147-A177-3AD203B41FA5}">
                      <a16:colId xmlns:a16="http://schemas.microsoft.com/office/drawing/2014/main" val="1731123092"/>
                    </a:ext>
                  </a:extLst>
                </a:gridCol>
                <a:gridCol w="3505200">
                  <a:extLst>
                    <a:ext uri="{9D8B030D-6E8A-4147-A177-3AD203B41FA5}">
                      <a16:colId xmlns:a16="http://schemas.microsoft.com/office/drawing/2014/main" val="3561519183"/>
                    </a:ext>
                  </a:extLst>
                </a:gridCol>
              </a:tblGrid>
              <a:tr h="592667">
                <a:tc>
                  <a:txBody>
                    <a:bodyPr/>
                    <a:lstStyle/>
                    <a:p>
                      <a:pPr>
                        <a:buNone/>
                      </a:pPr>
                      <a:r>
                        <a:rPr lang="en-IN" b="1" dirty="0"/>
                        <a:t>Step</a:t>
                      </a:r>
                    </a:p>
                  </a:txBody>
                  <a:tcPr anchor="ctr">
                    <a:lnL>
                      <a:noFill/>
                    </a:lnL>
                    <a:lnR>
                      <a:noFill/>
                    </a:lnR>
                    <a:lnT>
                      <a:noFill/>
                    </a:lnT>
                    <a:lnB>
                      <a:noFill/>
                    </a:lnB>
                    <a:noFill/>
                  </a:tcPr>
                </a:tc>
                <a:tc>
                  <a:txBody>
                    <a:bodyPr/>
                    <a:lstStyle/>
                    <a:p>
                      <a:pPr>
                        <a:buNone/>
                      </a:pPr>
                      <a:r>
                        <a:rPr lang="en-IN" b="1" dirty="0"/>
                        <a:t>Action</a:t>
                      </a:r>
                    </a:p>
                  </a:txBody>
                  <a:tcPr anchor="ctr">
                    <a:lnL>
                      <a:noFill/>
                    </a:lnL>
                    <a:lnR>
                      <a:noFill/>
                    </a:lnR>
                    <a:lnT>
                      <a:noFill/>
                    </a:lnT>
                    <a:lnB>
                      <a:noFill/>
                    </a:lnB>
                    <a:noFill/>
                  </a:tcPr>
                </a:tc>
                <a:tc>
                  <a:txBody>
                    <a:bodyPr/>
                    <a:lstStyle/>
                    <a:p>
                      <a:pPr>
                        <a:buNone/>
                      </a:pPr>
                      <a:r>
                        <a:rPr lang="en-IN" b="1" dirty="0"/>
                        <a:t>Result</a:t>
                      </a:r>
                    </a:p>
                  </a:txBody>
                  <a:tcPr anchor="ctr">
                    <a:lnL>
                      <a:noFill/>
                    </a:lnL>
                    <a:lnR>
                      <a:noFill/>
                    </a:lnR>
                    <a:lnT>
                      <a:noFill/>
                    </a:lnT>
                    <a:lnB>
                      <a:noFill/>
                    </a:lnB>
                    <a:noFill/>
                  </a:tcPr>
                </a:tc>
                <a:extLst>
                  <a:ext uri="{0D108BD9-81ED-4DB2-BD59-A6C34878D82A}">
                    <a16:rowId xmlns:a16="http://schemas.microsoft.com/office/drawing/2014/main" val="1604319409"/>
                  </a:ext>
                </a:extLst>
              </a:tr>
              <a:tr h="592667">
                <a:tc>
                  <a:txBody>
                    <a:bodyPr/>
                    <a:lstStyle/>
                    <a:p>
                      <a:pPr>
                        <a:buNone/>
                      </a:pPr>
                      <a:r>
                        <a:rPr lang="en-IN"/>
                        <a:t>Step 1a</a:t>
                      </a:r>
                    </a:p>
                  </a:txBody>
                  <a:tcPr anchor="ctr">
                    <a:lnL>
                      <a:noFill/>
                    </a:lnL>
                    <a:lnR>
                      <a:noFill/>
                    </a:lnR>
                    <a:lnT>
                      <a:noFill/>
                    </a:lnT>
                    <a:lnB>
                      <a:noFill/>
                    </a:lnB>
                    <a:noFill/>
                  </a:tcPr>
                </a:tc>
                <a:tc>
                  <a:txBody>
                    <a:bodyPr/>
                    <a:lstStyle/>
                    <a:p>
                      <a:pPr>
                        <a:buNone/>
                      </a:pPr>
                      <a:r>
                        <a:rPr lang="en-IN"/>
                        <a:t>no plural suffix</a:t>
                      </a:r>
                    </a:p>
                  </a:txBody>
                  <a:tcPr anchor="ctr">
                    <a:lnL>
                      <a:noFill/>
                    </a:lnL>
                    <a:lnR>
                      <a:noFill/>
                    </a:lnR>
                    <a:lnT>
                      <a:noFill/>
                    </a:lnT>
                    <a:lnB>
                      <a:noFill/>
                    </a:lnB>
                    <a:noFill/>
                  </a:tcPr>
                </a:tc>
                <a:tc>
                  <a:txBody>
                    <a:bodyPr/>
                    <a:lstStyle/>
                    <a:p>
                      <a:pPr>
                        <a:buNone/>
                      </a:pPr>
                      <a:r>
                        <a:rPr lang="en-IN"/>
                        <a:t>controllably</a:t>
                      </a:r>
                    </a:p>
                  </a:txBody>
                  <a:tcPr anchor="ctr">
                    <a:lnL>
                      <a:noFill/>
                    </a:lnL>
                    <a:lnR>
                      <a:noFill/>
                    </a:lnR>
                    <a:lnT>
                      <a:noFill/>
                    </a:lnT>
                    <a:lnB>
                      <a:noFill/>
                    </a:lnB>
                    <a:noFill/>
                  </a:tcPr>
                </a:tc>
                <a:extLst>
                  <a:ext uri="{0D108BD9-81ED-4DB2-BD59-A6C34878D82A}">
                    <a16:rowId xmlns:a16="http://schemas.microsoft.com/office/drawing/2014/main" val="2195068013"/>
                  </a:ext>
                </a:extLst>
              </a:tr>
              <a:tr h="592667">
                <a:tc>
                  <a:txBody>
                    <a:bodyPr/>
                    <a:lstStyle/>
                    <a:p>
                      <a:pPr>
                        <a:buNone/>
                      </a:pPr>
                      <a:r>
                        <a:rPr lang="en-IN"/>
                        <a:t>Step 1b</a:t>
                      </a:r>
                    </a:p>
                  </a:txBody>
                  <a:tcPr anchor="ctr">
                    <a:lnL>
                      <a:noFill/>
                    </a:lnL>
                    <a:lnR>
                      <a:noFill/>
                    </a:lnR>
                    <a:lnT>
                      <a:noFill/>
                    </a:lnT>
                    <a:lnB>
                      <a:noFill/>
                    </a:lnB>
                    <a:noFill/>
                  </a:tcPr>
                </a:tc>
                <a:tc>
                  <a:txBody>
                    <a:bodyPr/>
                    <a:lstStyle/>
                    <a:p>
                      <a:pPr>
                        <a:buNone/>
                      </a:pPr>
                      <a:r>
                        <a:rPr lang="en-IN"/>
                        <a:t>no </a:t>
                      </a:r>
                      <a:r>
                        <a:rPr lang="en-IN" i="1"/>
                        <a:t>ed/ing</a:t>
                      </a:r>
                      <a:endParaRPr lang="en-IN"/>
                    </a:p>
                  </a:txBody>
                  <a:tcPr anchor="ctr">
                    <a:lnL>
                      <a:noFill/>
                    </a:lnL>
                    <a:lnR>
                      <a:noFill/>
                    </a:lnR>
                    <a:lnT>
                      <a:noFill/>
                    </a:lnT>
                    <a:lnB>
                      <a:noFill/>
                    </a:lnB>
                    <a:noFill/>
                  </a:tcPr>
                </a:tc>
                <a:tc>
                  <a:txBody>
                    <a:bodyPr/>
                    <a:lstStyle/>
                    <a:p>
                      <a:pPr>
                        <a:buNone/>
                      </a:pPr>
                      <a:r>
                        <a:rPr lang="en-IN"/>
                        <a:t>controllably</a:t>
                      </a:r>
                    </a:p>
                  </a:txBody>
                  <a:tcPr anchor="ctr">
                    <a:lnL>
                      <a:noFill/>
                    </a:lnL>
                    <a:lnR>
                      <a:noFill/>
                    </a:lnR>
                    <a:lnT>
                      <a:noFill/>
                    </a:lnT>
                    <a:lnB>
                      <a:noFill/>
                    </a:lnB>
                    <a:noFill/>
                  </a:tcPr>
                </a:tc>
                <a:extLst>
                  <a:ext uri="{0D108BD9-81ED-4DB2-BD59-A6C34878D82A}">
                    <a16:rowId xmlns:a16="http://schemas.microsoft.com/office/drawing/2014/main" val="2475684242"/>
                  </a:ext>
                </a:extLst>
              </a:tr>
              <a:tr h="592667">
                <a:tc>
                  <a:txBody>
                    <a:bodyPr/>
                    <a:lstStyle/>
                    <a:p>
                      <a:pPr>
                        <a:buNone/>
                      </a:pPr>
                      <a:r>
                        <a:rPr lang="en-IN"/>
                        <a:t>Step 1c</a:t>
                      </a:r>
                    </a:p>
                  </a:txBody>
                  <a:tcPr anchor="ctr">
                    <a:lnL>
                      <a:noFill/>
                    </a:lnL>
                    <a:lnR>
                      <a:noFill/>
                    </a:lnR>
                    <a:lnT>
                      <a:noFill/>
                    </a:lnT>
                    <a:lnB>
                      <a:noFill/>
                    </a:lnB>
                    <a:noFill/>
                  </a:tcPr>
                </a:tc>
                <a:tc>
                  <a:txBody>
                    <a:bodyPr/>
                    <a:lstStyle/>
                    <a:p>
                      <a:pPr>
                        <a:buNone/>
                      </a:pPr>
                      <a:r>
                        <a:rPr lang="en-IN"/>
                        <a:t>no </a:t>
                      </a:r>
                      <a:r>
                        <a:rPr lang="en-IN" i="1"/>
                        <a:t>y → i</a:t>
                      </a:r>
                      <a:endParaRPr lang="en-IN"/>
                    </a:p>
                  </a:txBody>
                  <a:tcPr anchor="ctr">
                    <a:lnL>
                      <a:noFill/>
                    </a:lnL>
                    <a:lnR>
                      <a:noFill/>
                    </a:lnR>
                    <a:lnT>
                      <a:noFill/>
                    </a:lnT>
                    <a:lnB>
                      <a:noFill/>
                    </a:lnB>
                    <a:noFill/>
                  </a:tcPr>
                </a:tc>
                <a:tc>
                  <a:txBody>
                    <a:bodyPr/>
                    <a:lstStyle/>
                    <a:p>
                      <a:pPr>
                        <a:buNone/>
                      </a:pPr>
                      <a:r>
                        <a:rPr lang="en-IN"/>
                        <a:t>controllably</a:t>
                      </a:r>
                    </a:p>
                  </a:txBody>
                  <a:tcPr anchor="ctr">
                    <a:lnL>
                      <a:noFill/>
                    </a:lnL>
                    <a:lnR>
                      <a:noFill/>
                    </a:lnR>
                    <a:lnT>
                      <a:noFill/>
                    </a:lnT>
                    <a:lnB>
                      <a:noFill/>
                    </a:lnB>
                    <a:noFill/>
                  </a:tcPr>
                </a:tc>
                <a:extLst>
                  <a:ext uri="{0D108BD9-81ED-4DB2-BD59-A6C34878D82A}">
                    <a16:rowId xmlns:a16="http://schemas.microsoft.com/office/drawing/2014/main" val="409084951"/>
                  </a:ext>
                </a:extLst>
              </a:tr>
              <a:tr h="592667">
                <a:tc>
                  <a:txBody>
                    <a:bodyPr/>
                    <a:lstStyle/>
                    <a:p>
                      <a:pPr>
                        <a:buNone/>
                      </a:pPr>
                      <a:r>
                        <a:rPr lang="en-IN"/>
                        <a:t>Step 2</a:t>
                      </a:r>
                    </a:p>
                  </a:txBody>
                  <a:tcPr anchor="ctr">
                    <a:lnL>
                      <a:noFill/>
                    </a:lnL>
                    <a:lnR>
                      <a:noFill/>
                    </a:lnR>
                    <a:lnT>
                      <a:noFill/>
                    </a:lnT>
                    <a:lnB>
                      <a:noFill/>
                    </a:lnB>
                    <a:noFill/>
                  </a:tcPr>
                </a:tc>
                <a:tc>
                  <a:txBody>
                    <a:bodyPr/>
                    <a:lstStyle/>
                    <a:p>
                      <a:pPr>
                        <a:buNone/>
                      </a:pPr>
                      <a:r>
                        <a:rPr lang="en-IN" i="1"/>
                        <a:t>ably → able</a:t>
                      </a:r>
                      <a:endParaRPr lang="en-IN"/>
                    </a:p>
                  </a:txBody>
                  <a:tcPr anchor="ctr">
                    <a:lnL>
                      <a:noFill/>
                    </a:lnL>
                    <a:lnR>
                      <a:noFill/>
                    </a:lnR>
                    <a:lnT>
                      <a:noFill/>
                    </a:lnT>
                    <a:lnB>
                      <a:noFill/>
                    </a:lnB>
                    <a:noFill/>
                  </a:tcPr>
                </a:tc>
                <a:tc>
                  <a:txBody>
                    <a:bodyPr/>
                    <a:lstStyle/>
                    <a:p>
                      <a:pPr>
                        <a:buNone/>
                      </a:pPr>
                      <a:r>
                        <a:rPr lang="en-IN"/>
                        <a:t>controllable</a:t>
                      </a:r>
                    </a:p>
                  </a:txBody>
                  <a:tcPr anchor="ctr">
                    <a:lnL>
                      <a:noFill/>
                    </a:lnL>
                    <a:lnR>
                      <a:noFill/>
                    </a:lnR>
                    <a:lnT>
                      <a:noFill/>
                    </a:lnT>
                    <a:lnB>
                      <a:noFill/>
                    </a:lnB>
                    <a:noFill/>
                  </a:tcPr>
                </a:tc>
                <a:extLst>
                  <a:ext uri="{0D108BD9-81ED-4DB2-BD59-A6C34878D82A}">
                    <a16:rowId xmlns:a16="http://schemas.microsoft.com/office/drawing/2014/main" val="2585062767"/>
                  </a:ext>
                </a:extLst>
              </a:tr>
              <a:tr h="592667">
                <a:tc>
                  <a:txBody>
                    <a:bodyPr/>
                    <a:lstStyle/>
                    <a:p>
                      <a:pPr>
                        <a:buNone/>
                      </a:pPr>
                      <a:r>
                        <a:rPr lang="en-IN"/>
                        <a:t>Step 3</a:t>
                      </a:r>
                    </a:p>
                  </a:txBody>
                  <a:tcPr anchor="ctr">
                    <a:lnL>
                      <a:noFill/>
                    </a:lnL>
                    <a:lnR>
                      <a:noFill/>
                    </a:lnR>
                    <a:lnT>
                      <a:noFill/>
                    </a:lnT>
                    <a:lnB>
                      <a:noFill/>
                    </a:lnB>
                    <a:noFill/>
                  </a:tcPr>
                </a:tc>
                <a:tc>
                  <a:txBody>
                    <a:bodyPr/>
                    <a:lstStyle/>
                    <a:p>
                      <a:pPr>
                        <a:buNone/>
                      </a:pPr>
                      <a:r>
                        <a:rPr lang="en-US"/>
                        <a:t>remove </a:t>
                      </a:r>
                      <a:r>
                        <a:rPr lang="en-US" i="1"/>
                        <a:t>able → NULL</a:t>
                      </a:r>
                      <a:r>
                        <a:rPr lang="en-US"/>
                        <a:t> (m&gt;0)</a:t>
                      </a:r>
                    </a:p>
                  </a:txBody>
                  <a:tcPr anchor="ctr">
                    <a:lnL>
                      <a:noFill/>
                    </a:lnL>
                    <a:lnR>
                      <a:noFill/>
                    </a:lnR>
                    <a:lnT>
                      <a:noFill/>
                    </a:lnT>
                    <a:lnB>
                      <a:noFill/>
                    </a:lnB>
                    <a:noFill/>
                  </a:tcPr>
                </a:tc>
                <a:tc>
                  <a:txBody>
                    <a:bodyPr/>
                    <a:lstStyle/>
                    <a:p>
                      <a:pPr>
                        <a:buNone/>
                      </a:pPr>
                      <a:r>
                        <a:rPr lang="en-IN"/>
                        <a:t>controll</a:t>
                      </a:r>
                    </a:p>
                  </a:txBody>
                  <a:tcPr anchor="ctr">
                    <a:lnL>
                      <a:noFill/>
                    </a:lnL>
                    <a:lnR>
                      <a:noFill/>
                    </a:lnR>
                    <a:lnT>
                      <a:noFill/>
                    </a:lnT>
                    <a:lnB>
                      <a:noFill/>
                    </a:lnB>
                    <a:noFill/>
                  </a:tcPr>
                </a:tc>
                <a:extLst>
                  <a:ext uri="{0D108BD9-81ED-4DB2-BD59-A6C34878D82A}">
                    <a16:rowId xmlns:a16="http://schemas.microsoft.com/office/drawing/2014/main" val="2619876216"/>
                  </a:ext>
                </a:extLst>
              </a:tr>
              <a:tr h="592667">
                <a:tc>
                  <a:txBody>
                    <a:bodyPr/>
                    <a:lstStyle/>
                    <a:p>
                      <a:pPr>
                        <a:buNone/>
                      </a:pPr>
                      <a:r>
                        <a:rPr lang="en-IN"/>
                        <a:t>Step 4</a:t>
                      </a:r>
                    </a:p>
                  </a:txBody>
                  <a:tcPr anchor="ctr">
                    <a:lnL>
                      <a:noFill/>
                    </a:lnL>
                    <a:lnR>
                      <a:noFill/>
                    </a:lnR>
                    <a:lnT>
                      <a:noFill/>
                    </a:lnT>
                    <a:lnB>
                      <a:noFill/>
                    </a:lnB>
                    <a:noFill/>
                  </a:tcPr>
                </a:tc>
                <a:tc>
                  <a:txBody>
                    <a:bodyPr/>
                    <a:lstStyle/>
                    <a:p>
                      <a:pPr>
                        <a:buNone/>
                      </a:pPr>
                      <a:r>
                        <a:rPr lang="en-US"/>
                        <a:t>check for other suffixes (none)</a:t>
                      </a:r>
                    </a:p>
                  </a:txBody>
                  <a:tcPr anchor="ctr">
                    <a:lnL>
                      <a:noFill/>
                    </a:lnL>
                    <a:lnR>
                      <a:noFill/>
                    </a:lnR>
                    <a:lnT>
                      <a:noFill/>
                    </a:lnT>
                    <a:lnB>
                      <a:noFill/>
                    </a:lnB>
                    <a:noFill/>
                  </a:tcPr>
                </a:tc>
                <a:tc>
                  <a:txBody>
                    <a:bodyPr/>
                    <a:lstStyle/>
                    <a:p>
                      <a:pPr>
                        <a:buNone/>
                      </a:pPr>
                      <a:r>
                        <a:rPr lang="en-IN"/>
                        <a:t>controll</a:t>
                      </a:r>
                    </a:p>
                  </a:txBody>
                  <a:tcPr anchor="ctr">
                    <a:lnL>
                      <a:noFill/>
                    </a:lnL>
                    <a:lnR>
                      <a:noFill/>
                    </a:lnR>
                    <a:lnT>
                      <a:noFill/>
                    </a:lnT>
                    <a:lnB>
                      <a:noFill/>
                    </a:lnB>
                    <a:noFill/>
                  </a:tcPr>
                </a:tc>
                <a:extLst>
                  <a:ext uri="{0D108BD9-81ED-4DB2-BD59-A6C34878D82A}">
                    <a16:rowId xmlns:a16="http://schemas.microsoft.com/office/drawing/2014/main" val="539216491"/>
                  </a:ext>
                </a:extLst>
              </a:tr>
              <a:tr h="592667">
                <a:tc>
                  <a:txBody>
                    <a:bodyPr/>
                    <a:lstStyle/>
                    <a:p>
                      <a:pPr>
                        <a:buNone/>
                      </a:pPr>
                      <a:r>
                        <a:rPr lang="en-IN"/>
                        <a:t>Step 5a</a:t>
                      </a:r>
                    </a:p>
                  </a:txBody>
                  <a:tcPr anchor="ctr">
                    <a:lnL>
                      <a:noFill/>
                    </a:lnL>
                    <a:lnR>
                      <a:noFill/>
                    </a:lnR>
                    <a:lnT>
                      <a:noFill/>
                    </a:lnT>
                    <a:lnB>
                      <a:noFill/>
                    </a:lnB>
                    <a:noFill/>
                  </a:tcPr>
                </a:tc>
                <a:tc>
                  <a:txBody>
                    <a:bodyPr/>
                    <a:lstStyle/>
                    <a:p>
                      <a:pPr>
                        <a:buNone/>
                      </a:pPr>
                      <a:r>
                        <a:rPr lang="en-IN"/>
                        <a:t>no final e</a:t>
                      </a:r>
                    </a:p>
                  </a:txBody>
                  <a:tcPr anchor="ctr">
                    <a:lnL>
                      <a:noFill/>
                    </a:lnL>
                    <a:lnR>
                      <a:noFill/>
                    </a:lnR>
                    <a:lnT>
                      <a:noFill/>
                    </a:lnT>
                    <a:lnB>
                      <a:noFill/>
                    </a:lnB>
                    <a:noFill/>
                  </a:tcPr>
                </a:tc>
                <a:tc>
                  <a:txBody>
                    <a:bodyPr/>
                    <a:lstStyle/>
                    <a:p>
                      <a:pPr>
                        <a:buNone/>
                      </a:pPr>
                      <a:r>
                        <a:rPr lang="en-IN"/>
                        <a:t>controll</a:t>
                      </a:r>
                    </a:p>
                  </a:txBody>
                  <a:tcPr anchor="ctr">
                    <a:lnL>
                      <a:noFill/>
                    </a:lnL>
                    <a:lnR>
                      <a:noFill/>
                    </a:lnR>
                    <a:lnT>
                      <a:noFill/>
                    </a:lnT>
                    <a:lnB>
                      <a:noFill/>
                    </a:lnB>
                    <a:noFill/>
                  </a:tcPr>
                </a:tc>
                <a:extLst>
                  <a:ext uri="{0D108BD9-81ED-4DB2-BD59-A6C34878D82A}">
                    <a16:rowId xmlns:a16="http://schemas.microsoft.com/office/drawing/2014/main" val="3817514465"/>
                  </a:ext>
                </a:extLst>
              </a:tr>
              <a:tr h="592667">
                <a:tc>
                  <a:txBody>
                    <a:bodyPr/>
                    <a:lstStyle/>
                    <a:p>
                      <a:pPr>
                        <a:buNone/>
                      </a:pPr>
                      <a:r>
                        <a:rPr lang="en-IN"/>
                        <a:t>Step 5b</a:t>
                      </a:r>
                    </a:p>
                  </a:txBody>
                  <a:tcPr anchor="ctr">
                    <a:lnL>
                      <a:noFill/>
                    </a:lnL>
                    <a:lnR>
                      <a:noFill/>
                    </a:lnR>
                    <a:lnT>
                      <a:noFill/>
                    </a:lnT>
                    <a:lnB>
                      <a:noFill/>
                    </a:lnB>
                    <a:noFill/>
                  </a:tcPr>
                </a:tc>
                <a:tc>
                  <a:txBody>
                    <a:bodyPr/>
                    <a:lstStyle/>
                    <a:p>
                      <a:pPr>
                        <a:buNone/>
                      </a:pPr>
                      <a:r>
                        <a:rPr lang="en-US"/>
                        <a:t>ends with </a:t>
                      </a:r>
                      <a:r>
                        <a:rPr lang="en-US" i="1"/>
                        <a:t>ll</a:t>
                      </a:r>
                      <a:r>
                        <a:rPr lang="en-US"/>
                        <a:t>, m&gt;1 → remove one</a:t>
                      </a:r>
                    </a:p>
                  </a:txBody>
                  <a:tcPr anchor="ctr">
                    <a:lnL>
                      <a:noFill/>
                    </a:lnL>
                    <a:lnR>
                      <a:noFill/>
                    </a:lnR>
                    <a:lnT>
                      <a:noFill/>
                    </a:lnT>
                    <a:lnB>
                      <a:noFill/>
                    </a:lnB>
                    <a:noFill/>
                  </a:tcPr>
                </a:tc>
                <a:tc>
                  <a:txBody>
                    <a:bodyPr/>
                    <a:lstStyle/>
                    <a:p>
                      <a:pPr>
                        <a:buNone/>
                      </a:pPr>
                      <a:r>
                        <a:rPr lang="en-IN" b="1" dirty="0"/>
                        <a:t>control</a:t>
                      </a:r>
                      <a:endParaRPr lang="en-IN" dirty="0"/>
                    </a:p>
                  </a:txBody>
                  <a:tcPr anchor="ctr">
                    <a:lnL>
                      <a:noFill/>
                    </a:lnL>
                    <a:lnR>
                      <a:noFill/>
                    </a:lnR>
                    <a:lnT>
                      <a:noFill/>
                    </a:lnT>
                    <a:lnB>
                      <a:noFill/>
                    </a:lnB>
                    <a:noFill/>
                  </a:tcPr>
                </a:tc>
                <a:extLst>
                  <a:ext uri="{0D108BD9-81ED-4DB2-BD59-A6C34878D82A}">
                    <a16:rowId xmlns:a16="http://schemas.microsoft.com/office/drawing/2014/main" val="111297547"/>
                  </a:ext>
                </a:extLst>
              </a:tr>
            </a:tbl>
          </a:graphicData>
        </a:graphic>
      </p:graphicFrame>
    </p:spTree>
    <p:extLst>
      <p:ext uri="{BB962C8B-B14F-4D97-AF65-F5344CB8AC3E}">
        <p14:creationId xmlns:p14="http://schemas.microsoft.com/office/powerpoint/2010/main" val="23494089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D508E-A471-D7CA-6677-E7A848EB21B8}"/>
              </a:ext>
            </a:extLst>
          </p:cNvPr>
          <p:cNvSpPr>
            <a:spLocks noGrp="1"/>
          </p:cNvSpPr>
          <p:nvPr>
            <p:ph type="title"/>
          </p:nvPr>
        </p:nvSpPr>
        <p:spPr>
          <a:xfrm>
            <a:off x="838200" y="365125"/>
            <a:ext cx="10515600" cy="752475"/>
          </a:xfrm>
        </p:spPr>
        <p:txBody>
          <a:bodyPr/>
          <a:lstStyle/>
          <a:p>
            <a:r>
              <a:rPr lang="en-IN" b="1" dirty="0"/>
              <a:t>EXPERIMENTAL EVALUATIONS OF STEMMING</a:t>
            </a:r>
            <a:endParaRPr lang="en-IN" dirty="0"/>
          </a:p>
        </p:txBody>
      </p:sp>
      <p:sp>
        <p:nvSpPr>
          <p:cNvPr id="3" name="Content Placeholder 2">
            <a:extLst>
              <a:ext uri="{FF2B5EF4-FFF2-40B4-BE49-F238E27FC236}">
                <a16:creationId xmlns:a16="http://schemas.microsoft.com/office/drawing/2014/main" id="{D293F170-F794-366C-AA7E-FED01097FB84}"/>
              </a:ext>
            </a:extLst>
          </p:cNvPr>
          <p:cNvSpPr>
            <a:spLocks noGrp="1"/>
          </p:cNvSpPr>
          <p:nvPr>
            <p:ph idx="1"/>
          </p:nvPr>
        </p:nvSpPr>
        <p:spPr>
          <a:xfrm>
            <a:off x="838200" y="1280160"/>
            <a:ext cx="10515600" cy="5303520"/>
          </a:xfrm>
        </p:spPr>
        <p:txBody>
          <a:bodyPr>
            <a:normAutofit fontScale="92500" lnSpcReduction="20000"/>
          </a:bodyPr>
          <a:lstStyle/>
          <a:p>
            <a:pPr algn="just"/>
            <a:r>
              <a:rPr lang="en-US" b="1" dirty="0"/>
              <a:t>Salton (1968) </a:t>
            </a:r>
            <a:r>
              <a:rPr lang="en-US" dirty="0"/>
              <a:t>examined the relative retrieval performance of fully stemmed terms against terms with only the suffix "s" removed. </a:t>
            </a:r>
          </a:p>
          <a:p>
            <a:pPr algn="just"/>
            <a:r>
              <a:rPr lang="en-US" dirty="0"/>
              <a:t>Three document collections were used in these studies: the </a:t>
            </a:r>
            <a:r>
              <a:rPr lang="en-US" b="1" dirty="0"/>
              <a:t>IRE-3 collection </a:t>
            </a:r>
            <a:r>
              <a:rPr lang="en-US" dirty="0"/>
              <a:t>consisting of 780 computer science abstracts and 34 search requests, the </a:t>
            </a:r>
            <a:r>
              <a:rPr lang="en-US" b="1" dirty="0"/>
              <a:t>ADI collection </a:t>
            </a:r>
            <a:r>
              <a:rPr lang="en-US" dirty="0"/>
              <a:t>consisting of 82 papers and 35 search requests, and the </a:t>
            </a:r>
            <a:r>
              <a:rPr lang="en-US" b="1" dirty="0"/>
              <a:t>Cranfield-1 collection </a:t>
            </a:r>
            <a:r>
              <a:rPr lang="en-US" dirty="0"/>
              <a:t>consisting of 200 aerodynamics abstracts and 42 search requests. </a:t>
            </a:r>
          </a:p>
          <a:p>
            <a:pPr algn="just"/>
            <a:r>
              <a:rPr lang="en-US" dirty="0"/>
              <a:t>Differences between the two conflation methods, fully stemmed and "s" stemmed, were calculated on 14 dependent variables for each query: rank recall, log precision, normalized recall, normalized precision, and precision for ten recall levels. </a:t>
            </a:r>
          </a:p>
          <a:p>
            <a:pPr algn="just"/>
            <a:r>
              <a:rPr lang="en-US" dirty="0"/>
              <a:t>This data was analyzed using both related group t tests(The same subjects  are tested </a:t>
            </a:r>
            <a:r>
              <a:rPr lang="en-US" b="1" dirty="0"/>
              <a:t>twice</a:t>
            </a:r>
            <a:r>
              <a:rPr lang="en-US" dirty="0"/>
              <a:t> under </a:t>
            </a:r>
            <a:r>
              <a:rPr lang="en-US" b="1" dirty="0"/>
              <a:t>two conditions</a:t>
            </a:r>
            <a:r>
              <a:rPr lang="en-US" dirty="0"/>
              <a:t>.-before and after stemming) and sign tests(To check whether one condition tends to produce </a:t>
            </a:r>
            <a:r>
              <a:rPr lang="en-US" b="1" dirty="0"/>
              <a:t>larger</a:t>
            </a:r>
            <a:r>
              <a:rPr lang="en-US" dirty="0"/>
              <a:t> or </a:t>
            </a:r>
            <a:r>
              <a:rPr lang="en-US" b="1" dirty="0"/>
              <a:t>smaller</a:t>
            </a:r>
            <a:r>
              <a:rPr lang="en-US" dirty="0"/>
              <a:t> results than another. It only considers </a:t>
            </a:r>
            <a:r>
              <a:rPr lang="en-US" b="1" dirty="0"/>
              <a:t>+</a:t>
            </a:r>
            <a:r>
              <a:rPr lang="en-US" dirty="0"/>
              <a:t> or </a:t>
            </a:r>
            <a:r>
              <a:rPr lang="en-US" b="1" dirty="0"/>
              <a:t>−</a:t>
            </a:r>
            <a:r>
              <a:rPr lang="en-US" dirty="0"/>
              <a:t> signs of differences, ignoring how big they are.).</a:t>
            </a:r>
          </a:p>
        </p:txBody>
      </p:sp>
    </p:spTree>
    <p:extLst>
      <p:ext uri="{BB962C8B-B14F-4D97-AF65-F5344CB8AC3E}">
        <p14:creationId xmlns:p14="http://schemas.microsoft.com/office/powerpoint/2010/main" val="5941617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BF7C27-6296-FF63-B931-F3802EB69C68}"/>
              </a:ext>
            </a:extLst>
          </p:cNvPr>
          <p:cNvSpPr>
            <a:spLocks noGrp="1"/>
          </p:cNvSpPr>
          <p:nvPr>
            <p:ph idx="1"/>
          </p:nvPr>
        </p:nvSpPr>
        <p:spPr>
          <a:xfrm>
            <a:off x="838200" y="690880"/>
            <a:ext cx="10515600" cy="5486083"/>
          </a:xfrm>
        </p:spPr>
        <p:txBody>
          <a:bodyPr/>
          <a:lstStyle/>
          <a:p>
            <a:pPr algn="just"/>
            <a:r>
              <a:rPr lang="en-US" b="1" dirty="0"/>
              <a:t>Hafer and Weiss (1974)</a:t>
            </a:r>
            <a:r>
              <a:rPr lang="en-US" dirty="0"/>
              <a:t> tested their stemmer against other stemming methods using the ADI collection, and the Carolina Population Center (CPC) Collection consisting of 75 documents and five queries. Comparisons were made on the basis of recall-precision plots. No statistical testing was reported.</a:t>
            </a:r>
          </a:p>
          <a:p>
            <a:pPr algn="just"/>
            <a:r>
              <a:rPr lang="en-US" b="1" dirty="0"/>
              <a:t>Van </a:t>
            </a:r>
            <a:r>
              <a:rPr lang="en-US" b="1" dirty="0" err="1"/>
              <a:t>Rijsbergen</a:t>
            </a:r>
            <a:r>
              <a:rPr lang="en-US" b="1" dirty="0"/>
              <a:t> et al. (1980) </a:t>
            </a:r>
            <a:r>
              <a:rPr lang="en-US" dirty="0"/>
              <a:t>tested their stemmer (Porter 1980) against the stemmer described by Dawson (1974) using the Cranfield-1 test collection. Both of these stemmers are of the longest match type, though the Dawson stemmer is more complex. </a:t>
            </a:r>
            <a:r>
              <a:rPr lang="en-US" b="1" dirty="0"/>
              <a:t>They report that the performance of their stemmer was slightly better across ten paired recall-precision levels</a:t>
            </a:r>
            <a:r>
              <a:rPr lang="en-US" dirty="0"/>
              <a:t>, but that the observed differences are probably not meaningful. No statistical results of any kind are reported.</a:t>
            </a:r>
            <a:endParaRPr lang="en-IN" dirty="0"/>
          </a:p>
        </p:txBody>
      </p:sp>
    </p:spTree>
    <p:extLst>
      <p:ext uri="{BB962C8B-B14F-4D97-AF65-F5344CB8AC3E}">
        <p14:creationId xmlns:p14="http://schemas.microsoft.com/office/powerpoint/2010/main" val="8271433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CB01EC-0B5D-2109-B1B3-9B979DF43985}"/>
              </a:ext>
            </a:extLst>
          </p:cNvPr>
          <p:cNvSpPr>
            <a:spLocks noGrp="1"/>
          </p:cNvSpPr>
          <p:nvPr>
            <p:ph idx="1"/>
          </p:nvPr>
        </p:nvSpPr>
        <p:spPr>
          <a:xfrm>
            <a:off x="838200" y="772160"/>
            <a:ext cx="10515600" cy="5404803"/>
          </a:xfrm>
        </p:spPr>
        <p:txBody>
          <a:bodyPr>
            <a:normAutofit/>
          </a:bodyPr>
          <a:lstStyle/>
          <a:p>
            <a:pPr algn="just"/>
            <a:r>
              <a:rPr lang="en-US" b="1" dirty="0"/>
              <a:t>Katzer et al. (1982) </a:t>
            </a:r>
            <a:r>
              <a:rPr lang="en-US" dirty="0"/>
              <a:t>examined the performance of stemmed title-abstract terms against six other document representations: unstemmed title-abstract terms, unstemmed abstract terms, unstemmed title terms, descriptors, identifiers, and descriptors and identifiers combined. The stemmer used was a simple suffix removal stemmer employing 20 endings. </a:t>
            </a:r>
          </a:p>
          <a:p>
            <a:pPr algn="just"/>
            <a:r>
              <a:rPr lang="en-US" b="1" dirty="0"/>
              <a:t>Lennon et al. (1981) </a:t>
            </a:r>
            <a:r>
              <a:rPr lang="en-US" dirty="0"/>
              <a:t>examined the performance of various stemmers both in terms of retrieval effectiveness and inverted file compression. For the retrieval comparisons, the Cranfield-1400 collection was used. This collection contains 1,396 documents, and also 225 queries. The titles of documents and the queries were matched, and the documents ranked in order of decreasing match value.</a:t>
            </a:r>
            <a:endParaRPr lang="en-IN" dirty="0"/>
          </a:p>
        </p:txBody>
      </p:sp>
    </p:spTree>
    <p:extLst>
      <p:ext uri="{BB962C8B-B14F-4D97-AF65-F5344CB8AC3E}">
        <p14:creationId xmlns:p14="http://schemas.microsoft.com/office/powerpoint/2010/main" val="26388523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19D61B-F937-D522-7311-CB084071B880}"/>
              </a:ext>
            </a:extLst>
          </p:cNvPr>
          <p:cNvSpPr>
            <a:spLocks noGrp="1"/>
          </p:cNvSpPr>
          <p:nvPr>
            <p:ph idx="1"/>
          </p:nvPr>
        </p:nvSpPr>
        <p:spPr>
          <a:xfrm>
            <a:off x="838200" y="579120"/>
            <a:ext cx="10515600" cy="5597843"/>
          </a:xfrm>
        </p:spPr>
        <p:txBody>
          <a:bodyPr>
            <a:normAutofit lnSpcReduction="10000"/>
          </a:bodyPr>
          <a:lstStyle/>
          <a:p>
            <a:pPr algn="just"/>
            <a:r>
              <a:rPr lang="en-US" b="1" dirty="0"/>
              <a:t>Frakes (1982) </a:t>
            </a:r>
            <a:r>
              <a:rPr lang="en-US" dirty="0"/>
              <a:t>did two studies of stemming. The first tested the hypothesis that the closeness of stems to root morphemes will predict improved retrieval effectiveness. Fifty-three search queries were solicited from users and searched by four professional searchers under four representations: title, abstract, descriptors, and identifiers. </a:t>
            </a:r>
          </a:p>
          <a:p>
            <a:pPr algn="just"/>
            <a:r>
              <a:rPr lang="en-US" b="1" dirty="0"/>
              <a:t>Walker and Jones (1987) </a:t>
            </a:r>
            <a:r>
              <a:rPr lang="en-US" dirty="0"/>
              <a:t>did a thorough review and study of stemming algorithms. They used Porter's stemming algorithm in the study. The database used was an on-line book catalog (called RCL) in a library. </a:t>
            </a:r>
          </a:p>
          <a:p>
            <a:pPr algn="just"/>
            <a:r>
              <a:rPr lang="en-US" b="1" dirty="0"/>
              <a:t>Harman (1991) </a:t>
            </a:r>
            <a:r>
              <a:rPr lang="en-US" dirty="0"/>
              <a:t>used three stemmers--Porter, Lovins, and S removal--on three databases- Cranfield 1400, Medlars, and CACM--and found that none of them significantly improved retrieval effectiveness in a ranking IR system called IRX. The dependent variable measure was again E, at b levels of .5, 1.0, and 2.0.</a:t>
            </a:r>
            <a:endParaRPr lang="en-IN" dirty="0"/>
          </a:p>
        </p:txBody>
      </p:sp>
    </p:spTree>
    <p:extLst>
      <p:ext uri="{BB962C8B-B14F-4D97-AF65-F5344CB8AC3E}">
        <p14:creationId xmlns:p14="http://schemas.microsoft.com/office/powerpoint/2010/main" val="41281687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53510-F1C6-2000-1126-6E56102AC3C5}"/>
              </a:ext>
            </a:extLst>
          </p:cNvPr>
          <p:cNvSpPr>
            <a:spLocks noGrp="1"/>
          </p:cNvSpPr>
          <p:nvPr>
            <p:ph type="title"/>
          </p:nvPr>
        </p:nvSpPr>
        <p:spPr>
          <a:xfrm>
            <a:off x="838200" y="365125"/>
            <a:ext cx="10515600" cy="854075"/>
          </a:xfrm>
        </p:spPr>
        <p:txBody>
          <a:bodyPr/>
          <a:lstStyle/>
          <a:p>
            <a:r>
              <a:rPr lang="en-US" b="1" dirty="0"/>
              <a:t>STEMMING TO COMPRESS INVERTED FILES</a:t>
            </a:r>
            <a:endParaRPr lang="en-IN" dirty="0"/>
          </a:p>
        </p:txBody>
      </p:sp>
      <p:sp>
        <p:nvSpPr>
          <p:cNvPr id="3" name="Content Placeholder 2">
            <a:extLst>
              <a:ext uri="{FF2B5EF4-FFF2-40B4-BE49-F238E27FC236}">
                <a16:creationId xmlns:a16="http://schemas.microsoft.com/office/drawing/2014/main" id="{04ABD913-5BD3-7F4B-EE58-CF08A7D981F6}"/>
              </a:ext>
            </a:extLst>
          </p:cNvPr>
          <p:cNvSpPr>
            <a:spLocks noGrp="1"/>
          </p:cNvSpPr>
          <p:nvPr>
            <p:ph idx="1"/>
          </p:nvPr>
        </p:nvSpPr>
        <p:spPr>
          <a:xfrm>
            <a:off x="838200" y="1300480"/>
            <a:ext cx="10515600" cy="4876483"/>
          </a:xfrm>
        </p:spPr>
        <p:txBody>
          <a:bodyPr/>
          <a:lstStyle/>
          <a:p>
            <a:pPr algn="just"/>
            <a:r>
              <a:rPr lang="en-US"/>
              <a:t>Since a stem is usually shorter than the words to which it corresponds, storing stems instead of full words can decrease the size of index files. Lennon et al. (1981), for example, report the following compression percentages for various stemmers and databases.</a:t>
            </a:r>
            <a:endParaRPr lang="en-IN" dirty="0"/>
          </a:p>
        </p:txBody>
      </p:sp>
    </p:spTree>
    <p:extLst>
      <p:ext uri="{BB962C8B-B14F-4D97-AF65-F5344CB8AC3E}">
        <p14:creationId xmlns:p14="http://schemas.microsoft.com/office/powerpoint/2010/main" val="29664160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C9819E-4BE2-0519-45CC-F6AB2FA3F07A}"/>
              </a:ext>
            </a:extLst>
          </p:cNvPr>
          <p:cNvSpPr>
            <a:spLocks noGrp="1"/>
          </p:cNvSpPr>
          <p:nvPr>
            <p:ph idx="1"/>
          </p:nvPr>
        </p:nvSpPr>
        <p:spPr/>
        <p:txBody>
          <a:bodyPr/>
          <a:lstStyle/>
          <a:p>
            <a:r>
              <a:rPr lang="en-IN" b="1" dirty="0"/>
              <a:t>Index Compression Percentages from Stemming</a:t>
            </a:r>
          </a:p>
          <a:p>
            <a:endParaRPr lang="en-IN" dirty="0"/>
          </a:p>
        </p:txBody>
      </p:sp>
      <p:pic>
        <p:nvPicPr>
          <p:cNvPr id="7" name="Picture 6">
            <a:extLst>
              <a:ext uri="{FF2B5EF4-FFF2-40B4-BE49-F238E27FC236}">
                <a16:creationId xmlns:a16="http://schemas.microsoft.com/office/drawing/2014/main" id="{D7580738-FF6A-4C0B-1453-4494DBE06A10}"/>
              </a:ext>
            </a:extLst>
          </p:cNvPr>
          <p:cNvPicPr>
            <a:picLocks noChangeAspect="1"/>
          </p:cNvPicPr>
          <p:nvPr/>
        </p:nvPicPr>
        <p:blipFill>
          <a:blip r:embed="rId2"/>
          <a:stretch>
            <a:fillRect/>
          </a:stretch>
        </p:blipFill>
        <p:spPr>
          <a:xfrm>
            <a:off x="1385030" y="2389996"/>
            <a:ext cx="9081184" cy="2415684"/>
          </a:xfrm>
          <a:prstGeom prst="rect">
            <a:avLst/>
          </a:prstGeom>
        </p:spPr>
      </p:pic>
    </p:spTree>
    <p:extLst>
      <p:ext uri="{BB962C8B-B14F-4D97-AF65-F5344CB8AC3E}">
        <p14:creationId xmlns:p14="http://schemas.microsoft.com/office/powerpoint/2010/main" val="28796193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C41C8-E974-BE6F-A099-F97A9F9B6B7B}"/>
              </a:ext>
            </a:extLst>
          </p:cNvPr>
          <p:cNvSpPr>
            <a:spLocks noGrp="1"/>
          </p:cNvSpPr>
          <p:nvPr>
            <p:ph type="title"/>
          </p:nvPr>
        </p:nvSpPr>
        <p:spPr/>
        <p:txBody>
          <a:bodyPr/>
          <a:lstStyle/>
          <a:p>
            <a:r>
              <a:rPr lang="en-US" b="1" dirty="0"/>
              <a:t>Thesaurus Construction</a:t>
            </a:r>
            <a:endParaRPr lang="en-IN" dirty="0"/>
          </a:p>
        </p:txBody>
      </p:sp>
      <p:sp>
        <p:nvSpPr>
          <p:cNvPr id="3" name="Content Placeholder 2">
            <a:extLst>
              <a:ext uri="{FF2B5EF4-FFF2-40B4-BE49-F238E27FC236}">
                <a16:creationId xmlns:a16="http://schemas.microsoft.com/office/drawing/2014/main" id="{2640ACE6-23F1-B21C-E0E1-7E5264C0B344}"/>
              </a:ext>
            </a:extLst>
          </p:cNvPr>
          <p:cNvSpPr>
            <a:spLocks noGrp="1"/>
          </p:cNvSpPr>
          <p:nvPr>
            <p:ph idx="1"/>
          </p:nvPr>
        </p:nvSpPr>
        <p:spPr>
          <a:xfrm>
            <a:off x="838200" y="1690688"/>
            <a:ext cx="10515600" cy="4486275"/>
          </a:xfrm>
        </p:spPr>
        <p:txBody>
          <a:bodyPr>
            <a:normAutofit fontScale="92500" lnSpcReduction="20000"/>
          </a:bodyPr>
          <a:lstStyle/>
          <a:p>
            <a:pPr marL="0" indent="0" algn="just">
              <a:buNone/>
            </a:pPr>
            <a:r>
              <a:rPr lang="en-US" b="1" dirty="0"/>
              <a:t>Introduction:</a:t>
            </a:r>
          </a:p>
          <a:p>
            <a:pPr algn="just"/>
            <a:r>
              <a:rPr lang="en-US" dirty="0"/>
              <a:t>Thesauri are valuable structures for Information Retrieval systems. </a:t>
            </a:r>
          </a:p>
          <a:p>
            <a:pPr algn="just"/>
            <a:r>
              <a:rPr lang="en-US" dirty="0"/>
              <a:t>A thesaurus provides a precise and controlled vocabulary which serves to coordinate document indexing and document retrieval. </a:t>
            </a:r>
          </a:p>
          <a:p>
            <a:pPr algn="just"/>
            <a:r>
              <a:rPr lang="en-US" dirty="0"/>
              <a:t>In both indexing and retrieval, a thesaurus may be used to select the most appropriate terms. </a:t>
            </a:r>
          </a:p>
          <a:p>
            <a:pPr algn="just"/>
            <a:r>
              <a:rPr lang="en-US" dirty="0"/>
              <a:t>Additionally, the thesaurus can assist the searcher in reformulating search strategies if required.</a:t>
            </a:r>
          </a:p>
          <a:p>
            <a:pPr algn="just"/>
            <a:r>
              <a:rPr lang="en-US" dirty="0"/>
              <a:t>Two major approaches for automatic thesaurus construction have been selected for detailed examination. </a:t>
            </a:r>
          </a:p>
          <a:p>
            <a:pPr algn="just"/>
            <a:r>
              <a:rPr lang="en-US" dirty="0"/>
              <a:t>The first is on thesaurus construction from collections of documents, and the second, on thesaurus construction by merging existing thesauri. </a:t>
            </a:r>
            <a:endParaRPr lang="en-IN" b="1" dirty="0"/>
          </a:p>
        </p:txBody>
      </p:sp>
    </p:spTree>
    <p:extLst>
      <p:ext uri="{BB962C8B-B14F-4D97-AF65-F5344CB8AC3E}">
        <p14:creationId xmlns:p14="http://schemas.microsoft.com/office/powerpoint/2010/main" val="28876940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88C3B2-F32A-8E44-4771-74B511AFBAC0}"/>
              </a:ext>
            </a:extLst>
          </p:cNvPr>
          <p:cNvSpPr>
            <a:spLocks noGrp="1"/>
          </p:cNvSpPr>
          <p:nvPr>
            <p:ph idx="1"/>
          </p:nvPr>
        </p:nvSpPr>
        <p:spPr>
          <a:xfrm>
            <a:off x="838200" y="825909"/>
            <a:ext cx="10515600" cy="5351053"/>
          </a:xfrm>
        </p:spPr>
        <p:txBody>
          <a:bodyPr>
            <a:normAutofit/>
          </a:bodyPr>
          <a:lstStyle/>
          <a:p>
            <a:pPr algn="just"/>
            <a:r>
              <a:rPr lang="en-US" dirty="0"/>
              <a:t>In IR systems, used to retrieve potentially relevant documents from large collections, the thesaurus serves to coordinate the basic processes of indexing and document retrieval. </a:t>
            </a:r>
          </a:p>
          <a:p>
            <a:pPr algn="just"/>
            <a:r>
              <a:rPr lang="en-US" dirty="0"/>
              <a:t>In indexing, a succinct representation of the document is derived, while retrieval refers to the search process by which relevant items are identified.</a:t>
            </a:r>
          </a:p>
          <a:p>
            <a:pPr algn="just"/>
            <a:r>
              <a:rPr lang="en-US" dirty="0"/>
              <a:t>The IR thesaurus typically contains a list of terms, where a term is either a single word or a phrase, along with the relationships between them. </a:t>
            </a:r>
          </a:p>
          <a:p>
            <a:pPr algn="just"/>
            <a:r>
              <a:rPr lang="en-US" dirty="0"/>
              <a:t>It provides a common, precise, and controlled vocabulary which assists in coordinating indexing and retrieval. </a:t>
            </a:r>
          </a:p>
        </p:txBody>
      </p:sp>
    </p:spTree>
    <p:extLst>
      <p:ext uri="{BB962C8B-B14F-4D97-AF65-F5344CB8AC3E}">
        <p14:creationId xmlns:p14="http://schemas.microsoft.com/office/powerpoint/2010/main" val="37305103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F45191-D7DC-EDBF-7242-E2E74A95B30F}"/>
              </a:ext>
            </a:extLst>
          </p:cNvPr>
          <p:cNvSpPr>
            <a:spLocks noGrp="1"/>
          </p:cNvSpPr>
          <p:nvPr>
            <p:ph idx="1"/>
          </p:nvPr>
        </p:nvSpPr>
        <p:spPr>
          <a:xfrm>
            <a:off x="838200" y="678426"/>
            <a:ext cx="10515600" cy="5978013"/>
          </a:xfrm>
        </p:spPr>
        <p:txBody>
          <a:bodyPr>
            <a:normAutofit lnSpcReduction="10000"/>
          </a:bodyPr>
          <a:lstStyle/>
          <a:p>
            <a:r>
              <a:rPr lang="en-US" dirty="0"/>
              <a:t>A short extract from an alphabetical listing of thesaurus terms and their relationships in the INSPEC thesaurus.</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2743200" lvl="6" indent="0">
              <a:buNone/>
            </a:pPr>
            <a:endParaRPr lang="en-IN" b="1" dirty="0"/>
          </a:p>
          <a:p>
            <a:pPr marL="2743200" lvl="6" indent="0">
              <a:buNone/>
            </a:pPr>
            <a:r>
              <a:rPr lang="en-IN" b="1" dirty="0"/>
              <a:t>TT</a:t>
            </a:r>
            <a:r>
              <a:rPr lang="en-IN" dirty="0"/>
              <a:t>			Top Term			 Computer Science</a:t>
            </a:r>
          </a:p>
          <a:p>
            <a:pPr marL="2743200" lvl="6" indent="0">
              <a:buNone/>
            </a:pPr>
            <a:endParaRPr lang="en-IN" b="1" dirty="0"/>
          </a:p>
          <a:p>
            <a:pPr marL="2743200" lvl="6" indent="0">
              <a:buNone/>
            </a:pPr>
            <a:r>
              <a:rPr lang="en-IN" b="1" dirty="0"/>
              <a:t>See also			</a:t>
            </a:r>
            <a:r>
              <a:rPr lang="en-IN" dirty="0"/>
              <a:t>cross-referenced terms</a:t>
            </a:r>
          </a:p>
        </p:txBody>
      </p:sp>
      <p:pic>
        <p:nvPicPr>
          <p:cNvPr id="5" name="Picture 4">
            <a:extLst>
              <a:ext uri="{FF2B5EF4-FFF2-40B4-BE49-F238E27FC236}">
                <a16:creationId xmlns:a16="http://schemas.microsoft.com/office/drawing/2014/main" id="{829EAB87-5D1D-F648-D1F3-EE22FF08F934}"/>
              </a:ext>
            </a:extLst>
          </p:cNvPr>
          <p:cNvPicPr>
            <a:picLocks noChangeAspect="1"/>
          </p:cNvPicPr>
          <p:nvPr/>
        </p:nvPicPr>
        <p:blipFill>
          <a:blip r:embed="rId2"/>
          <a:stretch>
            <a:fillRect/>
          </a:stretch>
        </p:blipFill>
        <p:spPr>
          <a:xfrm>
            <a:off x="0" y="1770112"/>
            <a:ext cx="3583423" cy="4522533"/>
          </a:xfrm>
          <a:prstGeom prst="rect">
            <a:avLst/>
          </a:prstGeom>
        </p:spPr>
      </p:pic>
      <p:graphicFrame>
        <p:nvGraphicFramePr>
          <p:cNvPr id="6" name="Table 5">
            <a:extLst>
              <a:ext uri="{FF2B5EF4-FFF2-40B4-BE49-F238E27FC236}">
                <a16:creationId xmlns:a16="http://schemas.microsoft.com/office/drawing/2014/main" id="{ECE4319D-FE7B-1AF4-395A-AF1C88F92D69}"/>
              </a:ext>
            </a:extLst>
          </p:cNvPr>
          <p:cNvGraphicFramePr>
            <a:graphicFrameLocks noGrp="1"/>
          </p:cNvGraphicFramePr>
          <p:nvPr>
            <p:extLst>
              <p:ext uri="{D42A27DB-BD31-4B8C-83A1-F6EECF244321}">
                <p14:modId xmlns:p14="http://schemas.microsoft.com/office/powerpoint/2010/main" val="2761431018"/>
              </p:ext>
            </p:extLst>
          </p:nvPr>
        </p:nvGraphicFramePr>
        <p:xfrm>
          <a:off x="3500283" y="1920571"/>
          <a:ext cx="8424579" cy="3543241"/>
        </p:xfrm>
        <a:graphic>
          <a:graphicData uri="http://schemas.openxmlformats.org/drawingml/2006/table">
            <a:tbl>
              <a:tblPr/>
              <a:tblGrid>
                <a:gridCol w="2808193">
                  <a:extLst>
                    <a:ext uri="{9D8B030D-6E8A-4147-A177-3AD203B41FA5}">
                      <a16:colId xmlns:a16="http://schemas.microsoft.com/office/drawing/2014/main" val="2069827918"/>
                    </a:ext>
                  </a:extLst>
                </a:gridCol>
                <a:gridCol w="2808193">
                  <a:extLst>
                    <a:ext uri="{9D8B030D-6E8A-4147-A177-3AD203B41FA5}">
                      <a16:colId xmlns:a16="http://schemas.microsoft.com/office/drawing/2014/main" val="3163619974"/>
                    </a:ext>
                  </a:extLst>
                </a:gridCol>
                <a:gridCol w="2808193">
                  <a:extLst>
                    <a:ext uri="{9D8B030D-6E8A-4147-A177-3AD203B41FA5}">
                      <a16:colId xmlns:a16="http://schemas.microsoft.com/office/drawing/2014/main" val="883033155"/>
                    </a:ext>
                  </a:extLst>
                </a:gridCol>
              </a:tblGrid>
              <a:tr h="432800">
                <a:tc>
                  <a:txBody>
                    <a:bodyPr/>
                    <a:lstStyle/>
                    <a:p>
                      <a:pPr>
                        <a:buNone/>
                      </a:pPr>
                      <a:r>
                        <a:rPr lang="en-IN"/>
                        <a:t>Symbol</a:t>
                      </a:r>
                    </a:p>
                  </a:txBody>
                  <a:tcPr anchor="ctr">
                    <a:lnL>
                      <a:noFill/>
                    </a:lnL>
                    <a:lnR>
                      <a:noFill/>
                    </a:lnR>
                    <a:lnT>
                      <a:noFill/>
                    </a:lnT>
                    <a:lnB>
                      <a:noFill/>
                    </a:lnB>
                    <a:noFill/>
                  </a:tcPr>
                </a:tc>
                <a:tc>
                  <a:txBody>
                    <a:bodyPr/>
                    <a:lstStyle/>
                    <a:p>
                      <a:pPr>
                        <a:buNone/>
                      </a:pPr>
                      <a:r>
                        <a:rPr lang="en-IN"/>
                        <a:t>Meaning</a:t>
                      </a:r>
                    </a:p>
                  </a:txBody>
                  <a:tcPr anchor="ctr">
                    <a:lnL>
                      <a:noFill/>
                    </a:lnL>
                    <a:lnR>
                      <a:noFill/>
                    </a:lnR>
                    <a:lnT>
                      <a:noFill/>
                    </a:lnT>
                    <a:lnB>
                      <a:noFill/>
                    </a:lnB>
                    <a:noFill/>
                  </a:tcPr>
                </a:tc>
                <a:tc>
                  <a:txBody>
                    <a:bodyPr/>
                    <a:lstStyle/>
                    <a:p>
                      <a:pPr>
                        <a:buNone/>
                      </a:pPr>
                      <a:r>
                        <a:rPr lang="en-IN"/>
                        <a:t>Example</a:t>
                      </a:r>
                    </a:p>
                  </a:txBody>
                  <a:tcPr anchor="ctr">
                    <a:lnL>
                      <a:noFill/>
                    </a:lnL>
                    <a:lnR>
                      <a:noFill/>
                    </a:lnR>
                    <a:lnT>
                      <a:noFill/>
                    </a:lnT>
                    <a:lnB>
                      <a:noFill/>
                    </a:lnB>
                    <a:noFill/>
                  </a:tcPr>
                </a:tc>
                <a:extLst>
                  <a:ext uri="{0D108BD9-81ED-4DB2-BD59-A6C34878D82A}">
                    <a16:rowId xmlns:a16="http://schemas.microsoft.com/office/drawing/2014/main" val="4228331732"/>
                  </a:ext>
                </a:extLst>
              </a:tr>
              <a:tr h="564054">
                <a:tc>
                  <a:txBody>
                    <a:bodyPr/>
                    <a:lstStyle/>
                    <a:p>
                      <a:pPr>
                        <a:buNone/>
                      </a:pPr>
                      <a:r>
                        <a:rPr lang="en-IN" b="1" dirty="0"/>
                        <a:t>BT</a:t>
                      </a:r>
                      <a:endParaRPr lang="en-IN" dirty="0"/>
                    </a:p>
                  </a:txBody>
                  <a:tcPr anchor="ctr">
                    <a:lnL>
                      <a:noFill/>
                    </a:lnL>
                    <a:lnR>
                      <a:noFill/>
                    </a:lnR>
                    <a:lnT>
                      <a:noFill/>
                    </a:lnT>
                    <a:lnB>
                      <a:noFill/>
                    </a:lnB>
                    <a:noFill/>
                  </a:tcPr>
                </a:tc>
                <a:tc>
                  <a:txBody>
                    <a:bodyPr/>
                    <a:lstStyle/>
                    <a:p>
                      <a:pPr>
                        <a:buNone/>
                      </a:pPr>
                      <a:r>
                        <a:rPr lang="en-IN" dirty="0"/>
                        <a:t>Broader Term(More general)</a:t>
                      </a:r>
                    </a:p>
                  </a:txBody>
                  <a:tcPr anchor="ctr">
                    <a:lnL>
                      <a:noFill/>
                    </a:lnL>
                    <a:lnR>
                      <a:noFill/>
                    </a:lnR>
                    <a:lnT>
                      <a:noFill/>
                    </a:lnT>
                    <a:lnB>
                      <a:noFill/>
                    </a:lnB>
                    <a:noFill/>
                  </a:tcPr>
                </a:tc>
                <a:tc>
                  <a:txBody>
                    <a:bodyPr/>
                    <a:lstStyle/>
                    <a:p>
                      <a:pPr>
                        <a:buNone/>
                      </a:pPr>
                      <a:r>
                        <a:rPr lang="en-IN" dirty="0"/>
                        <a:t>AI → BT: Computer Science</a:t>
                      </a:r>
                    </a:p>
                  </a:txBody>
                  <a:tcPr anchor="ctr">
                    <a:lnL>
                      <a:noFill/>
                    </a:lnL>
                    <a:lnR>
                      <a:noFill/>
                    </a:lnR>
                    <a:lnT>
                      <a:noFill/>
                    </a:lnT>
                    <a:lnB>
                      <a:noFill/>
                    </a:lnB>
                    <a:noFill/>
                  </a:tcPr>
                </a:tc>
                <a:extLst>
                  <a:ext uri="{0D108BD9-81ED-4DB2-BD59-A6C34878D82A}">
                    <a16:rowId xmlns:a16="http://schemas.microsoft.com/office/drawing/2014/main" val="2893434434"/>
                  </a:ext>
                </a:extLst>
              </a:tr>
              <a:tr h="564054">
                <a:tc>
                  <a:txBody>
                    <a:bodyPr/>
                    <a:lstStyle/>
                    <a:p>
                      <a:pPr>
                        <a:buNone/>
                      </a:pPr>
                      <a:r>
                        <a:rPr lang="en-IN" b="1" dirty="0"/>
                        <a:t>NT</a:t>
                      </a:r>
                      <a:endParaRPr lang="en-IN" dirty="0"/>
                    </a:p>
                  </a:txBody>
                  <a:tcPr anchor="ctr">
                    <a:lnL>
                      <a:noFill/>
                    </a:lnL>
                    <a:lnR>
                      <a:noFill/>
                    </a:lnR>
                    <a:lnT>
                      <a:noFill/>
                    </a:lnT>
                    <a:lnB>
                      <a:noFill/>
                    </a:lnB>
                    <a:noFill/>
                  </a:tcPr>
                </a:tc>
                <a:tc>
                  <a:txBody>
                    <a:bodyPr/>
                    <a:lstStyle/>
                    <a:p>
                      <a:pPr>
                        <a:buNone/>
                      </a:pPr>
                      <a:r>
                        <a:rPr lang="en-IN" dirty="0"/>
                        <a:t>Narrower Term(More specific)</a:t>
                      </a:r>
                    </a:p>
                  </a:txBody>
                  <a:tcPr anchor="ctr">
                    <a:lnL>
                      <a:noFill/>
                    </a:lnL>
                    <a:lnR>
                      <a:noFill/>
                    </a:lnR>
                    <a:lnT>
                      <a:noFill/>
                    </a:lnT>
                    <a:lnB>
                      <a:noFill/>
                    </a:lnB>
                    <a:noFill/>
                  </a:tcPr>
                </a:tc>
                <a:tc>
                  <a:txBody>
                    <a:bodyPr/>
                    <a:lstStyle/>
                    <a:p>
                      <a:pPr>
                        <a:buNone/>
                      </a:pPr>
                      <a:r>
                        <a:rPr lang="en-IN"/>
                        <a:t>AI → NT: Machine Learning</a:t>
                      </a:r>
                    </a:p>
                  </a:txBody>
                  <a:tcPr anchor="ctr">
                    <a:lnL>
                      <a:noFill/>
                    </a:lnL>
                    <a:lnR>
                      <a:noFill/>
                    </a:lnR>
                    <a:lnT>
                      <a:noFill/>
                    </a:lnT>
                    <a:lnB>
                      <a:noFill/>
                    </a:lnB>
                    <a:noFill/>
                  </a:tcPr>
                </a:tc>
                <a:extLst>
                  <a:ext uri="{0D108BD9-81ED-4DB2-BD59-A6C34878D82A}">
                    <a16:rowId xmlns:a16="http://schemas.microsoft.com/office/drawing/2014/main" val="2735861608"/>
                  </a:ext>
                </a:extLst>
              </a:tr>
              <a:tr h="432800">
                <a:tc>
                  <a:txBody>
                    <a:bodyPr/>
                    <a:lstStyle/>
                    <a:p>
                      <a:pPr>
                        <a:buNone/>
                      </a:pPr>
                      <a:r>
                        <a:rPr lang="en-IN" b="1"/>
                        <a:t>RT</a:t>
                      </a:r>
                      <a:endParaRPr lang="en-IN"/>
                    </a:p>
                  </a:txBody>
                  <a:tcPr anchor="ctr">
                    <a:lnL>
                      <a:noFill/>
                    </a:lnL>
                    <a:lnR>
                      <a:noFill/>
                    </a:lnR>
                    <a:lnT>
                      <a:noFill/>
                    </a:lnT>
                    <a:lnB>
                      <a:noFill/>
                    </a:lnB>
                    <a:noFill/>
                  </a:tcPr>
                </a:tc>
                <a:tc>
                  <a:txBody>
                    <a:bodyPr/>
                    <a:lstStyle/>
                    <a:p>
                      <a:pPr>
                        <a:buNone/>
                      </a:pPr>
                      <a:r>
                        <a:rPr lang="en-IN"/>
                        <a:t>Related Term</a:t>
                      </a:r>
                    </a:p>
                  </a:txBody>
                  <a:tcPr anchor="ctr">
                    <a:lnL>
                      <a:noFill/>
                    </a:lnL>
                    <a:lnR>
                      <a:noFill/>
                    </a:lnR>
                    <a:lnT>
                      <a:noFill/>
                    </a:lnT>
                    <a:lnB>
                      <a:noFill/>
                    </a:lnB>
                    <a:noFill/>
                  </a:tcPr>
                </a:tc>
                <a:tc>
                  <a:txBody>
                    <a:bodyPr/>
                    <a:lstStyle/>
                    <a:p>
                      <a:pPr>
                        <a:buNone/>
                      </a:pPr>
                      <a:r>
                        <a:rPr lang="en-IN"/>
                        <a:t>AI → RT: Robotics</a:t>
                      </a:r>
                    </a:p>
                  </a:txBody>
                  <a:tcPr anchor="ctr">
                    <a:lnL>
                      <a:noFill/>
                    </a:lnL>
                    <a:lnR>
                      <a:noFill/>
                    </a:lnR>
                    <a:lnT>
                      <a:noFill/>
                    </a:lnT>
                    <a:lnB>
                      <a:noFill/>
                    </a:lnB>
                    <a:noFill/>
                  </a:tcPr>
                </a:tc>
                <a:extLst>
                  <a:ext uri="{0D108BD9-81ED-4DB2-BD59-A6C34878D82A}">
                    <a16:rowId xmlns:a16="http://schemas.microsoft.com/office/drawing/2014/main" val="2115303421"/>
                  </a:ext>
                </a:extLst>
              </a:tr>
              <a:tr h="564054">
                <a:tc>
                  <a:txBody>
                    <a:bodyPr/>
                    <a:lstStyle/>
                    <a:p>
                      <a:pPr>
                        <a:buNone/>
                      </a:pPr>
                      <a:r>
                        <a:rPr lang="en-IN" b="1"/>
                        <a:t>UF</a:t>
                      </a:r>
                      <a:endParaRPr lang="en-IN"/>
                    </a:p>
                  </a:txBody>
                  <a:tcPr anchor="ctr">
                    <a:lnL>
                      <a:noFill/>
                    </a:lnL>
                    <a:lnR>
                      <a:noFill/>
                    </a:lnR>
                    <a:lnT>
                      <a:noFill/>
                    </a:lnT>
                    <a:lnB>
                      <a:noFill/>
                    </a:lnB>
                    <a:noFill/>
                  </a:tcPr>
                </a:tc>
                <a:tc>
                  <a:txBody>
                    <a:bodyPr/>
                    <a:lstStyle/>
                    <a:p>
                      <a:pPr>
                        <a:buNone/>
                      </a:pPr>
                      <a:r>
                        <a:rPr lang="en-IN"/>
                        <a:t>Use For (non-preferred term)</a:t>
                      </a:r>
                    </a:p>
                  </a:txBody>
                  <a:tcPr anchor="ctr">
                    <a:lnL>
                      <a:noFill/>
                    </a:lnL>
                    <a:lnR>
                      <a:noFill/>
                    </a:lnR>
                    <a:lnT>
                      <a:noFill/>
                    </a:lnT>
                    <a:lnB>
                      <a:noFill/>
                    </a:lnB>
                    <a:noFill/>
                  </a:tcPr>
                </a:tc>
                <a:tc>
                  <a:txBody>
                    <a:bodyPr/>
                    <a:lstStyle/>
                    <a:p>
                      <a:pPr>
                        <a:buNone/>
                      </a:pPr>
                      <a:r>
                        <a:rPr lang="en-IN"/>
                        <a:t>AI → UF: Machine Intelligence</a:t>
                      </a:r>
                    </a:p>
                  </a:txBody>
                  <a:tcPr anchor="ctr">
                    <a:lnL>
                      <a:noFill/>
                    </a:lnL>
                    <a:lnR>
                      <a:noFill/>
                    </a:lnR>
                    <a:lnT>
                      <a:noFill/>
                    </a:lnT>
                    <a:lnB>
                      <a:noFill/>
                    </a:lnB>
                    <a:noFill/>
                  </a:tcPr>
                </a:tc>
                <a:extLst>
                  <a:ext uri="{0D108BD9-81ED-4DB2-BD59-A6C34878D82A}">
                    <a16:rowId xmlns:a16="http://schemas.microsoft.com/office/drawing/2014/main" val="2064918930"/>
                  </a:ext>
                </a:extLst>
              </a:tr>
              <a:tr h="757401">
                <a:tc>
                  <a:txBody>
                    <a:bodyPr/>
                    <a:lstStyle/>
                    <a:p>
                      <a:pPr>
                        <a:buNone/>
                      </a:pPr>
                      <a:r>
                        <a:rPr lang="en-IN" b="1" dirty="0"/>
                        <a:t>USE</a:t>
                      </a:r>
                      <a:endParaRPr lang="en-IN" dirty="0"/>
                    </a:p>
                  </a:txBody>
                  <a:tcPr anchor="ctr">
                    <a:lnL>
                      <a:noFill/>
                    </a:lnL>
                    <a:lnR>
                      <a:noFill/>
                    </a:lnR>
                    <a:lnT>
                      <a:noFill/>
                    </a:lnT>
                    <a:lnB>
                      <a:noFill/>
                    </a:lnB>
                    <a:noFill/>
                  </a:tcPr>
                </a:tc>
                <a:tc>
                  <a:txBody>
                    <a:bodyPr/>
                    <a:lstStyle/>
                    <a:p>
                      <a:pPr>
                        <a:buNone/>
                      </a:pPr>
                      <a:r>
                        <a:rPr lang="en-IN"/>
                        <a:t>Preferred term to use</a:t>
                      </a:r>
                    </a:p>
                  </a:txBody>
                  <a:tcPr anchor="ctr">
                    <a:lnL>
                      <a:noFill/>
                    </a:lnL>
                    <a:lnR>
                      <a:noFill/>
                    </a:lnR>
                    <a:lnT>
                      <a:noFill/>
                    </a:lnT>
                    <a:lnB>
                      <a:noFill/>
                    </a:lnB>
                    <a:noFill/>
                  </a:tcPr>
                </a:tc>
                <a:tc>
                  <a:txBody>
                    <a:bodyPr/>
                    <a:lstStyle/>
                    <a:p>
                      <a:pPr>
                        <a:buNone/>
                      </a:pPr>
                      <a:r>
                        <a:rPr lang="fr-FR" dirty="0"/>
                        <a:t>Machine Intelligence → USE: </a:t>
                      </a:r>
                      <a:r>
                        <a:rPr lang="fr-FR" dirty="0" err="1"/>
                        <a:t>Artificial</a:t>
                      </a:r>
                      <a:r>
                        <a:rPr lang="fr-FR" dirty="0"/>
                        <a:t> Intelligence</a:t>
                      </a:r>
                    </a:p>
                  </a:txBody>
                  <a:tcPr anchor="ctr">
                    <a:lnL>
                      <a:noFill/>
                    </a:lnL>
                    <a:lnR>
                      <a:noFill/>
                    </a:lnR>
                    <a:lnT>
                      <a:noFill/>
                    </a:lnT>
                    <a:lnB>
                      <a:noFill/>
                    </a:lnB>
                    <a:noFill/>
                  </a:tcPr>
                </a:tc>
                <a:extLst>
                  <a:ext uri="{0D108BD9-81ED-4DB2-BD59-A6C34878D82A}">
                    <a16:rowId xmlns:a16="http://schemas.microsoft.com/office/drawing/2014/main" val="122601654"/>
                  </a:ext>
                </a:extLst>
              </a:tr>
            </a:tbl>
          </a:graphicData>
        </a:graphic>
      </p:graphicFrame>
    </p:spTree>
    <p:extLst>
      <p:ext uri="{BB962C8B-B14F-4D97-AF65-F5344CB8AC3E}">
        <p14:creationId xmlns:p14="http://schemas.microsoft.com/office/powerpoint/2010/main" val="223909363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BAAF13-74CE-52E7-025D-07662E1A85AD}"/>
              </a:ext>
            </a:extLst>
          </p:cNvPr>
          <p:cNvSpPr>
            <a:spLocks noGrp="1"/>
          </p:cNvSpPr>
          <p:nvPr>
            <p:ph idx="1"/>
          </p:nvPr>
        </p:nvSpPr>
        <p:spPr/>
        <p:txBody>
          <a:bodyPr/>
          <a:lstStyle/>
          <a:p>
            <a:pPr algn="just"/>
            <a:r>
              <a:rPr lang="en-IN" b="1"/>
              <a:t>CC(Classification </a:t>
            </a:r>
            <a:r>
              <a:rPr lang="en-IN" b="1" dirty="0"/>
              <a:t>C</a:t>
            </a:r>
            <a:r>
              <a:rPr lang="en-IN" b="1"/>
              <a:t>ode</a:t>
            </a:r>
            <a:r>
              <a:rPr lang="en-IN" b="1" dirty="0"/>
              <a:t>) </a:t>
            </a:r>
            <a:r>
              <a:rPr lang="en-US" dirty="0"/>
              <a:t>indicates the </a:t>
            </a:r>
            <a:r>
              <a:rPr lang="en-US" b="1" dirty="0"/>
              <a:t>subject category</a:t>
            </a:r>
            <a:r>
              <a:rPr lang="en-US" dirty="0"/>
              <a:t> or </a:t>
            </a:r>
            <a:r>
              <a:rPr lang="en-US" b="1" dirty="0"/>
              <a:t>broad area</a:t>
            </a:r>
            <a:r>
              <a:rPr lang="en-US" dirty="0"/>
              <a:t> where a term belongs.</a:t>
            </a:r>
            <a:r>
              <a:rPr lang="en-IN" dirty="0"/>
              <a:t> </a:t>
            </a:r>
          </a:p>
          <a:p>
            <a:pPr algn="just"/>
            <a:r>
              <a:rPr lang="en-US" b="1" dirty="0"/>
              <a:t>FC (Facet Code)</a:t>
            </a:r>
            <a:r>
              <a:rPr lang="en-US" dirty="0"/>
              <a:t> indicates the </a:t>
            </a:r>
            <a:r>
              <a:rPr lang="en-US" b="1" dirty="0"/>
              <a:t>facet</a:t>
            </a:r>
            <a:r>
              <a:rPr lang="en-US" dirty="0"/>
              <a:t> or </a:t>
            </a:r>
            <a:r>
              <a:rPr lang="en-US" b="1" dirty="0"/>
              <a:t>contextual category</a:t>
            </a:r>
            <a:r>
              <a:rPr lang="en-US" dirty="0"/>
              <a:t> in which the term is used within that subject area.</a:t>
            </a:r>
            <a:endParaRPr lang="en-IN" dirty="0"/>
          </a:p>
        </p:txBody>
      </p:sp>
    </p:spTree>
    <p:extLst>
      <p:ext uri="{BB962C8B-B14F-4D97-AF65-F5344CB8AC3E}">
        <p14:creationId xmlns:p14="http://schemas.microsoft.com/office/powerpoint/2010/main" val="18434033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E9A4C3-08E4-099C-9EF7-25B5CDCBC3CE}"/>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70C1F967-F02D-0EA7-BC49-9D7F3154F6DA}"/>
              </a:ext>
            </a:extLst>
          </p:cNvPr>
          <p:cNvPicPr>
            <a:picLocks noChangeAspect="1"/>
          </p:cNvPicPr>
          <p:nvPr/>
        </p:nvPicPr>
        <p:blipFill>
          <a:blip r:embed="rId2"/>
          <a:stretch>
            <a:fillRect/>
          </a:stretch>
        </p:blipFill>
        <p:spPr>
          <a:xfrm>
            <a:off x="619125" y="442912"/>
            <a:ext cx="10953750" cy="5972175"/>
          </a:xfrm>
          <a:prstGeom prst="rect">
            <a:avLst/>
          </a:prstGeom>
        </p:spPr>
      </p:pic>
    </p:spTree>
    <p:extLst>
      <p:ext uri="{BB962C8B-B14F-4D97-AF65-F5344CB8AC3E}">
        <p14:creationId xmlns:p14="http://schemas.microsoft.com/office/powerpoint/2010/main" val="40036675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6C639-E746-B60B-3241-E29635127A4B}"/>
              </a:ext>
            </a:extLst>
          </p:cNvPr>
          <p:cNvSpPr>
            <a:spLocks noGrp="1"/>
          </p:cNvSpPr>
          <p:nvPr>
            <p:ph type="title"/>
          </p:nvPr>
        </p:nvSpPr>
        <p:spPr>
          <a:xfrm>
            <a:off x="838200" y="365126"/>
            <a:ext cx="10515600" cy="903236"/>
          </a:xfrm>
        </p:spPr>
        <p:txBody>
          <a:bodyPr/>
          <a:lstStyle/>
          <a:p>
            <a:r>
              <a:rPr lang="en-IN" b="1" dirty="0"/>
              <a:t>FEATURES OF THESAURI:</a:t>
            </a:r>
            <a:endParaRPr lang="en-IN" dirty="0"/>
          </a:p>
        </p:txBody>
      </p:sp>
      <p:sp>
        <p:nvSpPr>
          <p:cNvPr id="3" name="Content Placeholder 2">
            <a:extLst>
              <a:ext uri="{FF2B5EF4-FFF2-40B4-BE49-F238E27FC236}">
                <a16:creationId xmlns:a16="http://schemas.microsoft.com/office/drawing/2014/main" id="{D072B95D-8839-46EF-F051-E1292AF2CA06}"/>
              </a:ext>
            </a:extLst>
          </p:cNvPr>
          <p:cNvSpPr>
            <a:spLocks noGrp="1"/>
          </p:cNvSpPr>
          <p:nvPr>
            <p:ph idx="1"/>
          </p:nvPr>
        </p:nvSpPr>
        <p:spPr>
          <a:xfrm>
            <a:off x="838200" y="1563329"/>
            <a:ext cx="10515600" cy="4613634"/>
          </a:xfrm>
        </p:spPr>
        <p:txBody>
          <a:bodyPr/>
          <a:lstStyle/>
          <a:p>
            <a:r>
              <a:rPr lang="en-IN" dirty="0"/>
              <a:t>Coordination Level</a:t>
            </a:r>
          </a:p>
          <a:p>
            <a:r>
              <a:rPr lang="en-IN" dirty="0"/>
              <a:t>Term Relationships</a:t>
            </a:r>
          </a:p>
          <a:p>
            <a:r>
              <a:rPr lang="en-US" dirty="0"/>
              <a:t>Number of Entries for Each Term</a:t>
            </a:r>
          </a:p>
          <a:p>
            <a:r>
              <a:rPr lang="en-IN" dirty="0"/>
              <a:t>Specificity of Vocabulary</a:t>
            </a:r>
          </a:p>
          <a:p>
            <a:r>
              <a:rPr lang="en-US" dirty="0"/>
              <a:t>Control on Term Frequency of Class Members</a:t>
            </a:r>
          </a:p>
          <a:p>
            <a:r>
              <a:rPr lang="en-IN" dirty="0"/>
              <a:t>Normalization of Vocabulary</a:t>
            </a:r>
          </a:p>
          <a:p>
            <a:pPr marL="0" indent="0">
              <a:buNone/>
            </a:pPr>
            <a:endParaRPr lang="en-IN" dirty="0"/>
          </a:p>
        </p:txBody>
      </p:sp>
    </p:spTree>
    <p:extLst>
      <p:ext uri="{BB962C8B-B14F-4D97-AF65-F5344CB8AC3E}">
        <p14:creationId xmlns:p14="http://schemas.microsoft.com/office/powerpoint/2010/main" val="109294453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563FC-97DA-6138-66F7-1B578EB49962}"/>
              </a:ext>
            </a:extLst>
          </p:cNvPr>
          <p:cNvSpPr>
            <a:spLocks noGrp="1"/>
          </p:cNvSpPr>
          <p:nvPr>
            <p:ph type="title"/>
          </p:nvPr>
        </p:nvSpPr>
        <p:spPr>
          <a:xfrm>
            <a:off x="838200" y="365125"/>
            <a:ext cx="10515600" cy="608269"/>
          </a:xfrm>
        </p:spPr>
        <p:txBody>
          <a:bodyPr>
            <a:normAutofit fontScale="90000"/>
          </a:bodyPr>
          <a:lstStyle/>
          <a:p>
            <a:r>
              <a:rPr lang="en-IN" b="1" dirty="0"/>
              <a:t>Coordination Level:</a:t>
            </a:r>
            <a:endParaRPr lang="en-IN" dirty="0"/>
          </a:p>
        </p:txBody>
      </p:sp>
      <p:sp>
        <p:nvSpPr>
          <p:cNvPr id="3" name="Content Placeholder 2">
            <a:extLst>
              <a:ext uri="{FF2B5EF4-FFF2-40B4-BE49-F238E27FC236}">
                <a16:creationId xmlns:a16="http://schemas.microsoft.com/office/drawing/2014/main" id="{D797EBEA-B5E1-462F-05D1-8749759C0E67}"/>
              </a:ext>
            </a:extLst>
          </p:cNvPr>
          <p:cNvSpPr>
            <a:spLocks noGrp="1"/>
          </p:cNvSpPr>
          <p:nvPr>
            <p:ph idx="1"/>
          </p:nvPr>
        </p:nvSpPr>
        <p:spPr>
          <a:xfrm>
            <a:off x="838200" y="1219200"/>
            <a:ext cx="10515600" cy="4957763"/>
          </a:xfrm>
        </p:spPr>
        <p:txBody>
          <a:bodyPr/>
          <a:lstStyle/>
          <a:p>
            <a:pPr algn="just"/>
            <a:r>
              <a:rPr lang="en-US" dirty="0"/>
              <a:t>Coordination refers to the construction of phrases from individual terms. </a:t>
            </a:r>
          </a:p>
          <a:p>
            <a:pPr algn="just"/>
            <a:r>
              <a:rPr lang="en-US" dirty="0"/>
              <a:t>Two distinct coordination options are recognized in thesauri: </a:t>
            </a:r>
            <a:r>
              <a:rPr lang="en-US" dirty="0" err="1"/>
              <a:t>precoordination</a:t>
            </a:r>
            <a:r>
              <a:rPr lang="en-US" dirty="0"/>
              <a:t> and post-coordination. </a:t>
            </a:r>
          </a:p>
          <a:p>
            <a:pPr algn="just"/>
            <a:r>
              <a:rPr lang="en-US" dirty="0"/>
              <a:t>A precoordinated thesaurus is one that can contain phrases. Consequently, phrases are available for indexing and retrieval. </a:t>
            </a:r>
          </a:p>
          <a:p>
            <a:pPr algn="just"/>
            <a:r>
              <a:rPr lang="en-US" dirty="0"/>
              <a:t>A </a:t>
            </a:r>
            <a:r>
              <a:rPr lang="en-US" dirty="0" err="1"/>
              <a:t>postcoordinated</a:t>
            </a:r>
            <a:r>
              <a:rPr lang="en-US" dirty="0"/>
              <a:t> thesaurus does not allow phrases. Instead, phrases are constructed while searching. </a:t>
            </a:r>
            <a:endParaRPr lang="en-IN" dirty="0"/>
          </a:p>
        </p:txBody>
      </p:sp>
    </p:spTree>
    <p:extLst>
      <p:ext uri="{BB962C8B-B14F-4D97-AF65-F5344CB8AC3E}">
        <p14:creationId xmlns:p14="http://schemas.microsoft.com/office/powerpoint/2010/main" val="33318441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CDD2AD-C768-DA73-A479-BE9CAA28E252}"/>
              </a:ext>
            </a:extLst>
          </p:cNvPr>
          <p:cNvSpPr>
            <a:spLocks noGrp="1"/>
          </p:cNvSpPr>
          <p:nvPr>
            <p:ph idx="1"/>
          </p:nvPr>
        </p:nvSpPr>
        <p:spPr>
          <a:xfrm>
            <a:off x="838200" y="422787"/>
            <a:ext cx="10515600" cy="6233652"/>
          </a:xfrm>
        </p:spPr>
        <p:txBody>
          <a:bodyPr>
            <a:normAutofit fontScale="92500" lnSpcReduction="10000"/>
          </a:bodyPr>
          <a:lstStyle/>
          <a:p>
            <a:pPr algn="just"/>
            <a:r>
              <a:rPr lang="en-US" dirty="0"/>
              <a:t>The advantage in </a:t>
            </a:r>
            <a:r>
              <a:rPr lang="en-US" dirty="0" err="1"/>
              <a:t>precoordination</a:t>
            </a:r>
            <a:r>
              <a:rPr lang="en-US" dirty="0"/>
              <a:t> is that the vocabulary is very precise, thus reducing ambiguity in indexing and in searching. </a:t>
            </a:r>
          </a:p>
          <a:p>
            <a:pPr algn="just"/>
            <a:r>
              <a:rPr lang="en-US" dirty="0"/>
              <a:t>Also, commonly accepted phrases become part of the vocabulary.</a:t>
            </a:r>
          </a:p>
          <a:p>
            <a:pPr algn="just"/>
            <a:r>
              <a:rPr lang="en-US" dirty="0"/>
              <a:t> However, the disadvantage is that the searcher has to be aware of the phrase construction rules employed.</a:t>
            </a:r>
          </a:p>
          <a:p>
            <a:pPr algn="just"/>
            <a:r>
              <a:rPr lang="en-US" dirty="0"/>
              <a:t>Thesauri can adopt an intermediate level of coordination by allowing both phrases and single words. </a:t>
            </a:r>
          </a:p>
          <a:p>
            <a:pPr algn="just"/>
            <a:r>
              <a:rPr lang="en-US" dirty="0"/>
              <a:t>Some thesauri may emphasize two or three word phrases, while others may emphasize even larger sized phrases. </a:t>
            </a:r>
          </a:p>
          <a:p>
            <a:pPr algn="just"/>
            <a:r>
              <a:rPr lang="en-US" dirty="0"/>
              <a:t>Therefore, it is insufficient to state that two thesauri are similar simply because they follow </a:t>
            </a:r>
            <a:r>
              <a:rPr lang="en-US" dirty="0" err="1"/>
              <a:t>precoordination</a:t>
            </a:r>
            <a:r>
              <a:rPr lang="en-US" dirty="0"/>
              <a:t>. </a:t>
            </a:r>
          </a:p>
          <a:p>
            <a:pPr algn="just"/>
            <a:r>
              <a:rPr lang="en-US" dirty="0"/>
              <a:t>The level of coordination is important as well. </a:t>
            </a:r>
          </a:p>
          <a:p>
            <a:pPr algn="just"/>
            <a:r>
              <a:rPr lang="en-US" dirty="0"/>
              <a:t>It should be recognized that the higher the level of coordination, the greater the precision of the vocabulary but the larger the vocabulary size. </a:t>
            </a:r>
          </a:p>
          <a:p>
            <a:pPr algn="just"/>
            <a:r>
              <a:rPr lang="en-US" dirty="0"/>
              <a:t>It also implies an increase in the number of relationships to be encoded. Therefore, the thesaurus becomes more complex.</a:t>
            </a:r>
            <a:endParaRPr lang="en-IN" dirty="0"/>
          </a:p>
        </p:txBody>
      </p:sp>
    </p:spTree>
    <p:extLst>
      <p:ext uri="{BB962C8B-B14F-4D97-AF65-F5344CB8AC3E}">
        <p14:creationId xmlns:p14="http://schemas.microsoft.com/office/powerpoint/2010/main" val="15773668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0D7FCE-59F1-7026-3E8C-6E107E72457E}"/>
              </a:ext>
            </a:extLst>
          </p:cNvPr>
          <p:cNvSpPr>
            <a:spLocks noGrp="1"/>
          </p:cNvSpPr>
          <p:nvPr>
            <p:ph idx="1"/>
          </p:nvPr>
        </p:nvSpPr>
        <p:spPr>
          <a:xfrm>
            <a:off x="838200" y="314632"/>
            <a:ext cx="10515600" cy="5862331"/>
          </a:xfrm>
        </p:spPr>
        <p:txBody>
          <a:bodyPr>
            <a:normAutofit/>
          </a:bodyPr>
          <a:lstStyle/>
          <a:p>
            <a:pPr algn="just"/>
            <a:r>
              <a:rPr lang="en-US" dirty="0"/>
              <a:t>The advantage in post-coordination is that the user need not worry about the exact ordering of the words in a phrase. </a:t>
            </a:r>
          </a:p>
          <a:p>
            <a:pPr algn="just"/>
            <a:r>
              <a:rPr lang="en-US" dirty="0"/>
              <a:t>Phrase combinations can be created as and when appropriate during searching. </a:t>
            </a:r>
          </a:p>
          <a:p>
            <a:pPr algn="just"/>
            <a:r>
              <a:rPr lang="en-US" dirty="0"/>
              <a:t>The disadvantage is that search precision may fall, as illustrated by the following well known example, from Salton and McGill (1983): the distinction between phrases such as "Venetian blind" and "blind Venetian" may be lost. A more likely example is "library school" and "school library." </a:t>
            </a:r>
          </a:p>
          <a:p>
            <a:pPr algn="just"/>
            <a:r>
              <a:rPr lang="en-US" dirty="0"/>
              <a:t>The problem is that unless search strategies are designed carefully, irrelevant items may also be retrieved. </a:t>
            </a:r>
          </a:p>
          <a:p>
            <a:pPr algn="just"/>
            <a:r>
              <a:rPr lang="en-US" dirty="0" err="1"/>
              <a:t>Precoordination</a:t>
            </a:r>
            <a:r>
              <a:rPr lang="en-US" dirty="0"/>
              <a:t> is more common in manually constructed thesauri. </a:t>
            </a:r>
          </a:p>
          <a:p>
            <a:pPr algn="just"/>
            <a:r>
              <a:rPr lang="en-US" dirty="0"/>
              <a:t>Automatic thesaurus construction usually implies post-coordination. </a:t>
            </a:r>
            <a:endParaRPr lang="en-IN" dirty="0"/>
          </a:p>
        </p:txBody>
      </p:sp>
    </p:spTree>
    <p:extLst>
      <p:ext uri="{BB962C8B-B14F-4D97-AF65-F5344CB8AC3E}">
        <p14:creationId xmlns:p14="http://schemas.microsoft.com/office/powerpoint/2010/main" val="7639380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A3CA8-886F-E551-5E9B-2858B8DECF39}"/>
              </a:ext>
            </a:extLst>
          </p:cNvPr>
          <p:cNvSpPr>
            <a:spLocks noGrp="1"/>
          </p:cNvSpPr>
          <p:nvPr>
            <p:ph type="title"/>
          </p:nvPr>
        </p:nvSpPr>
        <p:spPr>
          <a:xfrm>
            <a:off x="838200" y="365126"/>
            <a:ext cx="10515600" cy="873740"/>
          </a:xfrm>
        </p:spPr>
        <p:txBody>
          <a:bodyPr/>
          <a:lstStyle/>
          <a:p>
            <a:r>
              <a:rPr lang="en-IN" b="1" dirty="0"/>
              <a:t>Term Relationships:</a:t>
            </a:r>
            <a:endParaRPr lang="en-IN" dirty="0"/>
          </a:p>
        </p:txBody>
      </p:sp>
      <p:sp>
        <p:nvSpPr>
          <p:cNvPr id="3" name="Content Placeholder 2">
            <a:extLst>
              <a:ext uri="{FF2B5EF4-FFF2-40B4-BE49-F238E27FC236}">
                <a16:creationId xmlns:a16="http://schemas.microsoft.com/office/drawing/2014/main" id="{D5BCD249-21A7-1A5E-5A1B-9E2BD268CE60}"/>
              </a:ext>
            </a:extLst>
          </p:cNvPr>
          <p:cNvSpPr>
            <a:spLocks noGrp="1"/>
          </p:cNvSpPr>
          <p:nvPr>
            <p:ph idx="1"/>
          </p:nvPr>
        </p:nvSpPr>
        <p:spPr>
          <a:xfrm>
            <a:off x="838200" y="1238866"/>
            <a:ext cx="10515600" cy="4938097"/>
          </a:xfrm>
        </p:spPr>
        <p:txBody>
          <a:bodyPr>
            <a:normAutofit/>
          </a:bodyPr>
          <a:lstStyle/>
          <a:p>
            <a:pPr algn="just"/>
            <a:r>
              <a:rPr lang="en-US" dirty="0"/>
              <a:t>Term relationships provide vocabulary connections that are most valuable for retrieval. </a:t>
            </a:r>
          </a:p>
          <a:p>
            <a:pPr algn="just"/>
            <a:r>
              <a:rPr lang="en-US" dirty="0"/>
              <a:t>Many kinds of relationships are expressed in a manual thesaurus.</a:t>
            </a:r>
          </a:p>
          <a:p>
            <a:pPr algn="just"/>
            <a:r>
              <a:rPr lang="en-US" dirty="0"/>
              <a:t>Aitchison and Gilchrist (1972) specify three categories of term relationships: </a:t>
            </a:r>
          </a:p>
          <a:p>
            <a:pPr marL="514350" indent="-514350" algn="just">
              <a:buAutoNum type="arabicPeriod"/>
            </a:pPr>
            <a:r>
              <a:rPr lang="en-US" dirty="0"/>
              <a:t>Equivalence relationships</a:t>
            </a:r>
          </a:p>
          <a:p>
            <a:pPr marL="514350" indent="-514350" algn="just">
              <a:buAutoNum type="arabicPeriod"/>
            </a:pPr>
            <a:r>
              <a:rPr lang="en-US" dirty="0"/>
              <a:t>Hierarchical relationships</a:t>
            </a:r>
          </a:p>
          <a:p>
            <a:pPr marL="514350" indent="-514350" algn="just">
              <a:buAutoNum type="arabicPeriod"/>
            </a:pPr>
            <a:r>
              <a:rPr lang="en-US" dirty="0"/>
              <a:t>Nonhierarchical relationships.</a:t>
            </a:r>
            <a:endParaRPr lang="en-IN" dirty="0"/>
          </a:p>
        </p:txBody>
      </p:sp>
    </p:spTree>
    <p:extLst>
      <p:ext uri="{BB962C8B-B14F-4D97-AF65-F5344CB8AC3E}">
        <p14:creationId xmlns:p14="http://schemas.microsoft.com/office/powerpoint/2010/main" val="59744433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713C63-855A-525E-DC72-DA36418BDF65}"/>
              </a:ext>
            </a:extLst>
          </p:cNvPr>
          <p:cNvSpPr>
            <a:spLocks noGrp="1"/>
          </p:cNvSpPr>
          <p:nvPr>
            <p:ph idx="1"/>
          </p:nvPr>
        </p:nvSpPr>
        <p:spPr>
          <a:xfrm>
            <a:off x="838200" y="314632"/>
            <a:ext cx="10515600" cy="6543368"/>
          </a:xfrm>
        </p:spPr>
        <p:txBody>
          <a:bodyPr>
            <a:normAutofit fontScale="85000" lnSpcReduction="20000"/>
          </a:bodyPr>
          <a:lstStyle/>
          <a:p>
            <a:pPr algn="just"/>
            <a:r>
              <a:rPr lang="en-US" dirty="0"/>
              <a:t> </a:t>
            </a:r>
            <a:r>
              <a:rPr lang="en-US" sz="2900" dirty="0"/>
              <a:t>Equivalence relations include both synonymy and quasi-synonymy. </a:t>
            </a:r>
          </a:p>
          <a:p>
            <a:pPr algn="just"/>
            <a:r>
              <a:rPr lang="en-US" sz="2900" dirty="0"/>
              <a:t> Synonyms can arise because of trade names, popular and local usage, superseded terms, and the like.</a:t>
            </a:r>
          </a:p>
          <a:p>
            <a:pPr lvl="1" algn="just">
              <a:buFont typeface="Wingdings" panose="05000000000000000000" pitchFamily="2" charset="2"/>
              <a:buChar char="Ø"/>
            </a:pPr>
            <a:r>
              <a:rPr lang="en-US" sz="2900" b="1" dirty="0"/>
              <a:t>Trade names:</a:t>
            </a:r>
            <a:r>
              <a:rPr lang="en-US" sz="2900" dirty="0"/>
              <a:t> </a:t>
            </a:r>
            <a:r>
              <a:rPr lang="en-US" sz="2900" i="1" dirty="0"/>
              <a:t>Aspirin</a:t>
            </a:r>
            <a:r>
              <a:rPr lang="en-US" sz="2900" dirty="0"/>
              <a:t> ↔ </a:t>
            </a:r>
            <a:r>
              <a:rPr lang="en-US" sz="2900" i="1" dirty="0"/>
              <a:t>Acetylsalicylic acid</a:t>
            </a:r>
          </a:p>
          <a:p>
            <a:pPr lvl="1" algn="just">
              <a:buFont typeface="Wingdings" panose="05000000000000000000" pitchFamily="2" charset="2"/>
              <a:buChar char="Ø"/>
            </a:pPr>
            <a:r>
              <a:rPr lang="en-US" sz="2900" b="1" dirty="0"/>
              <a:t>Popular vs. scientific terms:</a:t>
            </a:r>
            <a:r>
              <a:rPr lang="en-US" sz="2900" dirty="0"/>
              <a:t> </a:t>
            </a:r>
            <a:r>
              <a:rPr lang="en-US" sz="2900" i="1" dirty="0"/>
              <a:t>Heart attack</a:t>
            </a:r>
            <a:r>
              <a:rPr lang="en-US" sz="2900" dirty="0"/>
              <a:t> ↔ </a:t>
            </a:r>
            <a:r>
              <a:rPr lang="en-US" sz="2900" i="1" dirty="0"/>
              <a:t>Myocardial infarction</a:t>
            </a:r>
          </a:p>
          <a:p>
            <a:pPr lvl="1" algn="just">
              <a:buFont typeface="Wingdings" panose="05000000000000000000" pitchFamily="2" charset="2"/>
              <a:buChar char="Ø"/>
            </a:pPr>
            <a:r>
              <a:rPr lang="en-US" sz="2900" b="1" dirty="0"/>
              <a:t>Local or regional usage:</a:t>
            </a:r>
            <a:r>
              <a:rPr lang="en-US" sz="2900" dirty="0"/>
              <a:t> </a:t>
            </a:r>
            <a:r>
              <a:rPr lang="en-US" sz="2900" i="1" dirty="0"/>
              <a:t>Lift</a:t>
            </a:r>
            <a:r>
              <a:rPr lang="en-US" sz="2900" dirty="0"/>
              <a:t> ↔ </a:t>
            </a:r>
            <a:r>
              <a:rPr lang="en-US" sz="2900" i="1" dirty="0"/>
              <a:t>Elevator</a:t>
            </a:r>
          </a:p>
          <a:p>
            <a:pPr lvl="1" algn="just">
              <a:buFont typeface="Wingdings" panose="05000000000000000000" pitchFamily="2" charset="2"/>
              <a:buChar char="Ø"/>
            </a:pPr>
            <a:r>
              <a:rPr lang="en-US" sz="2900" b="1" dirty="0"/>
              <a:t>Superseded terms:</a:t>
            </a:r>
            <a:r>
              <a:rPr lang="en-US" sz="2900" dirty="0"/>
              <a:t> </a:t>
            </a:r>
            <a:r>
              <a:rPr lang="en-US" sz="2900" i="1" dirty="0"/>
              <a:t>Microcomputer</a:t>
            </a:r>
            <a:r>
              <a:rPr lang="en-US" sz="2900" dirty="0"/>
              <a:t> (old) ↔ </a:t>
            </a:r>
            <a:r>
              <a:rPr lang="en-US" sz="2900" i="1" dirty="0"/>
              <a:t>Personal computer</a:t>
            </a:r>
            <a:r>
              <a:rPr lang="en-US" sz="2900" dirty="0"/>
              <a:t> (new)</a:t>
            </a:r>
            <a:endParaRPr lang="en-US" sz="2900" b="1" dirty="0"/>
          </a:p>
          <a:p>
            <a:pPr algn="just"/>
            <a:r>
              <a:rPr lang="en-US" sz="2900" b="1" dirty="0"/>
              <a:t>Synonyms</a:t>
            </a:r>
            <a:r>
              <a:rPr lang="en-US" sz="2900" dirty="0"/>
              <a:t> are </a:t>
            </a:r>
            <a:r>
              <a:rPr lang="en-US" sz="2900" b="1" dirty="0"/>
              <a:t>different words that have the same or very similar meanings</a:t>
            </a:r>
            <a:r>
              <a:rPr lang="en-US" sz="2900" dirty="0"/>
              <a:t>. In IR, these are treated as equivalent so that a search for one term also retrieves documents containing its synonym.</a:t>
            </a:r>
          </a:p>
          <a:p>
            <a:pPr lvl="1">
              <a:buFont typeface="Wingdings" panose="05000000000000000000" pitchFamily="2" charset="2"/>
              <a:buChar char="Ø"/>
            </a:pPr>
            <a:r>
              <a:rPr lang="en-US" sz="2500" dirty="0"/>
              <a:t>In a </a:t>
            </a:r>
            <a:r>
              <a:rPr lang="en-US" sz="2500" b="1" dirty="0"/>
              <a:t>thesaurus</a:t>
            </a:r>
            <a:r>
              <a:rPr lang="en-US" sz="2500" dirty="0"/>
              <a:t>, we can have:</a:t>
            </a:r>
          </a:p>
          <a:p>
            <a:pPr marL="0" indent="0">
              <a:buNone/>
            </a:pPr>
            <a:r>
              <a:rPr lang="en-US" sz="2900" dirty="0"/>
              <a:t>	Automobile </a:t>
            </a:r>
            <a:r>
              <a:rPr lang="en-US" sz="2900" b="1" dirty="0"/>
              <a:t>USE</a:t>
            </a:r>
            <a:r>
              <a:rPr lang="en-US" sz="2900" dirty="0"/>
              <a:t> Car</a:t>
            </a:r>
            <a:br>
              <a:rPr lang="en-US" sz="2900" dirty="0"/>
            </a:br>
            <a:r>
              <a:rPr lang="en-US" sz="2900" dirty="0"/>
              <a:t>	Film </a:t>
            </a:r>
            <a:r>
              <a:rPr lang="en-US" sz="2900" b="1" dirty="0"/>
              <a:t>USE</a:t>
            </a:r>
            <a:r>
              <a:rPr lang="en-US" sz="2900" dirty="0"/>
              <a:t> Movie</a:t>
            </a:r>
          </a:p>
          <a:p>
            <a:pPr algn="just"/>
            <a:r>
              <a:rPr lang="en-US" sz="3200" b="1" dirty="0"/>
              <a:t>Quasi-synonyms</a:t>
            </a:r>
            <a:r>
              <a:rPr lang="en-US" sz="3200" dirty="0"/>
              <a:t> are </a:t>
            </a:r>
            <a:r>
              <a:rPr lang="en-US" sz="3200" b="1" dirty="0"/>
              <a:t>terms that do not mean exactly the same thing</a:t>
            </a:r>
            <a:r>
              <a:rPr lang="en-US" sz="3200" dirty="0"/>
              <a:t>, but are </a:t>
            </a:r>
            <a:r>
              <a:rPr lang="en-US" sz="3200" b="1" dirty="0"/>
              <a:t>close enough in meaning </a:t>
            </a:r>
            <a:r>
              <a:rPr lang="en-US" sz="3200" dirty="0"/>
              <a:t>that they can be treated as equivalent </a:t>
            </a:r>
            <a:r>
              <a:rPr lang="en-US" sz="3200" b="1" dirty="0"/>
              <a:t>for retrieval purposes</a:t>
            </a:r>
            <a:r>
              <a:rPr lang="en-US" sz="3200" dirty="0"/>
              <a:t>.</a:t>
            </a:r>
            <a:endParaRPr lang="en-US" sz="2900" dirty="0"/>
          </a:p>
          <a:p>
            <a:pPr lvl="1" algn="just">
              <a:buFont typeface="Wingdings" panose="05000000000000000000" pitchFamily="2" charset="2"/>
              <a:buChar char="Ø"/>
            </a:pPr>
            <a:r>
              <a:rPr lang="en-US" sz="2500" dirty="0"/>
              <a:t>for example, "genetics" and "heredity," which have significant overlap in meaning. Also, the terms "harshness" and "tenderness," which represent different viewpoints of the same property continuum. </a:t>
            </a:r>
          </a:p>
        </p:txBody>
      </p:sp>
    </p:spTree>
    <p:extLst>
      <p:ext uri="{BB962C8B-B14F-4D97-AF65-F5344CB8AC3E}">
        <p14:creationId xmlns:p14="http://schemas.microsoft.com/office/powerpoint/2010/main" val="85947104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7D0321-C8BA-7FA6-99D5-7AF463273329}"/>
              </a:ext>
            </a:extLst>
          </p:cNvPr>
          <p:cNvSpPr>
            <a:spLocks noGrp="1"/>
          </p:cNvSpPr>
          <p:nvPr>
            <p:ph idx="1"/>
          </p:nvPr>
        </p:nvSpPr>
        <p:spPr>
          <a:xfrm>
            <a:off x="838200" y="452284"/>
            <a:ext cx="10515600" cy="5724679"/>
          </a:xfrm>
        </p:spPr>
        <p:txBody>
          <a:bodyPr>
            <a:normAutofit/>
          </a:bodyPr>
          <a:lstStyle/>
          <a:p>
            <a:pPr algn="just"/>
            <a:r>
              <a:rPr lang="en-US" dirty="0"/>
              <a:t>A </a:t>
            </a:r>
            <a:r>
              <a:rPr lang="en-US" b="1" dirty="0"/>
              <a:t>hierarchical relation</a:t>
            </a:r>
            <a:r>
              <a:rPr lang="en-US" dirty="0"/>
              <a:t> shows a </a:t>
            </a:r>
            <a:r>
              <a:rPr lang="en-US" b="1" dirty="0"/>
              <a:t>"broader–narrower"</a:t>
            </a:r>
            <a:r>
              <a:rPr lang="en-US" dirty="0"/>
              <a:t> or </a:t>
            </a:r>
            <a:r>
              <a:rPr lang="en-US" b="1" dirty="0"/>
              <a:t>"parent–child"</a:t>
            </a:r>
            <a:r>
              <a:rPr lang="en-US" dirty="0"/>
              <a:t> relationship between two concepts.</a:t>
            </a:r>
          </a:p>
          <a:p>
            <a:r>
              <a:rPr lang="en-US" dirty="0"/>
              <a:t>In a </a:t>
            </a:r>
            <a:r>
              <a:rPr lang="en-US" b="1" dirty="0"/>
              <a:t>thesaurus</a:t>
            </a:r>
            <a:r>
              <a:rPr lang="en-US" dirty="0"/>
              <a:t>, these are often marked as:</a:t>
            </a:r>
          </a:p>
          <a:p>
            <a:r>
              <a:rPr lang="en-US" b="1" dirty="0"/>
              <a:t>BT</a:t>
            </a:r>
            <a:r>
              <a:rPr lang="en-US" dirty="0"/>
              <a:t> (Broader Term)</a:t>
            </a:r>
          </a:p>
          <a:p>
            <a:r>
              <a:rPr lang="en-US" b="1" dirty="0"/>
              <a:t>NT</a:t>
            </a:r>
            <a:r>
              <a:rPr lang="en-US" dirty="0"/>
              <a:t> (Narrower Term)</a:t>
            </a:r>
          </a:p>
          <a:p>
            <a:pPr algn="just"/>
            <a:r>
              <a:rPr lang="en-US" dirty="0"/>
              <a:t>A typical example of a hierarchical relation is genus-species, such as "dog" and "</a:t>
            </a:r>
            <a:r>
              <a:rPr lang="en-US" dirty="0" err="1"/>
              <a:t>german</a:t>
            </a:r>
            <a:r>
              <a:rPr lang="en-US" dirty="0"/>
              <a:t> shepherd." “Dog” is a general class of animals; “German Shepherd” is a specific kind of dog.</a:t>
            </a:r>
          </a:p>
          <a:p>
            <a:endParaRPr lang="en-IN" dirty="0"/>
          </a:p>
        </p:txBody>
      </p:sp>
    </p:spTree>
    <p:extLst>
      <p:ext uri="{BB962C8B-B14F-4D97-AF65-F5344CB8AC3E}">
        <p14:creationId xmlns:p14="http://schemas.microsoft.com/office/powerpoint/2010/main" val="24446134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CF882D-9ADB-4190-5A65-C9228C2D2467}"/>
              </a:ext>
            </a:extLst>
          </p:cNvPr>
          <p:cNvSpPr>
            <a:spLocks noGrp="1"/>
          </p:cNvSpPr>
          <p:nvPr>
            <p:ph idx="1"/>
          </p:nvPr>
        </p:nvSpPr>
        <p:spPr>
          <a:xfrm>
            <a:off x="838200" y="894735"/>
            <a:ext cx="10515600" cy="5282228"/>
          </a:xfrm>
        </p:spPr>
        <p:txBody>
          <a:bodyPr>
            <a:normAutofit/>
          </a:bodyPr>
          <a:lstStyle/>
          <a:p>
            <a:pPr algn="just"/>
            <a:r>
              <a:rPr lang="en-US" dirty="0"/>
              <a:t>Nonhierarchical relationships also identify conceptually related terms.</a:t>
            </a:r>
          </a:p>
          <a:p>
            <a:pPr algn="just"/>
            <a:r>
              <a:rPr lang="en-US" dirty="0"/>
              <a:t>In a </a:t>
            </a:r>
            <a:r>
              <a:rPr lang="en-US" b="1" dirty="0"/>
              <a:t>thesaurus</a:t>
            </a:r>
            <a:r>
              <a:rPr lang="en-US" dirty="0"/>
              <a:t>, these are often marked as:</a:t>
            </a:r>
          </a:p>
          <a:p>
            <a:pPr algn="just"/>
            <a:r>
              <a:rPr lang="en-IN" b="1" dirty="0"/>
              <a:t>RT</a:t>
            </a:r>
            <a:r>
              <a:rPr lang="en-IN" dirty="0"/>
              <a:t> – </a:t>
            </a:r>
            <a:r>
              <a:rPr lang="en-IN" i="1" dirty="0"/>
              <a:t>Related Term</a:t>
            </a:r>
            <a:endParaRPr lang="en-US" dirty="0"/>
          </a:p>
          <a:p>
            <a:pPr algn="just"/>
            <a:r>
              <a:rPr lang="en-US" dirty="0"/>
              <a:t> There are many examples including: </a:t>
            </a:r>
          </a:p>
          <a:p>
            <a:pPr marL="457200" lvl="1" indent="0">
              <a:buNone/>
            </a:pPr>
            <a:r>
              <a:rPr lang="en-US" b="1" dirty="0"/>
              <a:t>1. Thing–Part Relationship</a:t>
            </a:r>
          </a:p>
          <a:p>
            <a:pPr lvl="2"/>
            <a:r>
              <a:rPr lang="en-US" dirty="0"/>
              <a:t>Example: </a:t>
            </a:r>
            <a:r>
              <a:rPr lang="en-US" b="1" dirty="0"/>
              <a:t>Bus – Seat</a:t>
            </a:r>
            <a:endParaRPr lang="en-US" dirty="0"/>
          </a:p>
          <a:p>
            <a:pPr lvl="2"/>
            <a:r>
              <a:rPr lang="en-US" dirty="0"/>
              <a:t>A </a:t>
            </a:r>
            <a:r>
              <a:rPr lang="en-US" i="1" dirty="0"/>
              <a:t>seat</a:t>
            </a:r>
            <a:r>
              <a:rPr lang="en-US" dirty="0"/>
              <a:t> is </a:t>
            </a:r>
            <a:r>
              <a:rPr lang="en-US" b="1" dirty="0"/>
              <a:t>part of</a:t>
            </a:r>
            <a:r>
              <a:rPr lang="en-US" dirty="0"/>
              <a:t> a </a:t>
            </a:r>
            <a:r>
              <a:rPr lang="en-US" i="1" dirty="0"/>
              <a:t>bus</a:t>
            </a:r>
            <a:r>
              <a:rPr lang="en-US" dirty="0"/>
              <a:t>, but it is not a </a:t>
            </a:r>
            <a:r>
              <a:rPr lang="en-US" i="1" dirty="0"/>
              <a:t>type of</a:t>
            </a:r>
            <a:r>
              <a:rPr lang="en-US" dirty="0"/>
              <a:t> bus.</a:t>
            </a:r>
          </a:p>
          <a:p>
            <a:pPr marL="457200" lvl="1" indent="0">
              <a:buNone/>
            </a:pPr>
            <a:r>
              <a:rPr lang="en-US" b="1" dirty="0"/>
              <a:t>2. Thing–Attribute Relationship</a:t>
            </a:r>
          </a:p>
          <a:p>
            <a:pPr lvl="2"/>
            <a:r>
              <a:rPr lang="en-US" dirty="0"/>
              <a:t>Example: </a:t>
            </a:r>
            <a:r>
              <a:rPr lang="en-US" b="1" dirty="0"/>
              <a:t>Rose – Fragrance</a:t>
            </a:r>
            <a:endParaRPr lang="en-US" dirty="0"/>
          </a:p>
          <a:p>
            <a:pPr lvl="2"/>
            <a:r>
              <a:rPr lang="en-US" dirty="0"/>
              <a:t>A </a:t>
            </a:r>
            <a:r>
              <a:rPr lang="en-US" i="1" dirty="0"/>
              <a:t>rose</a:t>
            </a:r>
            <a:r>
              <a:rPr lang="en-US" dirty="0"/>
              <a:t> is known for having the attribute </a:t>
            </a:r>
            <a:r>
              <a:rPr lang="en-US" i="1" dirty="0"/>
              <a:t>fragrance</a:t>
            </a:r>
            <a:r>
              <a:rPr lang="en-US" dirty="0"/>
              <a:t>.</a:t>
            </a:r>
          </a:p>
          <a:p>
            <a:pPr algn="just"/>
            <a:endParaRPr lang="en-US" dirty="0"/>
          </a:p>
          <a:p>
            <a:endParaRPr lang="en-IN" dirty="0"/>
          </a:p>
        </p:txBody>
      </p:sp>
    </p:spTree>
    <p:extLst>
      <p:ext uri="{BB962C8B-B14F-4D97-AF65-F5344CB8AC3E}">
        <p14:creationId xmlns:p14="http://schemas.microsoft.com/office/powerpoint/2010/main" val="149068561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60D963-CEE0-F063-24B1-BC2DF0E40D14}"/>
              </a:ext>
            </a:extLst>
          </p:cNvPr>
          <p:cNvSpPr>
            <a:spLocks noGrp="1"/>
          </p:cNvSpPr>
          <p:nvPr>
            <p:ph idx="1"/>
          </p:nvPr>
        </p:nvSpPr>
        <p:spPr>
          <a:xfrm>
            <a:off x="838200" y="727587"/>
            <a:ext cx="10515600" cy="5449376"/>
          </a:xfrm>
        </p:spPr>
        <p:txBody>
          <a:bodyPr/>
          <a:lstStyle/>
          <a:p>
            <a:pPr algn="just"/>
            <a:r>
              <a:rPr lang="en-US" dirty="0"/>
              <a:t>Wang, </a:t>
            </a:r>
            <a:r>
              <a:rPr lang="en-US" dirty="0" err="1"/>
              <a:t>Vandendorpe</a:t>
            </a:r>
            <a:r>
              <a:rPr lang="en-US" dirty="0"/>
              <a:t>, and Evens (1985) provide an alternative classification of term relationships consisting of: </a:t>
            </a:r>
          </a:p>
          <a:p>
            <a:pPr marL="514350" indent="-514350" algn="just">
              <a:buAutoNum type="arabicPeriod"/>
            </a:pPr>
            <a:r>
              <a:rPr lang="en-US" dirty="0"/>
              <a:t>Parts—wholes</a:t>
            </a:r>
          </a:p>
          <a:p>
            <a:pPr marL="514350" indent="-514350" algn="just">
              <a:buAutoNum type="arabicPeriod"/>
            </a:pPr>
            <a:r>
              <a:rPr lang="en-US" dirty="0"/>
              <a:t>Collocation relations</a:t>
            </a:r>
          </a:p>
          <a:p>
            <a:pPr marL="514350" indent="-514350" algn="just">
              <a:buAutoNum type="arabicPeriod"/>
            </a:pPr>
            <a:r>
              <a:rPr lang="en-US" dirty="0"/>
              <a:t>Paradigmatic relations</a:t>
            </a:r>
          </a:p>
          <a:p>
            <a:pPr marL="514350" indent="-514350" algn="just">
              <a:buAutoNum type="arabicPeriod"/>
            </a:pPr>
            <a:r>
              <a:rPr lang="en-US" dirty="0"/>
              <a:t>Taxonomy and synonymy</a:t>
            </a:r>
          </a:p>
          <a:p>
            <a:pPr marL="514350" indent="-514350" algn="just">
              <a:buAutoNum type="arabicPeriod"/>
            </a:pPr>
            <a:r>
              <a:rPr lang="en-US" dirty="0"/>
              <a:t>Antonymy relations. </a:t>
            </a:r>
            <a:endParaRPr lang="en-IN" dirty="0"/>
          </a:p>
        </p:txBody>
      </p:sp>
    </p:spTree>
    <p:extLst>
      <p:ext uri="{BB962C8B-B14F-4D97-AF65-F5344CB8AC3E}">
        <p14:creationId xmlns:p14="http://schemas.microsoft.com/office/powerpoint/2010/main" val="186254130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AD47B8-D42A-333C-426C-FE65EAAE3CFC}"/>
              </a:ext>
            </a:extLst>
          </p:cNvPr>
          <p:cNvSpPr>
            <a:spLocks noGrp="1"/>
          </p:cNvSpPr>
          <p:nvPr>
            <p:ph idx="1"/>
          </p:nvPr>
        </p:nvSpPr>
        <p:spPr>
          <a:xfrm>
            <a:off x="838200" y="648929"/>
            <a:ext cx="10515600" cy="5528034"/>
          </a:xfrm>
        </p:spPr>
        <p:txBody>
          <a:bodyPr>
            <a:normAutofit/>
          </a:bodyPr>
          <a:lstStyle/>
          <a:p>
            <a:pPr algn="just"/>
            <a:r>
              <a:rPr lang="en-US" dirty="0"/>
              <a:t>Parts and wholes: This type links a </a:t>
            </a:r>
            <a:r>
              <a:rPr lang="en-US" b="1" dirty="0"/>
              <a:t>whole</a:t>
            </a:r>
            <a:r>
              <a:rPr lang="en-US" dirty="0"/>
              <a:t> with its </a:t>
            </a:r>
            <a:r>
              <a:rPr lang="en-US" b="1" dirty="0"/>
              <a:t>parts.</a:t>
            </a:r>
          </a:p>
          <a:p>
            <a:pPr lvl="1" algn="just">
              <a:buFont typeface="Wingdings" panose="05000000000000000000" pitchFamily="2" charset="2"/>
              <a:buChar char="Ø"/>
            </a:pPr>
            <a:r>
              <a:rPr lang="en-US" dirty="0"/>
              <a:t>Examples such as set—element(An element is a member of a set). </a:t>
            </a:r>
          </a:p>
          <a:p>
            <a:pPr algn="just"/>
            <a:r>
              <a:rPr lang="en-US" dirty="0"/>
              <a:t>Collocation relates words that frequently co-occur in the same phrase or sentence. </a:t>
            </a:r>
          </a:p>
          <a:p>
            <a:pPr lvl="1" algn="just">
              <a:buFont typeface="Wingdings" panose="05000000000000000000" pitchFamily="2" charset="2"/>
              <a:buChar char="Ø"/>
            </a:pPr>
            <a:r>
              <a:rPr lang="en-IN" dirty="0"/>
              <a:t>Artificial Intelligence-</a:t>
            </a:r>
            <a:r>
              <a:rPr lang="en-US" dirty="0"/>
              <a:t>“Artificial” and “Intelligence” often appear together as a fixed phrase.</a:t>
            </a:r>
          </a:p>
          <a:p>
            <a:pPr lvl="1" algn="just">
              <a:buFont typeface="Wingdings" panose="05000000000000000000" pitchFamily="2" charset="2"/>
              <a:buChar char="Ø"/>
            </a:pPr>
            <a:r>
              <a:rPr lang="en-IN" dirty="0"/>
              <a:t>Data Mining-</a:t>
            </a:r>
            <a:r>
              <a:rPr lang="en-US" dirty="0"/>
              <a:t>Commonly used word pair in computer science.</a:t>
            </a:r>
          </a:p>
          <a:p>
            <a:pPr algn="just"/>
            <a:r>
              <a:rPr lang="en-US" dirty="0"/>
              <a:t>Paradigmatic relations relate words that have the same semantic core and are somewhat similar to Aitchison and Gilchrist's quasi-synonymy relationship. </a:t>
            </a:r>
          </a:p>
          <a:p>
            <a:pPr lvl="1" algn="just">
              <a:buFont typeface="Wingdings" panose="05000000000000000000" pitchFamily="2" charset="2"/>
              <a:buChar char="Ø"/>
            </a:pPr>
            <a:r>
              <a:rPr lang="en-US" dirty="0"/>
              <a:t>Example "moon" and "lunar" - Both relate to the same concept (the moon), though used in different grammatical forms.</a:t>
            </a:r>
          </a:p>
          <a:p>
            <a:pPr algn="just"/>
            <a:endParaRPr lang="en-US" dirty="0"/>
          </a:p>
        </p:txBody>
      </p:sp>
    </p:spTree>
    <p:extLst>
      <p:ext uri="{BB962C8B-B14F-4D97-AF65-F5344CB8AC3E}">
        <p14:creationId xmlns:p14="http://schemas.microsoft.com/office/powerpoint/2010/main" val="429160248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92C99A-874A-54E0-3E93-DCDCBE9AF539}"/>
              </a:ext>
            </a:extLst>
          </p:cNvPr>
          <p:cNvSpPr>
            <a:spLocks noGrp="1"/>
          </p:cNvSpPr>
          <p:nvPr>
            <p:ph idx="1"/>
          </p:nvPr>
        </p:nvSpPr>
        <p:spPr>
          <a:xfrm>
            <a:off x="838200" y="196645"/>
            <a:ext cx="10515600" cy="5980318"/>
          </a:xfrm>
        </p:spPr>
        <p:txBody>
          <a:bodyPr/>
          <a:lstStyle/>
          <a:p>
            <a:pPr algn="just"/>
            <a:r>
              <a:rPr lang="en-US" dirty="0"/>
              <a:t>Taxonomy and synonymy are self-explanatory and refer to the classical relations between terms. </a:t>
            </a:r>
          </a:p>
          <a:p>
            <a:pPr algn="just"/>
            <a:r>
              <a:rPr lang="en-US" b="1" dirty="0"/>
              <a:t>Taxonomy</a:t>
            </a:r>
            <a:r>
              <a:rPr lang="en-US" dirty="0"/>
              <a:t> defines hierarchical relations — </a:t>
            </a:r>
            <a:r>
              <a:rPr lang="en-US" i="1" dirty="0"/>
              <a:t>broader</a:t>
            </a:r>
            <a:r>
              <a:rPr lang="en-US" dirty="0"/>
              <a:t> and </a:t>
            </a:r>
            <a:r>
              <a:rPr lang="en-US" i="1" dirty="0"/>
              <a:t>narrower</a:t>
            </a:r>
            <a:r>
              <a:rPr lang="en-US" dirty="0"/>
              <a:t> terms (genus–species).</a:t>
            </a:r>
          </a:p>
          <a:p>
            <a:pPr lvl="1" algn="just">
              <a:buFont typeface="Wingdings" panose="05000000000000000000" pitchFamily="2" charset="2"/>
              <a:buChar char="Ø"/>
            </a:pPr>
            <a:r>
              <a:rPr lang="en-US" dirty="0"/>
              <a:t>Animal-Dog, Dog- </a:t>
            </a:r>
            <a:r>
              <a:rPr lang="en-IN" dirty="0"/>
              <a:t>German Shepherd</a:t>
            </a:r>
            <a:endParaRPr lang="en-US" dirty="0"/>
          </a:p>
          <a:p>
            <a:pPr algn="just"/>
            <a:r>
              <a:rPr lang="en-US" b="1" dirty="0"/>
              <a:t>Synonymy</a:t>
            </a:r>
            <a:r>
              <a:rPr lang="en-US" dirty="0"/>
              <a:t> defines equivalence — </a:t>
            </a:r>
            <a:r>
              <a:rPr lang="en-US" i="1" dirty="0"/>
              <a:t>same or similar meaning</a:t>
            </a:r>
            <a:r>
              <a:rPr lang="en-US" dirty="0"/>
              <a:t> terms.</a:t>
            </a:r>
          </a:p>
          <a:p>
            <a:pPr lvl="1" algn="just">
              <a:buFont typeface="Wingdings" panose="05000000000000000000" pitchFamily="2" charset="2"/>
              <a:buChar char="Ø"/>
            </a:pPr>
            <a:r>
              <a:rPr lang="en-US" dirty="0"/>
              <a:t>Car-Automobile, Movie-Film</a:t>
            </a:r>
          </a:p>
          <a:p>
            <a:pPr algn="just"/>
            <a:r>
              <a:rPr lang="en-US" b="1" dirty="0"/>
              <a:t>Antonymy</a:t>
            </a:r>
            <a:r>
              <a:rPr lang="en-US" dirty="0"/>
              <a:t> represents the </a:t>
            </a:r>
            <a:r>
              <a:rPr lang="en-US" b="1" dirty="0"/>
              <a:t>opposite meaning relationship</a:t>
            </a:r>
            <a:r>
              <a:rPr lang="en-US" dirty="0"/>
              <a:t> between two terms.</a:t>
            </a:r>
          </a:p>
          <a:p>
            <a:pPr lvl="1" algn="just">
              <a:buFont typeface="Wingdings" panose="05000000000000000000" pitchFamily="2" charset="2"/>
              <a:buChar char="Ø"/>
            </a:pPr>
            <a:r>
              <a:rPr lang="en-IN" dirty="0"/>
              <a:t>Hot – Cold (</a:t>
            </a:r>
            <a:r>
              <a:rPr lang="en-US" dirty="0"/>
              <a:t>Opposite ends of the temperature scale</a:t>
            </a:r>
            <a:r>
              <a:rPr lang="en-IN" dirty="0"/>
              <a:t>)</a:t>
            </a:r>
          </a:p>
          <a:p>
            <a:pPr lvl="1" algn="just">
              <a:buFont typeface="Wingdings" panose="05000000000000000000" pitchFamily="2" charset="2"/>
              <a:buChar char="Ø"/>
            </a:pPr>
            <a:r>
              <a:rPr lang="en-IN" dirty="0"/>
              <a:t>True – False(Opposite truth values)</a:t>
            </a:r>
            <a:endParaRPr lang="en-US" dirty="0"/>
          </a:p>
          <a:p>
            <a:pPr algn="just"/>
            <a:endParaRPr lang="en-US" dirty="0"/>
          </a:p>
          <a:p>
            <a:pPr algn="just"/>
            <a:endParaRPr lang="en-US" dirty="0"/>
          </a:p>
          <a:p>
            <a:pPr algn="just"/>
            <a:endParaRPr lang="en-IN" dirty="0"/>
          </a:p>
        </p:txBody>
      </p:sp>
    </p:spTree>
    <p:extLst>
      <p:ext uri="{BB962C8B-B14F-4D97-AF65-F5344CB8AC3E}">
        <p14:creationId xmlns:p14="http://schemas.microsoft.com/office/powerpoint/2010/main" val="191678250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3CDD9-04D0-779A-0E63-2BBAF63AD2EA}"/>
              </a:ext>
            </a:extLst>
          </p:cNvPr>
          <p:cNvSpPr>
            <a:spLocks noGrp="1"/>
          </p:cNvSpPr>
          <p:nvPr>
            <p:ph type="title"/>
          </p:nvPr>
        </p:nvSpPr>
        <p:spPr>
          <a:xfrm>
            <a:off x="838200" y="365126"/>
            <a:ext cx="10515600" cy="677094"/>
          </a:xfrm>
        </p:spPr>
        <p:txBody>
          <a:bodyPr>
            <a:normAutofit fontScale="90000"/>
          </a:bodyPr>
          <a:lstStyle/>
          <a:p>
            <a:r>
              <a:rPr lang="en-US" b="1" dirty="0"/>
              <a:t>Number of Entries for Each Term:</a:t>
            </a:r>
            <a:endParaRPr lang="en-IN" dirty="0"/>
          </a:p>
        </p:txBody>
      </p:sp>
      <p:sp>
        <p:nvSpPr>
          <p:cNvPr id="3" name="Content Placeholder 2">
            <a:extLst>
              <a:ext uri="{FF2B5EF4-FFF2-40B4-BE49-F238E27FC236}">
                <a16:creationId xmlns:a16="http://schemas.microsoft.com/office/drawing/2014/main" id="{6DB917FB-E18C-E947-310B-6AF9240D2B7A}"/>
              </a:ext>
            </a:extLst>
          </p:cNvPr>
          <p:cNvSpPr>
            <a:spLocks noGrp="1"/>
          </p:cNvSpPr>
          <p:nvPr>
            <p:ph idx="1"/>
          </p:nvPr>
        </p:nvSpPr>
        <p:spPr>
          <a:xfrm>
            <a:off x="838200" y="1179871"/>
            <a:ext cx="10515600" cy="4997092"/>
          </a:xfrm>
        </p:spPr>
        <p:txBody>
          <a:bodyPr>
            <a:normAutofit fontScale="85000" lnSpcReduction="20000"/>
          </a:bodyPr>
          <a:lstStyle/>
          <a:p>
            <a:pPr algn="just"/>
            <a:r>
              <a:rPr lang="en-US" dirty="0"/>
              <a:t>It is in general preferable to have a single entry for each thesaurus term. </a:t>
            </a:r>
          </a:p>
          <a:p>
            <a:pPr algn="just"/>
            <a:r>
              <a:rPr lang="en-US" dirty="0"/>
              <a:t>It is achieved due to the presence of homographs--words with multiple meanings. </a:t>
            </a:r>
          </a:p>
          <a:p>
            <a:pPr algn="just"/>
            <a:r>
              <a:rPr lang="en-US" dirty="0"/>
              <a:t>Also, the semantics of each instance of a homograph can only be contextually deciphered. </a:t>
            </a:r>
          </a:p>
          <a:p>
            <a:pPr algn="just"/>
            <a:r>
              <a:rPr lang="en-US" dirty="0"/>
              <a:t>Therefore, it is more realistic to have a unique representation or entry for each meaning of a homograph. </a:t>
            </a:r>
          </a:p>
          <a:p>
            <a:pPr algn="just"/>
            <a:r>
              <a:rPr lang="en-US" dirty="0"/>
              <a:t>This also allows each homograph entry to be associated with its own set of relations. </a:t>
            </a:r>
          </a:p>
          <a:p>
            <a:pPr algn="just"/>
            <a:r>
              <a:rPr lang="en-US" dirty="0"/>
              <a:t>The problem is that multiple term entries add a degree of complexity in using the thesaurus--especially if it is to be used automatically. </a:t>
            </a:r>
          </a:p>
          <a:p>
            <a:pPr algn="just"/>
            <a:r>
              <a:rPr lang="en-US" dirty="0"/>
              <a:t>Typically the user has to select between alternative meanings. In a manually constructed thesaurus such as INSPEC, this problem is resolved by the use of parenthetical qualifiers, as in the pair of homographs, bonds (chemical) and bonds (adhesive). </a:t>
            </a:r>
          </a:p>
          <a:p>
            <a:pPr algn="just"/>
            <a:r>
              <a:rPr lang="en-US" dirty="0"/>
              <a:t>However, this is hard to achieve automatically.</a:t>
            </a:r>
            <a:endParaRPr lang="en-IN" dirty="0"/>
          </a:p>
        </p:txBody>
      </p:sp>
    </p:spTree>
    <p:extLst>
      <p:ext uri="{BB962C8B-B14F-4D97-AF65-F5344CB8AC3E}">
        <p14:creationId xmlns:p14="http://schemas.microsoft.com/office/powerpoint/2010/main" val="125062275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91190-CF7E-0C80-455B-4FD32231B010}"/>
              </a:ext>
            </a:extLst>
          </p:cNvPr>
          <p:cNvSpPr>
            <a:spLocks noGrp="1"/>
          </p:cNvSpPr>
          <p:nvPr>
            <p:ph type="title"/>
          </p:nvPr>
        </p:nvSpPr>
        <p:spPr>
          <a:xfrm>
            <a:off x="838200" y="365126"/>
            <a:ext cx="10515600" cy="814746"/>
          </a:xfrm>
        </p:spPr>
        <p:txBody>
          <a:bodyPr/>
          <a:lstStyle/>
          <a:p>
            <a:r>
              <a:rPr lang="en-IN" b="1" dirty="0"/>
              <a:t>Specificity of Vocabulary:</a:t>
            </a:r>
            <a:endParaRPr lang="en-IN" dirty="0"/>
          </a:p>
        </p:txBody>
      </p:sp>
      <p:sp>
        <p:nvSpPr>
          <p:cNvPr id="3" name="Content Placeholder 2">
            <a:extLst>
              <a:ext uri="{FF2B5EF4-FFF2-40B4-BE49-F238E27FC236}">
                <a16:creationId xmlns:a16="http://schemas.microsoft.com/office/drawing/2014/main" id="{00F95B6A-ED77-D6C5-DF8E-7F8F750D0CE6}"/>
              </a:ext>
            </a:extLst>
          </p:cNvPr>
          <p:cNvSpPr>
            <a:spLocks noGrp="1"/>
          </p:cNvSpPr>
          <p:nvPr>
            <p:ph idx="1"/>
          </p:nvPr>
        </p:nvSpPr>
        <p:spPr>
          <a:xfrm>
            <a:off x="838200" y="1179872"/>
            <a:ext cx="10515600" cy="4997091"/>
          </a:xfrm>
        </p:spPr>
        <p:txBody>
          <a:bodyPr>
            <a:normAutofit/>
          </a:bodyPr>
          <a:lstStyle/>
          <a:p>
            <a:pPr algn="just"/>
            <a:r>
              <a:rPr lang="en-US" dirty="0"/>
              <a:t>Specificity of the thesaurus vocabulary is a function of the precision associated with the component terms. </a:t>
            </a:r>
          </a:p>
          <a:p>
            <a:pPr algn="just"/>
            <a:r>
              <a:rPr lang="en-US" dirty="0"/>
              <a:t>A highly specific vocabulary is able to express the subject in great depth and detail. This promotes precision in retrieval. </a:t>
            </a:r>
          </a:p>
          <a:p>
            <a:pPr algn="just"/>
            <a:r>
              <a:rPr lang="en-US" dirty="0"/>
              <a:t>The disadvantage is that the size of the vocabulary grows since a large number of terms are required to cover the concepts in the domain. </a:t>
            </a:r>
          </a:p>
          <a:p>
            <a:pPr algn="just"/>
            <a:r>
              <a:rPr lang="en-US" dirty="0"/>
              <a:t>Also, specific terms tend to change (i.e., evolve) more rapidly than general terms. </a:t>
            </a:r>
          </a:p>
          <a:p>
            <a:pPr algn="just"/>
            <a:r>
              <a:rPr lang="en-US" dirty="0"/>
              <a:t>Therefore, such vocabularies tend to require more regular maintenance. </a:t>
            </a:r>
            <a:endParaRPr lang="en-IN" dirty="0"/>
          </a:p>
        </p:txBody>
      </p:sp>
    </p:spTree>
    <p:extLst>
      <p:ext uri="{BB962C8B-B14F-4D97-AF65-F5344CB8AC3E}">
        <p14:creationId xmlns:p14="http://schemas.microsoft.com/office/powerpoint/2010/main" val="9663841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FB457-8250-2D3F-C364-175F334F17FA}"/>
              </a:ext>
            </a:extLst>
          </p:cNvPr>
          <p:cNvSpPr>
            <a:spLocks noGrp="1"/>
          </p:cNvSpPr>
          <p:nvPr>
            <p:ph type="title"/>
          </p:nvPr>
        </p:nvSpPr>
        <p:spPr>
          <a:xfrm>
            <a:off x="838200" y="365125"/>
            <a:ext cx="10515600" cy="922901"/>
          </a:xfrm>
        </p:spPr>
        <p:txBody>
          <a:bodyPr/>
          <a:lstStyle/>
          <a:p>
            <a:r>
              <a:rPr lang="en-US" b="1" dirty="0"/>
              <a:t>Control on Term Frequency of Class Members:</a:t>
            </a:r>
            <a:endParaRPr lang="en-IN" dirty="0"/>
          </a:p>
        </p:txBody>
      </p:sp>
      <p:sp>
        <p:nvSpPr>
          <p:cNvPr id="3" name="Content Placeholder 2">
            <a:extLst>
              <a:ext uri="{FF2B5EF4-FFF2-40B4-BE49-F238E27FC236}">
                <a16:creationId xmlns:a16="http://schemas.microsoft.com/office/drawing/2014/main" id="{BBC9DED9-2673-390F-6192-E9979A943F43}"/>
              </a:ext>
            </a:extLst>
          </p:cNvPr>
          <p:cNvSpPr>
            <a:spLocks noGrp="1"/>
          </p:cNvSpPr>
          <p:nvPr>
            <p:ph idx="1"/>
          </p:nvPr>
        </p:nvSpPr>
        <p:spPr>
          <a:xfrm>
            <a:off x="838200" y="1297858"/>
            <a:ext cx="10515600" cy="4888937"/>
          </a:xfrm>
        </p:spPr>
        <p:txBody>
          <a:bodyPr>
            <a:normAutofit lnSpcReduction="10000"/>
          </a:bodyPr>
          <a:lstStyle/>
          <a:p>
            <a:pPr algn="just"/>
            <a:r>
              <a:rPr lang="en-US" dirty="0"/>
              <a:t>This has relevance mainly for statistical thesaurus construction methods which work by partitioning the vocabulary into a set of classes where each class contains a collection of equivalent terms. </a:t>
            </a:r>
          </a:p>
          <a:p>
            <a:pPr algn="just"/>
            <a:r>
              <a:rPr lang="en-US" dirty="0"/>
              <a:t>In order to maintain a good match between documents and queries, it is necessary to ensure that terms included in the same thesaurus class have roughly equal frequencies. </a:t>
            </a:r>
          </a:p>
          <a:p>
            <a:pPr algn="just"/>
            <a:r>
              <a:rPr lang="en-US" dirty="0"/>
              <a:t>Further, the total frequency in each class should also be roughly similar.</a:t>
            </a:r>
          </a:p>
          <a:p>
            <a:pPr algn="just"/>
            <a:r>
              <a:rPr lang="en-US" dirty="0"/>
              <a:t>These constraints are imposed to ensure that the probability of a match between a query and a document is the same across classes. </a:t>
            </a:r>
          </a:p>
          <a:p>
            <a:pPr algn="just"/>
            <a:r>
              <a:rPr lang="en-US" dirty="0"/>
              <a:t>In other words, terms within the same class should be equally specific, and the specificity across classes should also be the same.</a:t>
            </a:r>
            <a:endParaRPr lang="en-IN" dirty="0"/>
          </a:p>
        </p:txBody>
      </p:sp>
    </p:spTree>
    <p:extLst>
      <p:ext uri="{BB962C8B-B14F-4D97-AF65-F5344CB8AC3E}">
        <p14:creationId xmlns:p14="http://schemas.microsoft.com/office/powerpoint/2010/main" val="209246488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17A3C65-A923-6282-FC14-7D67095DFC01}"/>
              </a:ext>
            </a:extLst>
          </p:cNvPr>
          <p:cNvGraphicFramePr>
            <a:graphicFrameLocks noGrp="1"/>
          </p:cNvGraphicFramePr>
          <p:nvPr>
            <p:ph idx="1"/>
            <p:extLst>
              <p:ext uri="{D42A27DB-BD31-4B8C-83A1-F6EECF244321}">
                <p14:modId xmlns:p14="http://schemas.microsoft.com/office/powerpoint/2010/main" val="2439467425"/>
              </p:ext>
            </p:extLst>
          </p:nvPr>
        </p:nvGraphicFramePr>
        <p:xfrm>
          <a:off x="2931242" y="791554"/>
          <a:ext cx="6329516" cy="2637446"/>
        </p:xfrm>
        <a:graphic>
          <a:graphicData uri="http://schemas.openxmlformats.org/drawingml/2006/table">
            <a:tbl>
              <a:tblPr/>
              <a:tblGrid>
                <a:gridCol w="3164758">
                  <a:extLst>
                    <a:ext uri="{9D8B030D-6E8A-4147-A177-3AD203B41FA5}">
                      <a16:colId xmlns:a16="http://schemas.microsoft.com/office/drawing/2014/main" val="2641468568"/>
                    </a:ext>
                  </a:extLst>
                </a:gridCol>
                <a:gridCol w="3164758">
                  <a:extLst>
                    <a:ext uri="{9D8B030D-6E8A-4147-A177-3AD203B41FA5}">
                      <a16:colId xmlns:a16="http://schemas.microsoft.com/office/drawing/2014/main" val="3612926993"/>
                    </a:ext>
                  </a:extLst>
                </a:gridCol>
              </a:tblGrid>
              <a:tr h="376778">
                <a:tc>
                  <a:txBody>
                    <a:bodyPr/>
                    <a:lstStyle/>
                    <a:p>
                      <a:pPr algn="ctr">
                        <a:buNone/>
                      </a:pPr>
                      <a:r>
                        <a:rPr lang="en-IN"/>
                        <a:t>Term</a:t>
                      </a:r>
                    </a:p>
                  </a:txBody>
                  <a:tcPr anchor="ctr">
                    <a:lnL>
                      <a:noFill/>
                    </a:lnL>
                    <a:lnR>
                      <a:noFill/>
                    </a:lnR>
                    <a:lnT>
                      <a:noFill/>
                    </a:lnT>
                    <a:lnB>
                      <a:noFill/>
                    </a:lnB>
                    <a:noFill/>
                  </a:tcPr>
                </a:tc>
                <a:tc>
                  <a:txBody>
                    <a:bodyPr/>
                    <a:lstStyle/>
                    <a:p>
                      <a:pPr algn="ctr">
                        <a:buNone/>
                      </a:pPr>
                      <a:r>
                        <a:rPr lang="en-IN"/>
                        <a:t>Frequency</a:t>
                      </a:r>
                    </a:p>
                  </a:txBody>
                  <a:tcPr anchor="ctr">
                    <a:lnL>
                      <a:noFill/>
                    </a:lnL>
                    <a:lnR>
                      <a:noFill/>
                    </a:lnR>
                    <a:lnT>
                      <a:noFill/>
                    </a:lnT>
                    <a:lnB>
                      <a:noFill/>
                    </a:lnB>
                    <a:noFill/>
                  </a:tcPr>
                </a:tc>
                <a:extLst>
                  <a:ext uri="{0D108BD9-81ED-4DB2-BD59-A6C34878D82A}">
                    <a16:rowId xmlns:a16="http://schemas.microsoft.com/office/drawing/2014/main" val="1396922716"/>
                  </a:ext>
                </a:extLst>
              </a:tr>
              <a:tr h="376778">
                <a:tc>
                  <a:txBody>
                    <a:bodyPr/>
                    <a:lstStyle/>
                    <a:p>
                      <a:pPr algn="ctr">
                        <a:buNone/>
                      </a:pPr>
                      <a:r>
                        <a:rPr lang="en-IN"/>
                        <a:t>car</a:t>
                      </a:r>
                    </a:p>
                  </a:txBody>
                  <a:tcPr anchor="ctr">
                    <a:lnL>
                      <a:noFill/>
                    </a:lnL>
                    <a:lnR>
                      <a:noFill/>
                    </a:lnR>
                    <a:lnT>
                      <a:noFill/>
                    </a:lnT>
                    <a:lnB>
                      <a:noFill/>
                    </a:lnB>
                    <a:noFill/>
                  </a:tcPr>
                </a:tc>
                <a:tc>
                  <a:txBody>
                    <a:bodyPr/>
                    <a:lstStyle/>
                    <a:p>
                      <a:pPr algn="ctr">
                        <a:buNone/>
                      </a:pPr>
                      <a:r>
                        <a:rPr lang="en-IN"/>
                        <a:t>500</a:t>
                      </a:r>
                    </a:p>
                  </a:txBody>
                  <a:tcPr anchor="ctr">
                    <a:lnL>
                      <a:noFill/>
                    </a:lnL>
                    <a:lnR>
                      <a:noFill/>
                    </a:lnR>
                    <a:lnT>
                      <a:noFill/>
                    </a:lnT>
                    <a:lnB>
                      <a:noFill/>
                    </a:lnB>
                    <a:noFill/>
                  </a:tcPr>
                </a:tc>
                <a:extLst>
                  <a:ext uri="{0D108BD9-81ED-4DB2-BD59-A6C34878D82A}">
                    <a16:rowId xmlns:a16="http://schemas.microsoft.com/office/drawing/2014/main" val="1822236611"/>
                  </a:ext>
                </a:extLst>
              </a:tr>
              <a:tr h="376778">
                <a:tc>
                  <a:txBody>
                    <a:bodyPr/>
                    <a:lstStyle/>
                    <a:p>
                      <a:pPr algn="ctr">
                        <a:buNone/>
                      </a:pPr>
                      <a:r>
                        <a:rPr lang="en-IN"/>
                        <a:t>automobile</a:t>
                      </a:r>
                    </a:p>
                  </a:txBody>
                  <a:tcPr anchor="ctr">
                    <a:lnL>
                      <a:noFill/>
                    </a:lnL>
                    <a:lnR>
                      <a:noFill/>
                    </a:lnR>
                    <a:lnT>
                      <a:noFill/>
                    </a:lnT>
                    <a:lnB>
                      <a:noFill/>
                    </a:lnB>
                    <a:noFill/>
                  </a:tcPr>
                </a:tc>
                <a:tc>
                  <a:txBody>
                    <a:bodyPr/>
                    <a:lstStyle/>
                    <a:p>
                      <a:pPr algn="ctr">
                        <a:buNone/>
                      </a:pPr>
                      <a:r>
                        <a:rPr lang="en-IN"/>
                        <a:t>50</a:t>
                      </a:r>
                    </a:p>
                  </a:txBody>
                  <a:tcPr anchor="ctr">
                    <a:lnL>
                      <a:noFill/>
                    </a:lnL>
                    <a:lnR>
                      <a:noFill/>
                    </a:lnR>
                    <a:lnT>
                      <a:noFill/>
                    </a:lnT>
                    <a:lnB>
                      <a:noFill/>
                    </a:lnB>
                    <a:noFill/>
                  </a:tcPr>
                </a:tc>
                <a:extLst>
                  <a:ext uri="{0D108BD9-81ED-4DB2-BD59-A6C34878D82A}">
                    <a16:rowId xmlns:a16="http://schemas.microsoft.com/office/drawing/2014/main" val="2351782115"/>
                  </a:ext>
                </a:extLst>
              </a:tr>
              <a:tr h="376778">
                <a:tc>
                  <a:txBody>
                    <a:bodyPr/>
                    <a:lstStyle/>
                    <a:p>
                      <a:pPr algn="ctr">
                        <a:buNone/>
                      </a:pPr>
                      <a:r>
                        <a:rPr lang="en-IN"/>
                        <a:t>vehicle</a:t>
                      </a:r>
                    </a:p>
                  </a:txBody>
                  <a:tcPr anchor="ctr">
                    <a:lnL>
                      <a:noFill/>
                    </a:lnL>
                    <a:lnR>
                      <a:noFill/>
                    </a:lnR>
                    <a:lnT>
                      <a:noFill/>
                    </a:lnT>
                    <a:lnB>
                      <a:noFill/>
                    </a:lnB>
                    <a:noFill/>
                  </a:tcPr>
                </a:tc>
                <a:tc>
                  <a:txBody>
                    <a:bodyPr/>
                    <a:lstStyle/>
                    <a:p>
                      <a:pPr algn="ctr">
                        <a:buNone/>
                      </a:pPr>
                      <a:r>
                        <a:rPr lang="en-IN"/>
                        <a:t>480</a:t>
                      </a:r>
                    </a:p>
                  </a:txBody>
                  <a:tcPr anchor="ctr">
                    <a:lnL>
                      <a:noFill/>
                    </a:lnL>
                    <a:lnR>
                      <a:noFill/>
                    </a:lnR>
                    <a:lnT>
                      <a:noFill/>
                    </a:lnT>
                    <a:lnB>
                      <a:noFill/>
                    </a:lnB>
                    <a:noFill/>
                  </a:tcPr>
                </a:tc>
                <a:extLst>
                  <a:ext uri="{0D108BD9-81ED-4DB2-BD59-A6C34878D82A}">
                    <a16:rowId xmlns:a16="http://schemas.microsoft.com/office/drawing/2014/main" val="1523270698"/>
                  </a:ext>
                </a:extLst>
              </a:tr>
              <a:tr h="376778">
                <a:tc>
                  <a:txBody>
                    <a:bodyPr/>
                    <a:lstStyle/>
                    <a:p>
                      <a:pPr algn="ctr">
                        <a:buNone/>
                      </a:pPr>
                      <a:r>
                        <a:rPr lang="en-IN"/>
                        <a:t>doctor</a:t>
                      </a:r>
                    </a:p>
                  </a:txBody>
                  <a:tcPr anchor="ctr">
                    <a:lnL>
                      <a:noFill/>
                    </a:lnL>
                    <a:lnR>
                      <a:noFill/>
                    </a:lnR>
                    <a:lnT>
                      <a:noFill/>
                    </a:lnT>
                    <a:lnB>
                      <a:noFill/>
                    </a:lnB>
                    <a:noFill/>
                  </a:tcPr>
                </a:tc>
                <a:tc>
                  <a:txBody>
                    <a:bodyPr/>
                    <a:lstStyle/>
                    <a:p>
                      <a:pPr algn="ctr">
                        <a:buNone/>
                      </a:pPr>
                      <a:r>
                        <a:rPr lang="en-IN"/>
                        <a:t>300</a:t>
                      </a:r>
                    </a:p>
                  </a:txBody>
                  <a:tcPr anchor="ctr">
                    <a:lnL>
                      <a:noFill/>
                    </a:lnL>
                    <a:lnR>
                      <a:noFill/>
                    </a:lnR>
                    <a:lnT>
                      <a:noFill/>
                    </a:lnT>
                    <a:lnB>
                      <a:noFill/>
                    </a:lnB>
                    <a:noFill/>
                  </a:tcPr>
                </a:tc>
                <a:extLst>
                  <a:ext uri="{0D108BD9-81ED-4DB2-BD59-A6C34878D82A}">
                    <a16:rowId xmlns:a16="http://schemas.microsoft.com/office/drawing/2014/main" val="1944796131"/>
                  </a:ext>
                </a:extLst>
              </a:tr>
              <a:tr h="376778">
                <a:tc>
                  <a:txBody>
                    <a:bodyPr/>
                    <a:lstStyle/>
                    <a:p>
                      <a:pPr algn="ctr">
                        <a:buNone/>
                      </a:pPr>
                      <a:r>
                        <a:rPr lang="en-IN"/>
                        <a:t>physician</a:t>
                      </a:r>
                    </a:p>
                  </a:txBody>
                  <a:tcPr anchor="ctr">
                    <a:lnL>
                      <a:noFill/>
                    </a:lnL>
                    <a:lnR>
                      <a:noFill/>
                    </a:lnR>
                    <a:lnT>
                      <a:noFill/>
                    </a:lnT>
                    <a:lnB>
                      <a:noFill/>
                    </a:lnB>
                    <a:noFill/>
                  </a:tcPr>
                </a:tc>
                <a:tc>
                  <a:txBody>
                    <a:bodyPr/>
                    <a:lstStyle/>
                    <a:p>
                      <a:pPr algn="ctr">
                        <a:buNone/>
                      </a:pPr>
                      <a:r>
                        <a:rPr lang="en-IN"/>
                        <a:t>280</a:t>
                      </a:r>
                    </a:p>
                  </a:txBody>
                  <a:tcPr anchor="ctr">
                    <a:lnL>
                      <a:noFill/>
                    </a:lnL>
                    <a:lnR>
                      <a:noFill/>
                    </a:lnR>
                    <a:lnT>
                      <a:noFill/>
                    </a:lnT>
                    <a:lnB>
                      <a:noFill/>
                    </a:lnB>
                    <a:noFill/>
                  </a:tcPr>
                </a:tc>
                <a:extLst>
                  <a:ext uri="{0D108BD9-81ED-4DB2-BD59-A6C34878D82A}">
                    <a16:rowId xmlns:a16="http://schemas.microsoft.com/office/drawing/2014/main" val="1358175075"/>
                  </a:ext>
                </a:extLst>
              </a:tr>
              <a:tr h="376778">
                <a:tc>
                  <a:txBody>
                    <a:bodyPr/>
                    <a:lstStyle/>
                    <a:p>
                      <a:pPr algn="ctr">
                        <a:buNone/>
                      </a:pPr>
                      <a:r>
                        <a:rPr lang="en-IN"/>
                        <a:t>surgeon</a:t>
                      </a:r>
                    </a:p>
                  </a:txBody>
                  <a:tcPr anchor="ctr">
                    <a:lnL>
                      <a:noFill/>
                    </a:lnL>
                    <a:lnR>
                      <a:noFill/>
                    </a:lnR>
                    <a:lnT>
                      <a:noFill/>
                    </a:lnT>
                    <a:lnB>
                      <a:noFill/>
                    </a:lnB>
                    <a:noFill/>
                  </a:tcPr>
                </a:tc>
                <a:tc>
                  <a:txBody>
                    <a:bodyPr/>
                    <a:lstStyle/>
                    <a:p>
                      <a:pPr algn="ctr">
                        <a:buNone/>
                      </a:pPr>
                      <a:r>
                        <a:rPr lang="en-IN" dirty="0"/>
                        <a:t>310</a:t>
                      </a:r>
                    </a:p>
                  </a:txBody>
                  <a:tcPr anchor="ctr">
                    <a:lnL>
                      <a:noFill/>
                    </a:lnL>
                    <a:lnR>
                      <a:noFill/>
                    </a:lnR>
                    <a:lnT>
                      <a:noFill/>
                    </a:lnT>
                    <a:lnB>
                      <a:noFill/>
                    </a:lnB>
                    <a:noFill/>
                  </a:tcPr>
                </a:tc>
                <a:extLst>
                  <a:ext uri="{0D108BD9-81ED-4DB2-BD59-A6C34878D82A}">
                    <a16:rowId xmlns:a16="http://schemas.microsoft.com/office/drawing/2014/main" val="3184933221"/>
                  </a:ext>
                </a:extLst>
              </a:tr>
            </a:tbl>
          </a:graphicData>
        </a:graphic>
      </p:graphicFrame>
      <p:sp>
        <p:nvSpPr>
          <p:cNvPr id="6" name="TextBox 5">
            <a:extLst>
              <a:ext uri="{FF2B5EF4-FFF2-40B4-BE49-F238E27FC236}">
                <a16:creationId xmlns:a16="http://schemas.microsoft.com/office/drawing/2014/main" id="{6C9D7696-7FA3-8C28-9FD3-07EFF3C511C6}"/>
              </a:ext>
            </a:extLst>
          </p:cNvPr>
          <p:cNvSpPr txBox="1"/>
          <p:nvPr/>
        </p:nvSpPr>
        <p:spPr>
          <a:xfrm>
            <a:off x="1278192" y="3672629"/>
            <a:ext cx="9242323" cy="2031325"/>
          </a:xfrm>
          <a:prstGeom prst="rect">
            <a:avLst/>
          </a:prstGeom>
          <a:noFill/>
        </p:spPr>
        <p:txBody>
          <a:bodyPr wrap="square">
            <a:spAutoFit/>
          </a:bodyPr>
          <a:lstStyle/>
          <a:p>
            <a:pPr>
              <a:buNone/>
            </a:pPr>
            <a:r>
              <a:rPr lang="en-US" dirty="0"/>
              <a:t>Now, if we group:</a:t>
            </a:r>
          </a:p>
          <a:p>
            <a:pPr>
              <a:buFont typeface="Arial" panose="020B0604020202020204" pitchFamily="34" charset="0"/>
              <a:buChar char="•"/>
            </a:pPr>
            <a:r>
              <a:rPr lang="en-US" b="1" dirty="0"/>
              <a:t>Class 1</a:t>
            </a:r>
            <a:r>
              <a:rPr lang="en-US" dirty="0"/>
              <a:t> = {car, automobile, vehicle}</a:t>
            </a:r>
          </a:p>
          <a:p>
            <a:pPr>
              <a:buFont typeface="Arial" panose="020B0604020202020204" pitchFamily="34" charset="0"/>
              <a:buChar char="•"/>
            </a:pPr>
            <a:r>
              <a:rPr lang="en-US" b="1" dirty="0"/>
              <a:t>Class 2</a:t>
            </a:r>
            <a:r>
              <a:rPr lang="en-US" dirty="0"/>
              <a:t> = {doctor, physician, surgeon}</a:t>
            </a:r>
          </a:p>
          <a:p>
            <a:pPr>
              <a:buNone/>
            </a:pPr>
            <a:r>
              <a:rPr lang="en-US" dirty="0"/>
              <a:t>We can see:</a:t>
            </a:r>
          </a:p>
          <a:p>
            <a:pPr>
              <a:buFont typeface="Arial" panose="020B0604020202020204" pitchFamily="34" charset="0"/>
              <a:buChar char="•"/>
            </a:pPr>
            <a:r>
              <a:rPr lang="en-US" dirty="0"/>
              <a:t>Within Class 1 → </a:t>
            </a:r>
            <a:r>
              <a:rPr lang="en-US" i="1" dirty="0"/>
              <a:t>automobile</a:t>
            </a:r>
            <a:r>
              <a:rPr lang="en-US" dirty="0"/>
              <a:t> (50) is far less frequent than </a:t>
            </a:r>
            <a:r>
              <a:rPr lang="en-US" i="1" dirty="0"/>
              <a:t>car</a:t>
            </a:r>
            <a:r>
              <a:rPr lang="en-US" dirty="0"/>
              <a:t> (500).</a:t>
            </a:r>
            <a:br>
              <a:rPr lang="en-US" dirty="0"/>
            </a:br>
            <a:r>
              <a:rPr lang="en-US" dirty="0"/>
              <a:t>→ The terms are </a:t>
            </a:r>
            <a:r>
              <a:rPr lang="en-US" b="1" dirty="0"/>
              <a:t>not equally frequent</a:t>
            </a:r>
            <a:r>
              <a:rPr lang="en-US" dirty="0"/>
              <a:t>, so retrieval results could be skewed.</a:t>
            </a:r>
          </a:p>
          <a:p>
            <a:pPr>
              <a:buFont typeface="Arial" panose="020B0604020202020204" pitchFamily="34" charset="0"/>
              <a:buChar char="•"/>
            </a:pPr>
            <a:r>
              <a:rPr lang="en-US" dirty="0"/>
              <a:t>Within Class 2 → All terms are around 300 → good balance.</a:t>
            </a:r>
          </a:p>
        </p:txBody>
      </p:sp>
    </p:spTree>
    <p:extLst>
      <p:ext uri="{BB962C8B-B14F-4D97-AF65-F5344CB8AC3E}">
        <p14:creationId xmlns:p14="http://schemas.microsoft.com/office/powerpoint/2010/main" val="217910608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A3E75-B0AA-C3E9-1AF4-632CE1748EF2}"/>
              </a:ext>
            </a:extLst>
          </p:cNvPr>
          <p:cNvSpPr>
            <a:spLocks noGrp="1"/>
          </p:cNvSpPr>
          <p:nvPr>
            <p:ph type="title"/>
          </p:nvPr>
        </p:nvSpPr>
        <p:spPr>
          <a:xfrm>
            <a:off x="838200" y="365125"/>
            <a:ext cx="10515600" cy="785249"/>
          </a:xfrm>
        </p:spPr>
        <p:txBody>
          <a:bodyPr/>
          <a:lstStyle/>
          <a:p>
            <a:r>
              <a:rPr lang="en-IN" b="1" dirty="0"/>
              <a:t>Normalization of Vocabulary:</a:t>
            </a:r>
            <a:endParaRPr lang="en-IN" dirty="0"/>
          </a:p>
        </p:txBody>
      </p:sp>
      <p:sp>
        <p:nvSpPr>
          <p:cNvPr id="3" name="Content Placeholder 2">
            <a:extLst>
              <a:ext uri="{FF2B5EF4-FFF2-40B4-BE49-F238E27FC236}">
                <a16:creationId xmlns:a16="http://schemas.microsoft.com/office/drawing/2014/main" id="{1A4B594B-AA0E-0376-0F3B-D66C82C235A2}"/>
              </a:ext>
            </a:extLst>
          </p:cNvPr>
          <p:cNvSpPr>
            <a:spLocks noGrp="1"/>
          </p:cNvSpPr>
          <p:nvPr>
            <p:ph idx="1"/>
          </p:nvPr>
        </p:nvSpPr>
        <p:spPr>
          <a:xfrm>
            <a:off x="838200" y="1150374"/>
            <a:ext cx="10515600" cy="5026589"/>
          </a:xfrm>
        </p:spPr>
        <p:txBody>
          <a:bodyPr>
            <a:normAutofit fontScale="92500" lnSpcReduction="10000"/>
          </a:bodyPr>
          <a:lstStyle/>
          <a:p>
            <a:pPr algn="just"/>
            <a:r>
              <a:rPr lang="en-US" dirty="0"/>
              <a:t>Normalization of vocabulary terms is given considerable emphasis in manual thesauri. </a:t>
            </a:r>
          </a:p>
          <a:p>
            <a:pPr algn="just"/>
            <a:r>
              <a:rPr lang="en-US" dirty="0"/>
              <a:t>There are extensive rules which guide the form of the thesaural entries. </a:t>
            </a:r>
          </a:p>
          <a:p>
            <a:pPr algn="just"/>
            <a:r>
              <a:rPr lang="en-US" dirty="0"/>
              <a:t>A simple rule is that terms should be in noun form. </a:t>
            </a:r>
          </a:p>
          <a:p>
            <a:pPr algn="just"/>
            <a:r>
              <a:rPr lang="en-US" dirty="0"/>
              <a:t>A second rule is that noun phrases should avoid prepositions unless they are commonly known. </a:t>
            </a:r>
          </a:p>
          <a:p>
            <a:pPr algn="just"/>
            <a:r>
              <a:rPr lang="en-US" dirty="0"/>
              <a:t>Also, a limited number of adjectives should be used. </a:t>
            </a:r>
          </a:p>
          <a:p>
            <a:pPr algn="just"/>
            <a:r>
              <a:rPr lang="en-US" dirty="0"/>
              <a:t>There are other rules to direct issues such as the singularity of terms, the ordering of terms within phrases, spelling, capitalization, transliteration, abbreviations, initials, acronyms, and punctuation.</a:t>
            </a:r>
          </a:p>
          <a:p>
            <a:pPr algn="just"/>
            <a:r>
              <a:rPr lang="en-US" dirty="0"/>
              <a:t> In other words, manual thesauri are designed using a significant set of constraints and rules regarding the structure of individual terms.</a:t>
            </a:r>
            <a:endParaRPr lang="en-IN" dirty="0"/>
          </a:p>
        </p:txBody>
      </p:sp>
    </p:spTree>
    <p:extLst>
      <p:ext uri="{BB962C8B-B14F-4D97-AF65-F5344CB8AC3E}">
        <p14:creationId xmlns:p14="http://schemas.microsoft.com/office/powerpoint/2010/main" val="247593278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A1BC13-1EAD-F032-2DB6-D79230396BE0}"/>
              </a:ext>
            </a:extLst>
          </p:cNvPr>
          <p:cNvSpPr>
            <a:spLocks noGrp="1"/>
          </p:cNvSpPr>
          <p:nvPr>
            <p:ph idx="1"/>
          </p:nvPr>
        </p:nvSpPr>
        <p:spPr>
          <a:xfrm>
            <a:off x="838200" y="737419"/>
            <a:ext cx="10515600" cy="5439544"/>
          </a:xfrm>
        </p:spPr>
        <p:txBody>
          <a:bodyPr/>
          <a:lstStyle/>
          <a:p>
            <a:pPr algn="just"/>
            <a:r>
              <a:rPr lang="en-US" dirty="0"/>
              <a:t>The advantage in normalizing the vocabulary is that variant forms are mapped into base expressions, thereby bringing consistency to the vocabulary. </a:t>
            </a:r>
          </a:p>
          <a:p>
            <a:pPr algn="just"/>
            <a:r>
              <a:rPr lang="en-US" dirty="0"/>
              <a:t>As a result, the user does not have to worry about variant forms of a term. </a:t>
            </a:r>
          </a:p>
          <a:p>
            <a:pPr algn="just"/>
            <a:r>
              <a:rPr lang="en-US" dirty="0"/>
              <a:t>The obvious disadvantage is that, in order to be used effectively, the user has to be well aware of the normalization rules used.</a:t>
            </a:r>
          </a:p>
          <a:p>
            <a:pPr algn="just"/>
            <a:r>
              <a:rPr lang="en-US" dirty="0"/>
              <a:t>In contrast, normalization rules in automatic thesaurus construction are simpler, seldom involving more than </a:t>
            </a:r>
            <a:r>
              <a:rPr lang="en-US" dirty="0" err="1"/>
              <a:t>stoplist</a:t>
            </a:r>
            <a:r>
              <a:rPr lang="en-US" dirty="0"/>
              <a:t> filters and stemming.</a:t>
            </a:r>
            <a:endParaRPr lang="en-IN" dirty="0"/>
          </a:p>
        </p:txBody>
      </p:sp>
    </p:spTree>
    <p:extLst>
      <p:ext uri="{BB962C8B-B14F-4D97-AF65-F5344CB8AC3E}">
        <p14:creationId xmlns:p14="http://schemas.microsoft.com/office/powerpoint/2010/main" val="217208093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709443-5B0E-2B99-C937-77D915CEA5DD}"/>
              </a:ext>
            </a:extLst>
          </p:cNvPr>
          <p:cNvSpPr>
            <a:spLocks noGrp="1"/>
          </p:cNvSpPr>
          <p:nvPr>
            <p:ph idx="1"/>
          </p:nvPr>
        </p:nvSpPr>
        <p:spPr>
          <a:xfrm>
            <a:off x="838200" y="167148"/>
            <a:ext cx="10515600" cy="6009815"/>
          </a:xfrm>
        </p:spPr>
        <p:txBody>
          <a:bodyPr>
            <a:normAutofit/>
          </a:bodyPr>
          <a:lstStyle/>
          <a:p>
            <a:r>
              <a:rPr lang="en-US" b="1" dirty="0"/>
              <a:t>Main Rules in Manual Thesauri</a:t>
            </a:r>
          </a:p>
          <a:p>
            <a:r>
              <a:rPr lang="en-US" b="1" dirty="0"/>
              <a:t>Use noun form:</a:t>
            </a:r>
            <a:br>
              <a:rPr lang="en-US" dirty="0"/>
            </a:br>
            <a:r>
              <a:rPr lang="en-US" dirty="0"/>
              <a:t>Terms are usually written as </a:t>
            </a:r>
            <a:r>
              <a:rPr lang="en-US" b="1" dirty="0"/>
              <a:t>nouns</a:t>
            </a:r>
            <a:r>
              <a:rPr lang="en-US" dirty="0"/>
              <a:t>, since they represent </a:t>
            </a:r>
            <a:r>
              <a:rPr lang="en-US" i="1" dirty="0"/>
              <a:t>concepts or entities</a:t>
            </a:r>
            <a:r>
              <a:rPr lang="en-US" dirty="0"/>
              <a:t>.</a:t>
            </a:r>
          </a:p>
          <a:p>
            <a:pPr lvl="1"/>
            <a:r>
              <a:rPr lang="en-US" dirty="0"/>
              <a:t>✅ </a:t>
            </a:r>
            <a:r>
              <a:rPr lang="en-US" i="1" dirty="0"/>
              <a:t>“Education”</a:t>
            </a:r>
            <a:r>
              <a:rPr lang="en-US" dirty="0"/>
              <a:t> (noun)</a:t>
            </a:r>
          </a:p>
          <a:p>
            <a:pPr lvl="1"/>
            <a:r>
              <a:rPr lang="en-US" dirty="0"/>
              <a:t>❌ </a:t>
            </a:r>
            <a:r>
              <a:rPr lang="en-US" i="1" dirty="0"/>
              <a:t>“Educate”</a:t>
            </a:r>
            <a:r>
              <a:rPr lang="en-US" dirty="0"/>
              <a:t> (verb)</a:t>
            </a:r>
          </a:p>
          <a:p>
            <a:r>
              <a:rPr lang="en-US" b="1" dirty="0"/>
              <a:t>Avoid prepositions unless necessary:</a:t>
            </a:r>
            <a:endParaRPr lang="en-US" dirty="0"/>
          </a:p>
          <a:p>
            <a:pPr lvl="1"/>
            <a:r>
              <a:rPr lang="en-US" dirty="0"/>
              <a:t>✅ </a:t>
            </a:r>
            <a:r>
              <a:rPr lang="en-US" i="1" dirty="0"/>
              <a:t>“Water pollution”</a:t>
            </a:r>
            <a:r>
              <a:rPr lang="en-US" dirty="0"/>
              <a:t> (common, clear phrase)</a:t>
            </a:r>
          </a:p>
          <a:p>
            <a:pPr lvl="1"/>
            <a:r>
              <a:rPr lang="en-US" dirty="0"/>
              <a:t>❌ </a:t>
            </a:r>
            <a:r>
              <a:rPr lang="en-US" i="1" dirty="0"/>
              <a:t>“Pollution of water”</a:t>
            </a:r>
            <a:r>
              <a:rPr lang="en-US" dirty="0"/>
              <a:t> (unnecessary preposition)</a:t>
            </a:r>
          </a:p>
          <a:p>
            <a:r>
              <a:rPr lang="en-US" b="1" dirty="0"/>
              <a:t>Limit adjectives:</a:t>
            </a:r>
            <a:br>
              <a:rPr lang="en-US" dirty="0"/>
            </a:br>
            <a:r>
              <a:rPr lang="en-US" dirty="0"/>
              <a:t>Only include adjectives if they add real meaning.</a:t>
            </a:r>
          </a:p>
          <a:p>
            <a:pPr lvl="1"/>
            <a:r>
              <a:rPr lang="en-US" dirty="0"/>
              <a:t>✅ </a:t>
            </a:r>
            <a:r>
              <a:rPr lang="en-US" i="1" dirty="0"/>
              <a:t>“Solar energy”</a:t>
            </a:r>
            <a:endParaRPr lang="en-US" dirty="0"/>
          </a:p>
          <a:p>
            <a:pPr lvl="1"/>
            <a:r>
              <a:rPr lang="en-US" dirty="0"/>
              <a:t>❌ </a:t>
            </a:r>
            <a:r>
              <a:rPr lang="en-US" i="1" dirty="0"/>
              <a:t>“Good energy”</a:t>
            </a:r>
            <a:r>
              <a:rPr lang="en-US" dirty="0"/>
              <a:t> (too vague)</a:t>
            </a:r>
          </a:p>
          <a:p>
            <a:endParaRPr lang="en-IN" dirty="0"/>
          </a:p>
        </p:txBody>
      </p:sp>
    </p:spTree>
    <p:extLst>
      <p:ext uri="{BB962C8B-B14F-4D97-AF65-F5344CB8AC3E}">
        <p14:creationId xmlns:p14="http://schemas.microsoft.com/office/powerpoint/2010/main" val="351099379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4C40A8CB-C6A7-87DF-A40E-EBB7F548AEF8}"/>
              </a:ext>
            </a:extLst>
          </p:cNvPr>
          <p:cNvSpPr>
            <a:spLocks noGrp="1" noChangeArrowheads="1"/>
          </p:cNvSpPr>
          <p:nvPr>
            <p:ph idx="1"/>
          </p:nvPr>
        </p:nvSpPr>
        <p:spPr bwMode="auto">
          <a:xfrm>
            <a:off x="838200" y="1354148"/>
            <a:ext cx="11029335"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Ensure singularity and order:</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 singular form for countable nouns: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“Computer network”</a:t>
            </a:r>
            <a:r>
              <a:rPr kumimoji="0" lang="en-US" altLang="en-US" sz="1800" b="0" i="0" u="none" strike="noStrike" cap="none" normalizeH="0" baseline="0" dirty="0">
                <a:ln>
                  <a:noFill/>
                </a:ln>
                <a:solidFill>
                  <a:schemeClr val="tx1"/>
                </a:solidFill>
                <a:effectLst/>
                <a:latin typeface="Arial" panose="020B0604020202020204" pitchFamily="34" charset="0"/>
              </a:rPr>
              <a:t>, not </a:t>
            </a:r>
            <a:r>
              <a:rPr kumimoji="0" lang="en-US" altLang="en-US" sz="1800" b="0" i="1" u="none" strike="noStrike" cap="none" normalizeH="0" baseline="0" dirty="0">
                <a:ln>
                  <a:noFill/>
                </a:ln>
                <a:solidFill>
                  <a:schemeClr val="tx1"/>
                </a:solidFill>
                <a:effectLst/>
                <a:latin typeface="Arial" panose="020B0604020202020204" pitchFamily="34" charset="0"/>
              </a:rPr>
              <a:t>“Computer networks”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Maintain logical order in noun phrases: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“Library automation system”</a:t>
            </a:r>
            <a:r>
              <a:rPr kumimoji="0" lang="en-US" altLang="en-US" sz="1800" b="0" i="0" u="none" strike="noStrike" cap="none" normalizeH="0" baseline="0" dirty="0">
                <a:ln>
                  <a:noFill/>
                </a:ln>
                <a:solidFill>
                  <a:schemeClr val="tx1"/>
                </a:solidFill>
                <a:effectLst/>
                <a:latin typeface="Arial" panose="020B0604020202020204" pitchFamily="34" charset="0"/>
              </a:rPr>
              <a:t>, not </a:t>
            </a:r>
            <a:r>
              <a:rPr kumimoji="0" lang="en-US" altLang="en-US" sz="1800" b="0" i="1" u="none" strike="noStrike" cap="none" normalizeH="0" baseline="0" dirty="0">
                <a:ln>
                  <a:noFill/>
                </a:ln>
                <a:solidFill>
                  <a:schemeClr val="tx1"/>
                </a:solidFill>
                <a:effectLst/>
                <a:latin typeface="Arial" panose="020B0604020202020204" pitchFamily="34" charset="0"/>
              </a:rPr>
              <a:t>“Automation library system”</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Control spelling, capitalization, and punctuation: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 one accepted spelling (e.g., </a:t>
            </a:r>
            <a:r>
              <a:rPr kumimoji="0" lang="en-US" altLang="en-US" sz="1800" b="0" i="1" u="none" strike="noStrike" cap="none" normalizeH="0" baseline="0" dirty="0">
                <a:ln>
                  <a:noFill/>
                </a:ln>
                <a:solidFill>
                  <a:schemeClr val="tx1"/>
                </a:solidFill>
                <a:effectLst/>
                <a:latin typeface="Arial" panose="020B0604020202020204" pitchFamily="34" charset="0"/>
              </a:rPr>
              <a:t>color</a:t>
            </a:r>
            <a:r>
              <a:rPr kumimoji="0" lang="en-US" altLang="en-US" sz="1800" b="0" i="0" u="none" strike="noStrike" cap="none" normalizeH="0" baseline="0" dirty="0">
                <a:ln>
                  <a:noFill/>
                </a:ln>
                <a:solidFill>
                  <a:schemeClr val="tx1"/>
                </a:solidFill>
                <a:effectLst/>
                <a:latin typeface="Arial" panose="020B0604020202020204" pitchFamily="34" charset="0"/>
              </a:rPr>
              <a:t> or </a:t>
            </a:r>
            <a:r>
              <a:rPr kumimoji="0" lang="en-US" altLang="en-US" sz="1800" b="0" i="1" u="none" strike="noStrike" cap="none" normalizeH="0" baseline="0" dirty="0" err="1">
                <a:ln>
                  <a:noFill/>
                </a:ln>
                <a:solidFill>
                  <a:schemeClr val="tx1"/>
                </a:solidFill>
                <a:effectLst/>
                <a:latin typeface="Arial" panose="020B0604020202020204" pitchFamily="34" charset="0"/>
              </a:rPr>
              <a:t>colour</a:t>
            </a:r>
            <a:r>
              <a:rPr kumimoji="0" lang="en-US" altLang="en-US" sz="1800" b="0" i="0" u="none" strike="noStrike" cap="none" normalizeH="0" baseline="0" dirty="0">
                <a:ln>
                  <a:noFill/>
                </a:ln>
                <a:solidFill>
                  <a:schemeClr val="tx1"/>
                </a:solidFill>
                <a:effectLst/>
                <a:latin typeface="Arial" panose="020B0604020202020204" pitchFamily="34" charset="0"/>
              </a:rPr>
              <a:t>, not both).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 consistent capitalization (e.g., all lowercase except proper nouns).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Avoid unnecessary punctuation.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Handle abbreviations and acronyms consistently: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Choose one preferred form,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e.g., </a:t>
            </a:r>
            <a:r>
              <a:rPr kumimoji="0" lang="en-US" altLang="en-US" sz="1800" b="0" i="1" u="none" strike="noStrike" cap="none" normalizeH="0" baseline="0" dirty="0">
                <a:ln>
                  <a:noFill/>
                </a:ln>
                <a:solidFill>
                  <a:schemeClr val="tx1"/>
                </a:solidFill>
                <a:effectLst/>
                <a:latin typeface="Arial" panose="020B0604020202020204" pitchFamily="34" charset="0"/>
              </a:rPr>
              <a:t>UNESCO (preferred)</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United Nations Educational, Scientific and Cultural Organization (use for definition)</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60411811"/>
      </p:ext>
    </p:extLst>
  </p:cSld>
  <p:clrMapOvr>
    <a:overrideClrMapping bg1="lt1" tx1="dk1" bg2="lt2" tx2="dk2" accent1="accent1" accent2="accent2" accent3="accent3" accent4="accent4" accent5="accent5" accent6="accent6" hlink="hlink" folHlink="folHlink"/>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34A5A-AA26-AEE9-ACB9-B40E11586CEF}"/>
              </a:ext>
            </a:extLst>
          </p:cNvPr>
          <p:cNvSpPr>
            <a:spLocks noGrp="1"/>
          </p:cNvSpPr>
          <p:nvPr>
            <p:ph type="title"/>
          </p:nvPr>
        </p:nvSpPr>
        <p:spPr>
          <a:xfrm>
            <a:off x="838200" y="365125"/>
            <a:ext cx="10515600" cy="686927"/>
          </a:xfrm>
        </p:spPr>
        <p:txBody>
          <a:bodyPr>
            <a:normAutofit fontScale="90000"/>
          </a:bodyPr>
          <a:lstStyle/>
          <a:p>
            <a:r>
              <a:rPr lang="en-IN" b="1" dirty="0"/>
              <a:t>THESAURUS CONSTRUCTION</a:t>
            </a:r>
            <a:endParaRPr lang="en-IN" dirty="0"/>
          </a:p>
        </p:txBody>
      </p:sp>
      <p:sp>
        <p:nvSpPr>
          <p:cNvPr id="3" name="Content Placeholder 2">
            <a:extLst>
              <a:ext uri="{FF2B5EF4-FFF2-40B4-BE49-F238E27FC236}">
                <a16:creationId xmlns:a16="http://schemas.microsoft.com/office/drawing/2014/main" id="{706CEDC7-FC36-7AD5-8E03-32667B47FAE5}"/>
              </a:ext>
            </a:extLst>
          </p:cNvPr>
          <p:cNvSpPr>
            <a:spLocks noGrp="1"/>
          </p:cNvSpPr>
          <p:nvPr>
            <p:ph idx="1"/>
          </p:nvPr>
        </p:nvSpPr>
        <p:spPr>
          <a:xfrm>
            <a:off x="838200" y="1052052"/>
            <a:ext cx="10515600" cy="5124911"/>
          </a:xfrm>
        </p:spPr>
        <p:txBody>
          <a:bodyPr/>
          <a:lstStyle/>
          <a:p>
            <a:pPr marL="0" indent="0" algn="just">
              <a:buNone/>
            </a:pPr>
            <a:r>
              <a:rPr lang="en-IN" b="1" dirty="0"/>
              <a:t>Manual Thesaurus Construction</a:t>
            </a:r>
          </a:p>
          <a:p>
            <a:pPr algn="just"/>
            <a:r>
              <a:rPr lang="en-US" dirty="0"/>
              <a:t>First the boundaries of the subject area has to be defined.</a:t>
            </a:r>
          </a:p>
          <a:p>
            <a:pPr algn="just"/>
            <a:r>
              <a:rPr lang="en-US" dirty="0"/>
              <a:t>Boundary definition includes identifying central subject areas and peripheral ones since it is unlikely that all topics included are of equal importance. </a:t>
            </a:r>
          </a:p>
          <a:p>
            <a:pPr algn="just"/>
            <a:r>
              <a:rPr lang="en-US" dirty="0"/>
              <a:t>Once this is completed, the domain is generally partitioned into divisions or subareas. </a:t>
            </a:r>
          </a:p>
          <a:p>
            <a:pPr algn="just"/>
            <a:r>
              <a:rPr lang="en-US" dirty="0"/>
              <a:t>Once the domain, with its subareas, has been sufficiently defined, the desired characteristics of the thesaurus have to be identified. </a:t>
            </a:r>
            <a:endParaRPr lang="en-IN" dirty="0"/>
          </a:p>
        </p:txBody>
      </p:sp>
    </p:spTree>
    <p:extLst>
      <p:ext uri="{BB962C8B-B14F-4D97-AF65-F5344CB8AC3E}">
        <p14:creationId xmlns:p14="http://schemas.microsoft.com/office/powerpoint/2010/main" val="321704822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55BB25-B877-AFF3-65CB-4BA7F8B2174C}"/>
              </a:ext>
            </a:extLst>
          </p:cNvPr>
          <p:cNvSpPr>
            <a:spLocks noGrp="1"/>
          </p:cNvSpPr>
          <p:nvPr>
            <p:ph idx="1"/>
          </p:nvPr>
        </p:nvSpPr>
        <p:spPr>
          <a:xfrm>
            <a:off x="838200" y="235974"/>
            <a:ext cx="10515600" cy="5940989"/>
          </a:xfrm>
        </p:spPr>
        <p:txBody>
          <a:bodyPr>
            <a:normAutofit lnSpcReduction="10000"/>
          </a:bodyPr>
          <a:lstStyle/>
          <a:p>
            <a:pPr algn="just"/>
            <a:r>
              <a:rPr lang="en-US" dirty="0"/>
              <a:t>Now, the collection of terms for each subarea may begin. </a:t>
            </a:r>
          </a:p>
          <a:p>
            <a:pPr algn="just"/>
            <a:r>
              <a:rPr lang="en-US" dirty="0"/>
              <a:t>A variety of sources may be used for this including indexes, encyclopedias, handbooks, textbooks, journal titles and abstracts, catalogues, as well as any existing and relevant thesauri or vocabulary systems. </a:t>
            </a:r>
          </a:p>
          <a:p>
            <a:pPr algn="just"/>
            <a:r>
              <a:rPr lang="en-US" dirty="0"/>
              <a:t>Subject experts and potential users of the thesaurus should also be included in this step. </a:t>
            </a:r>
          </a:p>
          <a:p>
            <a:pPr algn="just"/>
            <a:r>
              <a:rPr lang="en-US" dirty="0"/>
              <a:t>After the initial vocabulary has been identified, each term is analyzed for its related vocabulary including synonyms, broader and narrower terms, and sometimes also definitions and scope notes. </a:t>
            </a:r>
          </a:p>
          <a:p>
            <a:pPr algn="just"/>
            <a:r>
              <a:rPr lang="en-US" dirty="0"/>
              <a:t>These terms and their relationships are then organized into structures such as hierarchies, possibly within each subarea. </a:t>
            </a:r>
          </a:p>
          <a:p>
            <a:pPr algn="just"/>
            <a:r>
              <a:rPr lang="en-US" dirty="0"/>
              <a:t>Once the initial organization has been completed, the entire thesaurus will have to be reviewed (and refined) to check for consistency such as in phrase form and word form.</a:t>
            </a:r>
            <a:endParaRPr lang="en-IN" dirty="0"/>
          </a:p>
        </p:txBody>
      </p:sp>
    </p:spTree>
    <p:extLst>
      <p:ext uri="{BB962C8B-B14F-4D97-AF65-F5344CB8AC3E}">
        <p14:creationId xmlns:p14="http://schemas.microsoft.com/office/powerpoint/2010/main" val="353005184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5486E7-15D1-3E9E-9584-89A5971C4132}"/>
              </a:ext>
            </a:extLst>
          </p:cNvPr>
          <p:cNvSpPr>
            <a:spLocks noGrp="1"/>
          </p:cNvSpPr>
          <p:nvPr>
            <p:ph idx="1"/>
          </p:nvPr>
        </p:nvSpPr>
        <p:spPr>
          <a:xfrm>
            <a:off x="838200" y="334297"/>
            <a:ext cx="10515600" cy="5842666"/>
          </a:xfrm>
        </p:spPr>
        <p:txBody>
          <a:bodyPr>
            <a:normAutofit lnSpcReduction="10000"/>
          </a:bodyPr>
          <a:lstStyle/>
          <a:p>
            <a:pPr algn="just"/>
            <a:r>
              <a:rPr lang="en-US" dirty="0"/>
              <a:t>Once the thesaurus has been designed and implemented for use within a retrieval system, the next problem is that it needs to be maintained in order to ensure its continued viability and effectiveness. </a:t>
            </a:r>
          </a:p>
          <a:p>
            <a:pPr algn="just"/>
            <a:r>
              <a:rPr lang="en-US" dirty="0"/>
              <a:t>That is, the thesaurus should reflect any changes in the terminology of the area. </a:t>
            </a:r>
          </a:p>
          <a:p>
            <a:pPr algn="just"/>
            <a:r>
              <a:rPr lang="en-US" dirty="0"/>
              <a:t>The problem is that since the older documents are still within the system, the updated thesaurus must also retain the older information. </a:t>
            </a:r>
          </a:p>
          <a:p>
            <a:pPr algn="just"/>
            <a:r>
              <a:rPr lang="en-US" dirty="0"/>
              <a:t>Updates are typically slow and again involve several individuals who regularly review and suggest new and modified vocabulary terms as well as relationships. </a:t>
            </a:r>
          </a:p>
          <a:p>
            <a:pPr algn="just"/>
            <a:r>
              <a:rPr lang="en-US" dirty="0"/>
              <a:t>Therefore, typically a thesaurus evolves with time and slowly responds to changes in the terminology of the subject.</a:t>
            </a:r>
            <a:endParaRPr lang="en-IN" dirty="0"/>
          </a:p>
        </p:txBody>
      </p:sp>
    </p:spTree>
    <p:extLst>
      <p:ext uri="{BB962C8B-B14F-4D97-AF65-F5344CB8AC3E}">
        <p14:creationId xmlns:p14="http://schemas.microsoft.com/office/powerpoint/2010/main" val="33371395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5A319-8761-665A-DD79-B89F1B1DEEF5}"/>
              </a:ext>
            </a:extLst>
          </p:cNvPr>
          <p:cNvSpPr>
            <a:spLocks noGrp="1"/>
          </p:cNvSpPr>
          <p:nvPr>
            <p:ph type="title"/>
          </p:nvPr>
        </p:nvSpPr>
        <p:spPr>
          <a:xfrm>
            <a:off x="838200" y="365125"/>
            <a:ext cx="10515600" cy="627933"/>
          </a:xfrm>
        </p:spPr>
        <p:txBody>
          <a:bodyPr>
            <a:normAutofit fontScale="90000"/>
          </a:bodyPr>
          <a:lstStyle/>
          <a:p>
            <a:r>
              <a:rPr lang="en-IN" b="1" dirty="0"/>
              <a:t>Automatic Thesaurus Construction</a:t>
            </a:r>
            <a:br>
              <a:rPr lang="en-IN" b="1" dirty="0"/>
            </a:br>
            <a:endParaRPr lang="en-IN" dirty="0"/>
          </a:p>
        </p:txBody>
      </p:sp>
      <p:sp>
        <p:nvSpPr>
          <p:cNvPr id="3" name="Content Placeholder 2">
            <a:extLst>
              <a:ext uri="{FF2B5EF4-FFF2-40B4-BE49-F238E27FC236}">
                <a16:creationId xmlns:a16="http://schemas.microsoft.com/office/drawing/2014/main" id="{B02A25EB-E113-7593-6A75-C03996F6CD5C}"/>
              </a:ext>
            </a:extLst>
          </p:cNvPr>
          <p:cNvSpPr>
            <a:spLocks noGrp="1"/>
          </p:cNvSpPr>
          <p:nvPr>
            <p:ph idx="1"/>
          </p:nvPr>
        </p:nvSpPr>
        <p:spPr>
          <a:xfrm>
            <a:off x="838200" y="993058"/>
            <a:ext cx="10515600" cy="5183905"/>
          </a:xfrm>
        </p:spPr>
        <p:txBody>
          <a:bodyPr>
            <a:normAutofit/>
          </a:bodyPr>
          <a:lstStyle/>
          <a:p>
            <a:pPr algn="just"/>
            <a:r>
              <a:rPr lang="en-US" dirty="0"/>
              <a:t>The two major approaches selected here have not necessarily received equal attention in the literature. </a:t>
            </a:r>
          </a:p>
          <a:p>
            <a:pPr algn="just"/>
            <a:r>
              <a:rPr lang="en-US" dirty="0"/>
              <a:t>The first approach, on designing thesauri from document collections, is a standard one. </a:t>
            </a:r>
          </a:p>
          <a:p>
            <a:pPr algn="just"/>
            <a:r>
              <a:rPr lang="en-US" dirty="0"/>
              <a:t>The second, on merging existing thesauri, is better known using manual methods. </a:t>
            </a:r>
          </a:p>
          <a:p>
            <a:pPr algn="just"/>
            <a:r>
              <a:rPr lang="en-US" dirty="0"/>
              <a:t>A third automatic approach is discussed which is quite novel and interesting, although it is based on tools from expert systems and does not use statistical methods. In this approach, thesauri are built using information obtained from users. </a:t>
            </a:r>
            <a:endParaRPr lang="en-IN" dirty="0"/>
          </a:p>
        </p:txBody>
      </p:sp>
    </p:spTree>
    <p:extLst>
      <p:ext uri="{BB962C8B-B14F-4D97-AF65-F5344CB8AC3E}">
        <p14:creationId xmlns:p14="http://schemas.microsoft.com/office/powerpoint/2010/main" val="114396453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DB71B2-8D5C-828E-AD20-5C6ED7487CA9}"/>
              </a:ext>
            </a:extLst>
          </p:cNvPr>
          <p:cNvSpPr>
            <a:spLocks noGrp="1"/>
          </p:cNvSpPr>
          <p:nvPr>
            <p:ph idx="1"/>
          </p:nvPr>
        </p:nvSpPr>
        <p:spPr>
          <a:xfrm>
            <a:off x="720212" y="648929"/>
            <a:ext cx="10515600" cy="5724679"/>
          </a:xfrm>
        </p:spPr>
        <p:txBody>
          <a:bodyPr>
            <a:normAutofit/>
          </a:bodyPr>
          <a:lstStyle/>
          <a:p>
            <a:pPr marL="0" indent="0" algn="just">
              <a:buNone/>
            </a:pPr>
            <a:r>
              <a:rPr lang="en-US" b="1" dirty="0"/>
              <a:t>From a Collection of Document Items:</a:t>
            </a:r>
          </a:p>
          <a:p>
            <a:pPr algn="just"/>
            <a:r>
              <a:rPr lang="en-US" dirty="0"/>
              <a:t>The idea is to use a collection of documents as the source for thesaurus construction. This assumes that a representative body of text is available. </a:t>
            </a:r>
          </a:p>
          <a:p>
            <a:pPr algn="just"/>
            <a:r>
              <a:rPr lang="en-US" dirty="0"/>
              <a:t>The idea is to apply statistical procedures to identify important terms as well as their significant relationships. </a:t>
            </a:r>
          </a:p>
          <a:p>
            <a:pPr algn="just"/>
            <a:r>
              <a:rPr lang="en-US" dirty="0"/>
              <a:t>It is semantic knowledge that is used by both indexer and searcher. </a:t>
            </a:r>
          </a:p>
          <a:p>
            <a:pPr algn="just"/>
            <a:r>
              <a:rPr lang="en-US" dirty="0"/>
              <a:t>Until more direct methods are known, statistical methods will continue to be used. </a:t>
            </a:r>
          </a:p>
          <a:p>
            <a:pPr algn="just"/>
            <a:endParaRPr lang="en-IN" dirty="0"/>
          </a:p>
        </p:txBody>
      </p:sp>
    </p:spTree>
    <p:extLst>
      <p:ext uri="{BB962C8B-B14F-4D97-AF65-F5344CB8AC3E}">
        <p14:creationId xmlns:p14="http://schemas.microsoft.com/office/powerpoint/2010/main" val="424610887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BDF926-D583-661B-1EA2-AED2D8CCF8B4}"/>
              </a:ext>
            </a:extLst>
          </p:cNvPr>
          <p:cNvSpPr>
            <a:spLocks noGrp="1"/>
          </p:cNvSpPr>
          <p:nvPr>
            <p:ph idx="1"/>
          </p:nvPr>
        </p:nvSpPr>
        <p:spPr>
          <a:xfrm>
            <a:off x="838200" y="452284"/>
            <a:ext cx="10515600" cy="5724679"/>
          </a:xfrm>
        </p:spPr>
        <p:txBody>
          <a:bodyPr/>
          <a:lstStyle/>
          <a:p>
            <a:pPr marL="0" indent="0" algn="just">
              <a:buNone/>
            </a:pPr>
            <a:r>
              <a:rPr lang="en-IN" b="1" dirty="0"/>
              <a:t>By Merging Existing Thesauri:</a:t>
            </a:r>
          </a:p>
          <a:p>
            <a:pPr algn="just"/>
            <a:r>
              <a:rPr lang="en-US" dirty="0"/>
              <a:t>This second approach is appropriate when two or more thesauri for a given subject exist that need to be merged into a single unit. </a:t>
            </a:r>
          </a:p>
          <a:p>
            <a:pPr algn="just"/>
            <a:r>
              <a:rPr lang="en-US" dirty="0"/>
              <a:t>If a new database can indeed be served by merging two or more existing thesauri, then a merger perhaps is likely to be more efficient than producing the thesaurus from scratch. </a:t>
            </a:r>
          </a:p>
          <a:p>
            <a:pPr algn="just"/>
            <a:r>
              <a:rPr lang="en-US" dirty="0"/>
              <a:t>The challenge is that the merger should not violate the integrity of any component thesaurus.</a:t>
            </a:r>
            <a:endParaRPr lang="en-IN" b="1" dirty="0"/>
          </a:p>
        </p:txBody>
      </p:sp>
    </p:spTree>
    <p:extLst>
      <p:ext uri="{BB962C8B-B14F-4D97-AF65-F5344CB8AC3E}">
        <p14:creationId xmlns:p14="http://schemas.microsoft.com/office/powerpoint/2010/main" val="173859252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E5F6BD-A758-EA58-2F43-E7AB1DA56E8F}"/>
              </a:ext>
            </a:extLst>
          </p:cNvPr>
          <p:cNvSpPr>
            <a:spLocks noGrp="1"/>
          </p:cNvSpPr>
          <p:nvPr>
            <p:ph idx="1"/>
          </p:nvPr>
        </p:nvSpPr>
        <p:spPr>
          <a:xfrm>
            <a:off x="838200" y="324465"/>
            <a:ext cx="10515600" cy="5852498"/>
          </a:xfrm>
        </p:spPr>
        <p:txBody>
          <a:bodyPr>
            <a:normAutofit fontScale="92500" lnSpcReduction="20000"/>
          </a:bodyPr>
          <a:lstStyle/>
          <a:p>
            <a:pPr marL="0" indent="0" algn="just">
              <a:buNone/>
            </a:pPr>
            <a:r>
              <a:rPr lang="en-IN" b="1" dirty="0"/>
              <a:t>User Generated Thesaurus:</a:t>
            </a:r>
          </a:p>
          <a:p>
            <a:pPr algn="just"/>
            <a:r>
              <a:rPr lang="en-US" dirty="0"/>
              <a:t>In this third alternative, the idea is that users of IR systems are aware of and use many term relationships in their search strategies. The objective is to capture this knowledge from the user's search. </a:t>
            </a:r>
          </a:p>
          <a:p>
            <a:pPr algn="just"/>
            <a:r>
              <a:rPr lang="en-US" dirty="0"/>
              <a:t>This is the basis of TEGEN--the thesaurus generating system designed by </a:t>
            </a:r>
            <a:r>
              <a:rPr lang="en-US" dirty="0" err="1"/>
              <a:t>Guntzer</a:t>
            </a:r>
            <a:r>
              <a:rPr lang="en-US" dirty="0"/>
              <a:t> et al. (1988). </a:t>
            </a:r>
          </a:p>
          <a:p>
            <a:pPr algn="just"/>
            <a:r>
              <a:rPr lang="en-US" dirty="0"/>
              <a:t>They propose TEGEN as a viable alternative technique for automatic thesaurus construction. </a:t>
            </a:r>
          </a:p>
          <a:p>
            <a:pPr algn="just"/>
            <a:r>
              <a:rPr lang="en-US" dirty="0"/>
              <a:t>The procedure involves examining the types of Boolean operators used between search terms, the type of query modification performed by the user, and so on. </a:t>
            </a:r>
          </a:p>
          <a:p>
            <a:pPr algn="just"/>
            <a:r>
              <a:rPr lang="en-US" dirty="0"/>
              <a:t>User feedback is included to resolve any ambiguities and uncertainties. </a:t>
            </a:r>
          </a:p>
          <a:p>
            <a:pPr algn="just"/>
            <a:r>
              <a:rPr lang="en-US" dirty="0"/>
              <a:t>Feedback is also required to select the specific type of relationship between two terms once it has been decided that the terms are indeed related. </a:t>
            </a:r>
          </a:p>
          <a:p>
            <a:pPr algn="just"/>
            <a:r>
              <a:rPr lang="en-US" dirty="0"/>
              <a:t>Therefore, their approach requires considerable interaction with the user population. </a:t>
            </a:r>
            <a:endParaRPr lang="en-IN" dirty="0"/>
          </a:p>
        </p:txBody>
      </p:sp>
    </p:spTree>
    <p:extLst>
      <p:ext uri="{BB962C8B-B14F-4D97-AF65-F5344CB8AC3E}">
        <p14:creationId xmlns:p14="http://schemas.microsoft.com/office/powerpoint/2010/main" val="419159557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DF29E-0F45-12C7-0ACF-FAA5F0337D2B}"/>
              </a:ext>
            </a:extLst>
          </p:cNvPr>
          <p:cNvSpPr>
            <a:spLocks noGrp="1"/>
          </p:cNvSpPr>
          <p:nvPr>
            <p:ph type="title"/>
          </p:nvPr>
        </p:nvSpPr>
        <p:spPr>
          <a:xfrm>
            <a:off x="838200" y="365126"/>
            <a:ext cx="10515600" cy="667262"/>
          </a:xfrm>
        </p:spPr>
        <p:txBody>
          <a:bodyPr>
            <a:normAutofit fontScale="90000"/>
          </a:bodyPr>
          <a:lstStyle/>
          <a:p>
            <a:r>
              <a:rPr lang="en-IN" b="1" dirty="0"/>
              <a:t>THESAURUS CONSTRUCTION FROM TEXTS:</a:t>
            </a:r>
            <a:endParaRPr lang="en-IN" dirty="0"/>
          </a:p>
        </p:txBody>
      </p:sp>
      <p:sp>
        <p:nvSpPr>
          <p:cNvPr id="3" name="Content Placeholder 2">
            <a:extLst>
              <a:ext uri="{FF2B5EF4-FFF2-40B4-BE49-F238E27FC236}">
                <a16:creationId xmlns:a16="http://schemas.microsoft.com/office/drawing/2014/main" id="{53A30502-F526-1B6B-B791-536078DB97A8}"/>
              </a:ext>
            </a:extLst>
          </p:cNvPr>
          <p:cNvSpPr>
            <a:spLocks noGrp="1"/>
          </p:cNvSpPr>
          <p:nvPr>
            <p:ph idx="1"/>
          </p:nvPr>
        </p:nvSpPr>
        <p:spPr>
          <a:xfrm>
            <a:off x="838200" y="1032388"/>
            <a:ext cx="10515600" cy="5144575"/>
          </a:xfrm>
        </p:spPr>
        <p:txBody>
          <a:bodyPr/>
          <a:lstStyle/>
          <a:p>
            <a:r>
              <a:rPr lang="en-US" dirty="0"/>
              <a:t>The overall process may be divided into three stages: </a:t>
            </a:r>
          </a:p>
          <a:p>
            <a:pPr marL="0" indent="0">
              <a:buNone/>
            </a:pPr>
            <a:r>
              <a:rPr lang="en-US" dirty="0"/>
              <a:t>	(1) Construction of vocabulary    </a:t>
            </a:r>
          </a:p>
          <a:p>
            <a:pPr marL="0" indent="0">
              <a:buNone/>
            </a:pPr>
            <a:r>
              <a:rPr lang="en-US" dirty="0"/>
              <a:t>	(2) Similarity computations between terms   </a:t>
            </a:r>
          </a:p>
          <a:p>
            <a:pPr marL="0" indent="0">
              <a:buNone/>
            </a:pPr>
            <a:r>
              <a:rPr lang="en-US" dirty="0"/>
              <a:t>	</a:t>
            </a:r>
            <a:r>
              <a:rPr lang="en-IN" dirty="0"/>
              <a:t>(3) Organization of vocabulary</a:t>
            </a:r>
          </a:p>
        </p:txBody>
      </p:sp>
    </p:spTree>
    <p:extLst>
      <p:ext uri="{BB962C8B-B14F-4D97-AF65-F5344CB8AC3E}">
        <p14:creationId xmlns:p14="http://schemas.microsoft.com/office/powerpoint/2010/main" val="311335844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499C26-A7E5-D2F4-DEC0-A5E157C19619}"/>
              </a:ext>
            </a:extLst>
          </p:cNvPr>
          <p:cNvSpPr>
            <a:spLocks noGrp="1"/>
          </p:cNvSpPr>
          <p:nvPr>
            <p:ph idx="1"/>
          </p:nvPr>
        </p:nvSpPr>
        <p:spPr>
          <a:xfrm>
            <a:off x="838200" y="462116"/>
            <a:ext cx="10515600" cy="5714847"/>
          </a:xfrm>
        </p:spPr>
        <p:txBody>
          <a:bodyPr>
            <a:normAutofit fontScale="92500"/>
          </a:bodyPr>
          <a:lstStyle/>
          <a:p>
            <a:pPr marL="0" indent="0" algn="just">
              <a:buNone/>
            </a:pPr>
            <a:r>
              <a:rPr lang="en-IN" b="1" dirty="0"/>
              <a:t>Construction of Vocabulary:</a:t>
            </a:r>
          </a:p>
          <a:p>
            <a:pPr algn="just"/>
            <a:r>
              <a:rPr lang="en-US" dirty="0"/>
              <a:t>The first step is to identify an appropriate document collection. </a:t>
            </a:r>
          </a:p>
          <a:p>
            <a:pPr algn="just"/>
            <a:r>
              <a:rPr lang="en-US" dirty="0"/>
              <a:t>The collection should be sizable and representative of the subject area. </a:t>
            </a:r>
          </a:p>
          <a:p>
            <a:pPr algn="just"/>
            <a:r>
              <a:rPr lang="en-US" dirty="0"/>
              <a:t>The next step is to determine the required specificity for the thesaurus. </a:t>
            </a:r>
          </a:p>
          <a:p>
            <a:pPr algn="just"/>
            <a:r>
              <a:rPr lang="en-US" dirty="0"/>
              <a:t>If high specificity is needed, then the emphasis will be on identifying precise phrases; otherwise, more general terms can be sought. </a:t>
            </a:r>
          </a:p>
          <a:p>
            <a:pPr algn="just"/>
            <a:r>
              <a:rPr lang="en-US" dirty="0"/>
              <a:t>Terms can be selected from titles, abstracts, or even the full text of the documents if available. </a:t>
            </a:r>
          </a:p>
          <a:p>
            <a:pPr algn="just"/>
            <a:r>
              <a:rPr lang="en-US" dirty="0"/>
              <a:t>This initial set of vocabulary terms is now ready for normalization. </a:t>
            </a:r>
          </a:p>
          <a:p>
            <a:pPr algn="just"/>
            <a:r>
              <a:rPr lang="en-US" dirty="0"/>
              <a:t>The simplest and most common normalization procedure is to eliminate very trivial words such as prepositions and conjunctions. </a:t>
            </a:r>
          </a:p>
          <a:p>
            <a:pPr algn="just"/>
            <a:r>
              <a:rPr lang="en-US" dirty="0"/>
              <a:t>For this, an appropriate </a:t>
            </a:r>
            <a:r>
              <a:rPr lang="en-US" dirty="0" err="1"/>
              <a:t>stoplist</a:t>
            </a:r>
            <a:r>
              <a:rPr lang="en-US" dirty="0"/>
              <a:t> of trivial words needs to be constructed.</a:t>
            </a:r>
            <a:endParaRPr lang="en-IN" b="1" dirty="0"/>
          </a:p>
          <a:p>
            <a:pPr algn="just"/>
            <a:endParaRPr lang="en-IN" b="1" dirty="0"/>
          </a:p>
          <a:p>
            <a:pPr algn="just"/>
            <a:endParaRPr lang="en-IN" dirty="0"/>
          </a:p>
        </p:txBody>
      </p:sp>
    </p:spTree>
    <p:extLst>
      <p:ext uri="{BB962C8B-B14F-4D97-AF65-F5344CB8AC3E}">
        <p14:creationId xmlns:p14="http://schemas.microsoft.com/office/powerpoint/2010/main" val="389672682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F5E39B-3377-60C1-6545-AE2DFFCB44D4}"/>
              </a:ext>
            </a:extLst>
          </p:cNvPr>
          <p:cNvSpPr>
            <a:spLocks noGrp="1"/>
          </p:cNvSpPr>
          <p:nvPr>
            <p:ph idx="1"/>
          </p:nvPr>
        </p:nvSpPr>
        <p:spPr>
          <a:xfrm>
            <a:off x="838200" y="393290"/>
            <a:ext cx="10515600" cy="5783673"/>
          </a:xfrm>
        </p:spPr>
        <p:txBody>
          <a:bodyPr/>
          <a:lstStyle/>
          <a:p>
            <a:pPr algn="just"/>
            <a:r>
              <a:rPr lang="en-US" dirty="0"/>
              <a:t>Stemming reduces each word into its root form. For example, the terms "information," "informing," and "informed" could all be stemmed into the same root "inform.“</a:t>
            </a:r>
          </a:p>
          <a:p>
            <a:pPr algn="just"/>
            <a:r>
              <a:rPr lang="en-US" dirty="0"/>
              <a:t>The resulting pool of stems is now ready to be analyzed statistically with two objectives:</a:t>
            </a:r>
          </a:p>
          <a:p>
            <a:pPr marL="0" indent="0" algn="just">
              <a:buNone/>
            </a:pPr>
            <a:r>
              <a:rPr lang="en-IN" b="1" dirty="0"/>
              <a:t>1. Stem evaluation and selection</a:t>
            </a:r>
          </a:p>
          <a:p>
            <a:pPr marL="0" indent="0" algn="just">
              <a:buNone/>
            </a:pPr>
            <a:r>
              <a:rPr lang="en-US" dirty="0"/>
              <a:t>There are a number of methods for statistically evaluating the worth of a term. </a:t>
            </a:r>
          </a:p>
          <a:p>
            <a:pPr algn="just"/>
            <a:r>
              <a:rPr lang="en-US" b="1" i="1" dirty="0"/>
              <a:t>Selection by Frequency of Occurrence</a:t>
            </a:r>
          </a:p>
          <a:p>
            <a:pPr algn="just"/>
            <a:r>
              <a:rPr lang="en-US" b="1" i="1" dirty="0"/>
              <a:t>Selection by Discrimination Value (DV)</a:t>
            </a:r>
          </a:p>
          <a:p>
            <a:pPr algn="just"/>
            <a:r>
              <a:rPr lang="en-US" b="1" i="1" dirty="0"/>
              <a:t>Selection by the Poisson Method</a:t>
            </a:r>
            <a:endParaRPr lang="en-IN" dirty="0"/>
          </a:p>
        </p:txBody>
      </p:sp>
    </p:spTree>
    <p:extLst>
      <p:ext uri="{BB962C8B-B14F-4D97-AF65-F5344CB8AC3E}">
        <p14:creationId xmlns:p14="http://schemas.microsoft.com/office/powerpoint/2010/main" val="25712555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366206-4656-0761-486E-2C766411B888}"/>
              </a:ext>
            </a:extLst>
          </p:cNvPr>
          <p:cNvSpPr>
            <a:spLocks noGrp="1"/>
          </p:cNvSpPr>
          <p:nvPr>
            <p:ph idx="1"/>
          </p:nvPr>
        </p:nvSpPr>
        <p:spPr>
          <a:xfrm>
            <a:off x="838200" y="235974"/>
            <a:ext cx="10515600" cy="5940989"/>
          </a:xfrm>
        </p:spPr>
        <p:txBody>
          <a:bodyPr>
            <a:normAutofit/>
          </a:bodyPr>
          <a:lstStyle/>
          <a:p>
            <a:pPr marL="0" indent="0" algn="just">
              <a:buNone/>
            </a:pPr>
            <a:r>
              <a:rPr lang="en-US" b="1" i="1" dirty="0"/>
              <a:t>Selection by Frequency of </a:t>
            </a:r>
            <a:r>
              <a:rPr lang="en-US" b="1" i="1" dirty="0" err="1"/>
              <a:t>Occurence</a:t>
            </a:r>
            <a:r>
              <a:rPr lang="en-US" b="1" i="1" dirty="0"/>
              <a:t>:</a:t>
            </a:r>
            <a:endParaRPr lang="en-US" dirty="0"/>
          </a:p>
          <a:p>
            <a:pPr algn="just"/>
            <a:r>
              <a:rPr lang="en-US" dirty="0"/>
              <a:t>The basic idea is that each term may be placed in one of three different frequency categories with respect to a collection of documents: </a:t>
            </a:r>
            <a:r>
              <a:rPr lang="en-US" b="1" dirty="0"/>
              <a:t>high, medium, and low frequency</a:t>
            </a:r>
            <a:r>
              <a:rPr lang="en-US" dirty="0"/>
              <a:t>. </a:t>
            </a:r>
          </a:p>
          <a:p>
            <a:pPr algn="just"/>
            <a:r>
              <a:rPr lang="en-US" dirty="0"/>
              <a:t>Terms in the mid-frequency range are the best for indexing and searching. </a:t>
            </a:r>
          </a:p>
          <a:p>
            <a:pPr algn="just"/>
            <a:r>
              <a:rPr lang="en-US" dirty="0"/>
              <a:t>Terms in the low-frequency range have minimal impact on retrieval, while high-frequency terms are too general and negatively impact search precision. </a:t>
            </a:r>
          </a:p>
          <a:p>
            <a:pPr algn="just"/>
            <a:r>
              <a:rPr lang="en-US" dirty="0"/>
              <a:t>Salton recommends creating term classes for the low-frequency terms; High-frequency terms are generally coordinated into phrases to make them more specific. </a:t>
            </a:r>
          </a:p>
        </p:txBody>
      </p:sp>
    </p:spTree>
    <p:extLst>
      <p:ext uri="{BB962C8B-B14F-4D97-AF65-F5344CB8AC3E}">
        <p14:creationId xmlns:p14="http://schemas.microsoft.com/office/powerpoint/2010/main" val="287973048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A96F51-DA06-5A68-BD52-A609CA0F5944}"/>
              </a:ext>
            </a:extLst>
          </p:cNvPr>
          <p:cNvSpPr>
            <a:spLocks noGrp="1"/>
          </p:cNvSpPr>
          <p:nvPr>
            <p:ph idx="1"/>
          </p:nvPr>
        </p:nvSpPr>
        <p:spPr>
          <a:xfrm>
            <a:off x="838200" y="265471"/>
            <a:ext cx="10515600" cy="5911492"/>
          </a:xfrm>
        </p:spPr>
        <p:txBody>
          <a:bodyPr>
            <a:normAutofit fontScale="92500" lnSpcReduction="10000"/>
          </a:bodyPr>
          <a:lstStyle/>
          <a:p>
            <a:pPr marL="0" indent="0" algn="just">
              <a:buNone/>
            </a:pPr>
            <a:r>
              <a:rPr lang="en-US" b="1" i="1" dirty="0"/>
              <a:t>Selection by Discrimination Value (DV): </a:t>
            </a:r>
          </a:p>
          <a:p>
            <a:pPr algn="just"/>
            <a:r>
              <a:rPr lang="en-US" dirty="0"/>
              <a:t>The overall procedure is to compute the average </a:t>
            </a:r>
            <a:r>
              <a:rPr lang="en-US" dirty="0" err="1"/>
              <a:t>interdocument</a:t>
            </a:r>
            <a:r>
              <a:rPr lang="en-US" dirty="0"/>
              <a:t> similarity in the collection, using some appropriate similarity function.</a:t>
            </a:r>
          </a:p>
          <a:p>
            <a:pPr algn="just"/>
            <a:r>
              <a:rPr lang="en-US" dirty="0"/>
              <a:t>Next, the term </a:t>
            </a:r>
            <a:r>
              <a:rPr lang="en-US" i="1" dirty="0"/>
              <a:t>k</a:t>
            </a:r>
            <a:r>
              <a:rPr lang="en-US" dirty="0"/>
              <a:t> being evaluated is removed from the indexing vocabulary and the same average similarity is recomputed. </a:t>
            </a:r>
          </a:p>
          <a:p>
            <a:pPr algn="just"/>
            <a:r>
              <a:rPr lang="en-US" dirty="0"/>
              <a:t>The discrimination value (</a:t>
            </a:r>
            <a:r>
              <a:rPr lang="en-US" i="1" dirty="0"/>
              <a:t>DV</a:t>
            </a:r>
            <a:r>
              <a:rPr lang="en-US" dirty="0"/>
              <a:t>) for the term is then computed as:</a:t>
            </a:r>
          </a:p>
          <a:p>
            <a:pPr marL="0" indent="0" algn="just">
              <a:buNone/>
            </a:pPr>
            <a:r>
              <a:rPr lang="en-US" i="1" dirty="0"/>
              <a:t>	DV</a:t>
            </a:r>
            <a:r>
              <a:rPr lang="en-US" dirty="0"/>
              <a:t>(</a:t>
            </a:r>
            <a:r>
              <a:rPr lang="en-US" i="1" dirty="0"/>
              <a:t>k</a:t>
            </a:r>
            <a:r>
              <a:rPr lang="en-US" dirty="0"/>
              <a:t>) = (Average similarity without </a:t>
            </a:r>
            <a:r>
              <a:rPr lang="en-US" i="1" dirty="0"/>
              <a:t>k</a:t>
            </a:r>
            <a:r>
              <a:rPr lang="en-US" dirty="0"/>
              <a:t>) - (Average similarity with </a:t>
            </a:r>
            <a:r>
              <a:rPr lang="en-US" i="1" dirty="0"/>
              <a:t>k</a:t>
            </a:r>
            <a:r>
              <a:rPr lang="en-US" dirty="0"/>
              <a:t>)</a:t>
            </a:r>
          </a:p>
          <a:p>
            <a:pPr algn="just"/>
            <a:r>
              <a:rPr lang="en-US" dirty="0"/>
              <a:t>Good discriminators are those that decrease the average similarity by their presence, that is, those for which </a:t>
            </a:r>
            <a:r>
              <a:rPr lang="en-US" i="1" dirty="0"/>
              <a:t>DV</a:t>
            </a:r>
            <a:r>
              <a:rPr lang="en-US" dirty="0"/>
              <a:t> is positive. </a:t>
            </a:r>
          </a:p>
          <a:p>
            <a:pPr algn="just"/>
            <a:r>
              <a:rPr lang="en-US" dirty="0"/>
              <a:t>Poor discriminators have negative </a:t>
            </a:r>
            <a:r>
              <a:rPr lang="en-US" i="1" dirty="0"/>
              <a:t>DV</a:t>
            </a:r>
            <a:r>
              <a:rPr lang="en-US" dirty="0"/>
              <a:t>, while neutral discriminators have no effect on average similarity. </a:t>
            </a:r>
          </a:p>
          <a:p>
            <a:pPr algn="just"/>
            <a:r>
              <a:rPr lang="en-US" dirty="0"/>
              <a:t>Terms that are positive discriminators can be included in the vocabulary and the rest rejected.</a:t>
            </a:r>
          </a:p>
          <a:p>
            <a:pPr marL="0" indent="0">
              <a:buNone/>
            </a:pPr>
            <a:r>
              <a:rPr lang="en-US" i="1" dirty="0"/>
              <a:t>	</a:t>
            </a:r>
            <a:endParaRPr lang="en-US" dirty="0"/>
          </a:p>
          <a:p>
            <a:pPr algn="just"/>
            <a:endParaRPr lang="en-IN" dirty="0"/>
          </a:p>
        </p:txBody>
      </p:sp>
    </p:spTree>
    <p:extLst>
      <p:ext uri="{BB962C8B-B14F-4D97-AF65-F5344CB8AC3E}">
        <p14:creationId xmlns:p14="http://schemas.microsoft.com/office/powerpoint/2010/main" val="318517819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493D87-2692-7271-CA92-9CE4462DAB92}"/>
              </a:ext>
            </a:extLst>
          </p:cNvPr>
          <p:cNvSpPr>
            <a:spLocks noGrp="1"/>
          </p:cNvSpPr>
          <p:nvPr>
            <p:ph idx="1"/>
          </p:nvPr>
        </p:nvSpPr>
        <p:spPr>
          <a:xfrm>
            <a:off x="838200" y="117987"/>
            <a:ext cx="10515600" cy="6058976"/>
          </a:xfrm>
        </p:spPr>
        <p:txBody>
          <a:bodyPr/>
          <a:lstStyle/>
          <a:p>
            <a:pPr marL="0" indent="0" algn="just">
              <a:buNone/>
            </a:pPr>
            <a:r>
              <a:rPr lang="en-US" b="1" i="1" dirty="0"/>
              <a:t>Selection by the Poisson Method:</a:t>
            </a:r>
          </a:p>
          <a:p>
            <a:pPr algn="just"/>
            <a:r>
              <a:rPr lang="en-US" dirty="0"/>
              <a:t>The Poisson distribution is a discrete random distribution that can be used to model a variety of random phenomena including the number of typographical errors in a page of writing and the number of red cars on a highway per hour. </a:t>
            </a:r>
          </a:p>
          <a:p>
            <a:pPr algn="just"/>
            <a:r>
              <a:rPr lang="en-US" dirty="0"/>
              <a:t>In all the research that has been performed on the family of Poisson models, the one significant result is that trivial words have a single Poisson distribution, while the distribution of nontrivial words deviates significantly from that of a Poisson distribution. </a:t>
            </a:r>
          </a:p>
          <a:p>
            <a:pPr algn="just"/>
            <a:r>
              <a:rPr lang="en-US" dirty="0"/>
              <a:t>This result is used here to select nontrivial words as thesaurus terms.</a:t>
            </a:r>
            <a:endParaRPr lang="en-IN" dirty="0"/>
          </a:p>
        </p:txBody>
      </p:sp>
    </p:spTree>
    <p:extLst>
      <p:ext uri="{BB962C8B-B14F-4D97-AF65-F5344CB8AC3E}">
        <p14:creationId xmlns:p14="http://schemas.microsoft.com/office/powerpoint/2010/main" val="169146678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9CFDE8-DD8A-2C56-7C02-97C08C9036A1}"/>
              </a:ext>
            </a:extLst>
          </p:cNvPr>
          <p:cNvSpPr>
            <a:spLocks noGrp="1"/>
          </p:cNvSpPr>
          <p:nvPr>
            <p:ph idx="1"/>
          </p:nvPr>
        </p:nvSpPr>
        <p:spPr>
          <a:xfrm>
            <a:off x="838200" y="412955"/>
            <a:ext cx="10515600" cy="5764008"/>
          </a:xfrm>
        </p:spPr>
        <p:txBody>
          <a:bodyPr/>
          <a:lstStyle/>
          <a:p>
            <a:pPr marL="0" indent="0">
              <a:buNone/>
            </a:pPr>
            <a:r>
              <a:rPr lang="en-IN" b="1" dirty="0"/>
              <a:t>2. Phrase construction</a:t>
            </a:r>
          </a:p>
          <a:p>
            <a:r>
              <a:rPr lang="en-IN" dirty="0"/>
              <a:t>Two methods are described </a:t>
            </a:r>
          </a:p>
          <a:p>
            <a:r>
              <a:rPr lang="en-IN" b="1" i="1" dirty="0"/>
              <a:t>Salton and McGill Procedure</a:t>
            </a:r>
          </a:p>
          <a:p>
            <a:r>
              <a:rPr lang="en-IN" b="1" i="1" dirty="0" err="1"/>
              <a:t>Choueka</a:t>
            </a:r>
            <a:r>
              <a:rPr lang="en-IN" b="1" i="1" dirty="0"/>
              <a:t> Procedure</a:t>
            </a:r>
          </a:p>
          <a:p>
            <a:endParaRPr lang="en-IN" dirty="0"/>
          </a:p>
        </p:txBody>
      </p:sp>
    </p:spTree>
    <p:extLst>
      <p:ext uri="{BB962C8B-B14F-4D97-AF65-F5344CB8AC3E}">
        <p14:creationId xmlns:p14="http://schemas.microsoft.com/office/powerpoint/2010/main" val="331397830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3A8C06-D62D-23BB-1195-CFE04A25AE75}"/>
              </a:ext>
            </a:extLst>
          </p:cNvPr>
          <p:cNvSpPr>
            <a:spLocks noGrp="1"/>
          </p:cNvSpPr>
          <p:nvPr>
            <p:ph idx="1"/>
          </p:nvPr>
        </p:nvSpPr>
        <p:spPr>
          <a:xfrm>
            <a:off x="838200" y="206477"/>
            <a:ext cx="10515600" cy="5970486"/>
          </a:xfrm>
        </p:spPr>
        <p:txBody>
          <a:bodyPr/>
          <a:lstStyle/>
          <a:p>
            <a:pPr marL="0" indent="0" algn="just">
              <a:buNone/>
            </a:pPr>
            <a:r>
              <a:rPr lang="en-IN" b="1" i="1" dirty="0"/>
              <a:t>Salton and McGill Procedure:</a:t>
            </a:r>
            <a:endParaRPr lang="en-US" dirty="0"/>
          </a:p>
          <a:p>
            <a:pPr algn="just"/>
            <a:r>
              <a:rPr lang="en-US" dirty="0"/>
              <a:t>The procedure is a statistical alternative to syntactic and/or semantic methods for identifying and constructing phrases.</a:t>
            </a:r>
          </a:p>
          <a:p>
            <a:pPr algn="just"/>
            <a:r>
              <a:rPr lang="en-US" dirty="0"/>
              <a:t> First, the component words of a phrase should occur frequently in a common context, such as the same sentence.</a:t>
            </a:r>
          </a:p>
          <a:p>
            <a:pPr algn="just"/>
            <a:r>
              <a:rPr lang="en-US" dirty="0"/>
              <a:t>The second general requirement is that the component words should represent broad concepts, and their frequency of occurrence should be sufficiently high.</a:t>
            </a:r>
            <a:endParaRPr lang="en-IN" dirty="0"/>
          </a:p>
        </p:txBody>
      </p:sp>
    </p:spTree>
    <p:extLst>
      <p:ext uri="{BB962C8B-B14F-4D97-AF65-F5344CB8AC3E}">
        <p14:creationId xmlns:p14="http://schemas.microsoft.com/office/powerpoint/2010/main" val="176611626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D9E3C2-688A-1080-031D-13608105BB3B}"/>
              </a:ext>
            </a:extLst>
          </p:cNvPr>
          <p:cNvSpPr>
            <a:spLocks noGrp="1"/>
          </p:cNvSpPr>
          <p:nvPr>
            <p:ph idx="1"/>
          </p:nvPr>
        </p:nvSpPr>
        <p:spPr>
          <a:xfrm>
            <a:off x="527255" y="403123"/>
            <a:ext cx="11137490" cy="5881995"/>
          </a:xfrm>
        </p:spPr>
        <p:txBody>
          <a:bodyPr>
            <a:normAutofit fontScale="92500" lnSpcReduction="10000"/>
          </a:bodyPr>
          <a:lstStyle/>
          <a:p>
            <a:pPr marL="0" indent="0" algn="just">
              <a:buNone/>
            </a:pPr>
            <a:r>
              <a:rPr lang="en-IN" b="1" dirty="0"/>
              <a:t>Algorithm:</a:t>
            </a:r>
          </a:p>
          <a:p>
            <a:pPr marL="0" indent="0" algn="just">
              <a:buNone/>
            </a:pPr>
            <a:r>
              <a:rPr lang="en-US" b="1" dirty="0"/>
              <a:t>1. </a:t>
            </a:r>
            <a:r>
              <a:rPr lang="en-US" dirty="0"/>
              <a:t>Compute pairwise co-occurrence for high-frequency words. </a:t>
            </a:r>
          </a:p>
          <a:p>
            <a:pPr marL="0" indent="0" algn="just">
              <a:buNone/>
            </a:pPr>
            <a:r>
              <a:rPr lang="en-US" b="1" dirty="0"/>
              <a:t>2. </a:t>
            </a:r>
            <a:r>
              <a:rPr lang="en-US" dirty="0"/>
              <a:t>If this co-occurrence is lower than a threshold, then do not consider the pair any further.</a:t>
            </a:r>
          </a:p>
          <a:p>
            <a:pPr marL="0" indent="0" algn="just">
              <a:buNone/>
            </a:pPr>
            <a:r>
              <a:rPr lang="en-US" b="1" dirty="0"/>
              <a:t>3. </a:t>
            </a:r>
            <a:r>
              <a:rPr lang="en-US" dirty="0"/>
              <a:t>For pairs that qualify, compute the cohesion value. Two formulas for computing cohesion are given below. Both </a:t>
            </a:r>
            <a:r>
              <a:rPr lang="en-US" dirty="0" err="1"/>
              <a:t>ti</a:t>
            </a:r>
            <a:r>
              <a:rPr lang="en-US" dirty="0"/>
              <a:t> and </a:t>
            </a:r>
            <a:r>
              <a:rPr lang="en-US" dirty="0" err="1"/>
              <a:t>tj</a:t>
            </a:r>
            <a:r>
              <a:rPr lang="en-US" dirty="0"/>
              <a:t> represent terms, and size-factor is related to the size of the thesaurus vocabulary.</a:t>
            </a:r>
          </a:p>
          <a:p>
            <a:pPr marL="0" indent="0" algn="just">
              <a:buNone/>
            </a:pPr>
            <a:r>
              <a:rPr lang="en-US" dirty="0"/>
              <a:t>COHESION (</a:t>
            </a:r>
            <a:r>
              <a:rPr lang="en-US" dirty="0" err="1"/>
              <a:t>ti</a:t>
            </a:r>
            <a:r>
              <a:rPr lang="en-US" dirty="0"/>
              <a:t>, </a:t>
            </a:r>
            <a:r>
              <a:rPr lang="en-US" dirty="0" err="1"/>
              <a:t>tj</a:t>
            </a:r>
            <a:r>
              <a:rPr lang="en-US" dirty="0"/>
              <a:t>) =</a:t>
            </a:r>
          </a:p>
          <a:p>
            <a:pPr marL="0" indent="0" algn="just">
              <a:buNone/>
            </a:pPr>
            <a:r>
              <a:rPr lang="en-US" dirty="0"/>
              <a:t>co-occurrence-frequency/sqrt(frequency(</a:t>
            </a:r>
            <a:r>
              <a:rPr lang="en-US" dirty="0" err="1"/>
              <a:t>ti</a:t>
            </a:r>
            <a:r>
              <a:rPr lang="en-US" dirty="0"/>
              <a:t>) * frequency(</a:t>
            </a:r>
            <a:r>
              <a:rPr lang="en-US" dirty="0" err="1"/>
              <a:t>tj</a:t>
            </a:r>
            <a:r>
              <a:rPr lang="en-US" dirty="0"/>
              <a:t>))</a:t>
            </a:r>
          </a:p>
          <a:p>
            <a:pPr marL="0" indent="0" algn="just">
              <a:buNone/>
            </a:pPr>
            <a:r>
              <a:rPr lang="en-US" dirty="0"/>
              <a:t>COHESION (</a:t>
            </a:r>
            <a:r>
              <a:rPr lang="en-US" dirty="0" err="1"/>
              <a:t>ti</a:t>
            </a:r>
            <a:r>
              <a:rPr lang="en-US" dirty="0"/>
              <a:t>, </a:t>
            </a:r>
            <a:r>
              <a:rPr lang="en-US" dirty="0" err="1"/>
              <a:t>tj</a:t>
            </a:r>
            <a:r>
              <a:rPr lang="en-US" dirty="0"/>
              <a:t>) =</a:t>
            </a:r>
          </a:p>
          <a:p>
            <a:pPr marL="0" indent="0" algn="just">
              <a:buNone/>
            </a:pPr>
            <a:r>
              <a:rPr lang="en-US" dirty="0"/>
              <a:t>size-factor * (co-occurrence-frequency/(total-frequency(</a:t>
            </a:r>
            <a:r>
              <a:rPr lang="en-US" dirty="0" err="1"/>
              <a:t>ti</a:t>
            </a:r>
            <a:r>
              <a:rPr lang="en-US" dirty="0"/>
              <a:t>) *</a:t>
            </a:r>
          </a:p>
          <a:p>
            <a:pPr marL="0" indent="0" algn="just">
              <a:buNone/>
            </a:pPr>
            <a:r>
              <a:rPr lang="en-US" dirty="0"/>
              <a:t>total-frequency(</a:t>
            </a:r>
            <a:r>
              <a:rPr lang="en-US" dirty="0" err="1"/>
              <a:t>tj</a:t>
            </a:r>
            <a:r>
              <a:rPr lang="en-US" dirty="0"/>
              <a:t>))) </a:t>
            </a:r>
          </a:p>
          <a:p>
            <a:pPr marL="0" indent="0" algn="just">
              <a:buNone/>
            </a:pPr>
            <a:r>
              <a:rPr lang="en-US" b="1" dirty="0"/>
              <a:t>4. </a:t>
            </a:r>
            <a:r>
              <a:rPr lang="en-US" dirty="0"/>
              <a:t>If cohesion is above a second threshold, retain the phrase as a valid vocabulary phrase.</a:t>
            </a:r>
          </a:p>
          <a:p>
            <a:pPr algn="just"/>
            <a:endParaRPr lang="en-IN" dirty="0"/>
          </a:p>
        </p:txBody>
      </p:sp>
    </p:spTree>
    <p:extLst>
      <p:ext uri="{BB962C8B-B14F-4D97-AF65-F5344CB8AC3E}">
        <p14:creationId xmlns:p14="http://schemas.microsoft.com/office/powerpoint/2010/main" val="204327332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EBFBBA-9ABF-89A7-C922-673CDB76FB04}"/>
              </a:ext>
            </a:extLst>
          </p:cNvPr>
          <p:cNvSpPr>
            <a:spLocks noGrp="1"/>
          </p:cNvSpPr>
          <p:nvPr>
            <p:ph idx="1"/>
          </p:nvPr>
        </p:nvSpPr>
        <p:spPr>
          <a:xfrm>
            <a:off x="838200" y="186813"/>
            <a:ext cx="10515600" cy="5990150"/>
          </a:xfrm>
        </p:spPr>
        <p:txBody>
          <a:bodyPr>
            <a:normAutofit fontScale="85000" lnSpcReduction="20000"/>
          </a:bodyPr>
          <a:lstStyle/>
          <a:p>
            <a:pPr marL="0" indent="0" algn="just">
              <a:buNone/>
            </a:pPr>
            <a:r>
              <a:rPr lang="en-IN" b="1" i="1" dirty="0" err="1"/>
              <a:t>Choueka</a:t>
            </a:r>
            <a:r>
              <a:rPr lang="en-IN" b="1" i="1" dirty="0"/>
              <a:t> Procedure:</a:t>
            </a:r>
            <a:r>
              <a:rPr lang="en-IN" dirty="0"/>
              <a:t> </a:t>
            </a:r>
          </a:p>
          <a:p>
            <a:pPr algn="just"/>
            <a:r>
              <a:rPr lang="en-US" dirty="0"/>
              <a:t>The algorithm proposed is statistical and combinatorial and requires a large collection of documents to be effective.</a:t>
            </a:r>
          </a:p>
          <a:p>
            <a:pPr marL="0" indent="0" algn="just">
              <a:buNone/>
            </a:pPr>
            <a:r>
              <a:rPr lang="en-US" b="1" dirty="0"/>
              <a:t>1. </a:t>
            </a:r>
            <a:r>
              <a:rPr lang="en-US" dirty="0"/>
              <a:t>Select the range of length allowed for each collocational expression. Example: two to six words.</a:t>
            </a:r>
          </a:p>
          <a:p>
            <a:pPr marL="0" indent="0" algn="just">
              <a:buNone/>
            </a:pPr>
            <a:r>
              <a:rPr lang="en-US" b="1" dirty="0"/>
              <a:t>2. </a:t>
            </a:r>
            <a:r>
              <a:rPr lang="en-US" dirty="0"/>
              <a:t>Build a list of all potential expressions from the collection with the prescribed length that have a minimum frequency (again, a preset value).</a:t>
            </a:r>
          </a:p>
          <a:p>
            <a:pPr marL="0" indent="0" algn="just">
              <a:buNone/>
            </a:pPr>
            <a:r>
              <a:rPr lang="en-US" b="1" dirty="0"/>
              <a:t>3. </a:t>
            </a:r>
            <a:r>
              <a:rPr lang="en-US" dirty="0"/>
              <a:t>Delete sequences that begin or end with a trivial word. The trivial words include prepositions, pronouns, articles, conjunctions, and so on.</a:t>
            </a:r>
          </a:p>
          <a:p>
            <a:pPr lvl="1"/>
            <a:r>
              <a:rPr lang="en-US" dirty="0"/>
              <a:t>      ✅ </a:t>
            </a:r>
            <a:r>
              <a:rPr lang="en-US" b="1" dirty="0"/>
              <a:t>Example:</a:t>
            </a:r>
            <a:br>
              <a:rPr lang="en-US" dirty="0"/>
            </a:br>
            <a:r>
              <a:rPr lang="en-US" dirty="0"/>
              <a:t>Remove:</a:t>
            </a:r>
          </a:p>
          <a:p>
            <a:pPr lvl="1"/>
            <a:r>
              <a:rPr lang="en-US" dirty="0"/>
              <a:t>“of information retrieval”</a:t>
            </a:r>
          </a:p>
          <a:p>
            <a:pPr lvl="1"/>
            <a:r>
              <a:rPr lang="en-US" dirty="0"/>
              <a:t>“information retrieval of”</a:t>
            </a:r>
            <a:br>
              <a:rPr lang="en-US" dirty="0"/>
            </a:br>
            <a:r>
              <a:rPr lang="en-US" dirty="0"/>
              <a:t>Keep:</a:t>
            </a:r>
          </a:p>
          <a:p>
            <a:pPr lvl="1"/>
            <a:r>
              <a:rPr lang="en-US" dirty="0"/>
              <a:t>“information retrieval system”</a:t>
            </a:r>
          </a:p>
          <a:p>
            <a:pPr marL="0" indent="0" algn="just">
              <a:buNone/>
            </a:pPr>
            <a:r>
              <a:rPr lang="en-US" b="1" dirty="0"/>
              <a:t>4. </a:t>
            </a:r>
            <a:r>
              <a:rPr lang="en-US" dirty="0"/>
              <a:t>Delete expressions that contain high-frequency nontrivial words.</a:t>
            </a:r>
          </a:p>
          <a:p>
            <a:pPr lvl="1"/>
            <a:r>
              <a:rPr lang="en-US" dirty="0"/>
              <a:t>✅ </a:t>
            </a:r>
            <a:r>
              <a:rPr lang="en-US" b="1" dirty="0"/>
              <a:t>Example:</a:t>
            </a:r>
            <a:br>
              <a:rPr lang="en-US" dirty="0"/>
            </a:br>
            <a:r>
              <a:rPr lang="en-US" dirty="0"/>
              <a:t>If </a:t>
            </a:r>
            <a:r>
              <a:rPr lang="en-US" i="1" dirty="0"/>
              <a:t>system</a:t>
            </a:r>
            <a:r>
              <a:rPr lang="en-US" dirty="0"/>
              <a:t> occurs in too many unrelated contexts:</a:t>
            </a:r>
          </a:p>
          <a:p>
            <a:pPr lvl="1"/>
            <a:r>
              <a:rPr lang="en-US" dirty="0"/>
              <a:t>“system design” may be dropped</a:t>
            </a:r>
          </a:p>
          <a:p>
            <a:pPr lvl="1"/>
            <a:r>
              <a:rPr lang="en-US" dirty="0"/>
              <a:t>But “information retrieval” may remain, since it’s more specific.</a:t>
            </a:r>
          </a:p>
          <a:p>
            <a:pPr marL="0" indent="0" algn="just">
              <a:buNone/>
            </a:pPr>
            <a:endParaRPr lang="en-US" dirty="0"/>
          </a:p>
        </p:txBody>
      </p:sp>
    </p:spTree>
    <p:extLst>
      <p:ext uri="{BB962C8B-B14F-4D97-AF65-F5344CB8AC3E}">
        <p14:creationId xmlns:p14="http://schemas.microsoft.com/office/powerpoint/2010/main" val="412259728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723DB2-420B-450B-966F-5E0553566A5A}"/>
              </a:ext>
            </a:extLst>
          </p:cNvPr>
          <p:cNvSpPr>
            <a:spLocks noGrp="1"/>
          </p:cNvSpPr>
          <p:nvPr>
            <p:ph idx="1"/>
          </p:nvPr>
        </p:nvSpPr>
        <p:spPr>
          <a:xfrm>
            <a:off x="838200" y="471948"/>
            <a:ext cx="10515600" cy="5705015"/>
          </a:xfrm>
        </p:spPr>
        <p:txBody>
          <a:bodyPr>
            <a:normAutofit fontScale="85000" lnSpcReduction="20000"/>
          </a:bodyPr>
          <a:lstStyle/>
          <a:p>
            <a:pPr marL="0" indent="0" algn="just">
              <a:buNone/>
            </a:pPr>
            <a:r>
              <a:rPr lang="en-US" b="1" dirty="0"/>
              <a:t>5. </a:t>
            </a:r>
            <a:r>
              <a:rPr lang="en-US" dirty="0"/>
              <a:t>Given an expression such as a b c d, evaluate any potential subexpressions such as a b c and b c d for relevance. Discard any that are not sufficiently relevant. </a:t>
            </a:r>
          </a:p>
          <a:p>
            <a:pPr lvl="1"/>
            <a:r>
              <a:rPr lang="en-US" dirty="0"/>
              <a:t>✅ </a:t>
            </a:r>
            <a:r>
              <a:rPr lang="en-US" b="1" dirty="0"/>
              <a:t>Example:</a:t>
            </a:r>
            <a:br>
              <a:rPr lang="en-US" dirty="0"/>
            </a:br>
            <a:r>
              <a:rPr lang="en-US" dirty="0"/>
              <a:t>If we have:</a:t>
            </a:r>
          </a:p>
          <a:p>
            <a:pPr lvl="1"/>
            <a:r>
              <a:rPr lang="en-US" dirty="0"/>
              <a:t>“information retrieval system design”</a:t>
            </a:r>
            <a:br>
              <a:rPr lang="en-US" dirty="0"/>
            </a:br>
            <a:r>
              <a:rPr lang="en-US" dirty="0"/>
              <a:t>Then subphrases:</a:t>
            </a:r>
          </a:p>
          <a:p>
            <a:pPr lvl="1"/>
            <a:r>
              <a:rPr lang="en-US" dirty="0"/>
              <a:t>“information retrieval system”</a:t>
            </a:r>
          </a:p>
          <a:p>
            <a:pPr lvl="1"/>
            <a:r>
              <a:rPr lang="en-US" dirty="0"/>
              <a:t>“retrieval system design”</a:t>
            </a:r>
            <a:br>
              <a:rPr lang="en-US" dirty="0"/>
            </a:br>
            <a:r>
              <a:rPr lang="en-US" dirty="0"/>
              <a:t>are tested — if one occurs rarely or is not meaningful, it’s discarded.</a:t>
            </a:r>
          </a:p>
          <a:p>
            <a:pPr lvl="1"/>
            <a:r>
              <a:rPr lang="en-US" dirty="0"/>
              <a:t>So, if </a:t>
            </a:r>
            <a:r>
              <a:rPr lang="en-US" i="1" dirty="0"/>
              <a:t>retrieval system design</a:t>
            </a:r>
            <a:r>
              <a:rPr lang="en-US" dirty="0"/>
              <a:t> rarely appears → it is dropped.</a:t>
            </a:r>
          </a:p>
          <a:p>
            <a:pPr marL="0" indent="0" algn="just">
              <a:buNone/>
            </a:pPr>
            <a:r>
              <a:rPr lang="en-US" b="1" dirty="0"/>
              <a:t>6. </a:t>
            </a:r>
            <a:r>
              <a:rPr lang="en-US" dirty="0"/>
              <a:t>Try to merge smaller expressions into larger and more meaningful ones. For example, a b c d and b c d may merge to form a b c d. (Again, the exact criteria for allowing a merger are not given.)</a:t>
            </a:r>
          </a:p>
          <a:p>
            <a:pPr lvl="1"/>
            <a:r>
              <a:rPr lang="en-US" dirty="0"/>
              <a:t>✅ </a:t>
            </a:r>
            <a:r>
              <a:rPr lang="en-US" b="1" dirty="0"/>
              <a:t>Example:</a:t>
            </a:r>
            <a:br>
              <a:rPr lang="en-US" dirty="0"/>
            </a:br>
            <a:r>
              <a:rPr lang="en-US" dirty="0"/>
              <a:t>If you have:</a:t>
            </a:r>
          </a:p>
          <a:p>
            <a:pPr lvl="1"/>
            <a:r>
              <a:rPr lang="en-US" dirty="0"/>
              <a:t>“information retrieval system”</a:t>
            </a:r>
          </a:p>
          <a:p>
            <a:pPr lvl="1"/>
            <a:r>
              <a:rPr lang="en-US" dirty="0"/>
              <a:t>“retrieval system design”</a:t>
            </a:r>
            <a:br>
              <a:rPr lang="en-US" dirty="0"/>
            </a:br>
            <a:r>
              <a:rPr lang="en-US" dirty="0"/>
              <a:t>They can be merged into the longer phrase:</a:t>
            </a:r>
          </a:p>
          <a:p>
            <a:pPr lvl="1"/>
            <a:r>
              <a:rPr lang="en-US" dirty="0"/>
              <a:t>“information retrieval system design”</a:t>
            </a:r>
          </a:p>
          <a:p>
            <a:pPr lvl="1"/>
            <a:r>
              <a:rPr lang="en-US" dirty="0"/>
              <a:t>This merging process captures more </a:t>
            </a:r>
            <a:r>
              <a:rPr lang="en-US" b="1" dirty="0"/>
              <a:t>specific and complete</a:t>
            </a:r>
            <a:r>
              <a:rPr lang="en-US" dirty="0"/>
              <a:t> multi-word concepts.</a:t>
            </a:r>
          </a:p>
          <a:p>
            <a:endParaRPr lang="en-IN" dirty="0"/>
          </a:p>
        </p:txBody>
      </p:sp>
    </p:spTree>
    <p:extLst>
      <p:ext uri="{BB962C8B-B14F-4D97-AF65-F5344CB8AC3E}">
        <p14:creationId xmlns:p14="http://schemas.microsoft.com/office/powerpoint/2010/main" val="352296242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56DE3-9A9A-6B11-874D-AB07C74838E4}"/>
              </a:ext>
            </a:extLst>
          </p:cNvPr>
          <p:cNvSpPr>
            <a:spLocks noGrp="1"/>
          </p:cNvSpPr>
          <p:nvPr>
            <p:ph type="title"/>
          </p:nvPr>
        </p:nvSpPr>
        <p:spPr>
          <a:xfrm>
            <a:off x="739877" y="102266"/>
            <a:ext cx="10515600" cy="578771"/>
          </a:xfrm>
        </p:spPr>
        <p:txBody>
          <a:bodyPr>
            <a:normAutofit fontScale="90000"/>
          </a:bodyPr>
          <a:lstStyle/>
          <a:p>
            <a:r>
              <a:rPr lang="en-IN" b="1" dirty="0"/>
              <a:t>Similarity Computation:</a:t>
            </a:r>
            <a:endParaRPr lang="en-IN" dirty="0"/>
          </a:p>
        </p:txBody>
      </p:sp>
      <p:sp>
        <p:nvSpPr>
          <p:cNvPr id="3" name="Content Placeholder 2">
            <a:extLst>
              <a:ext uri="{FF2B5EF4-FFF2-40B4-BE49-F238E27FC236}">
                <a16:creationId xmlns:a16="http://schemas.microsoft.com/office/drawing/2014/main" id="{FEB7C685-2004-5F18-6AB2-C6BDAEC3A629}"/>
              </a:ext>
            </a:extLst>
          </p:cNvPr>
          <p:cNvSpPr>
            <a:spLocks noGrp="1"/>
          </p:cNvSpPr>
          <p:nvPr>
            <p:ph idx="1"/>
          </p:nvPr>
        </p:nvSpPr>
        <p:spPr>
          <a:xfrm>
            <a:off x="186813" y="681037"/>
            <a:ext cx="11700387" cy="5985233"/>
          </a:xfrm>
        </p:spPr>
        <p:txBody>
          <a:bodyPr>
            <a:normAutofit/>
          </a:bodyPr>
          <a:lstStyle/>
          <a:p>
            <a:pPr algn="just"/>
            <a:r>
              <a:rPr lang="en-US" dirty="0"/>
              <a:t>Once the appropriate thesaurus vocabulary has been identified, and phrases have been designed if necessary, the next step is to determine the statistical similarity between pairs of terms. </a:t>
            </a:r>
          </a:p>
          <a:p>
            <a:pPr marL="0" indent="0" algn="just">
              <a:buNone/>
            </a:pPr>
            <a:r>
              <a:rPr lang="en-US" b="1" dirty="0"/>
              <a:t>1. </a:t>
            </a:r>
            <a:r>
              <a:rPr lang="en-US" dirty="0"/>
              <a:t>Cosine: which computes the number of documents associated with both terms divided by the square root of the product of the number of documents associated with the first term and the number of documents associated with the second.</a:t>
            </a:r>
          </a:p>
          <a:p>
            <a:pPr marL="0" indent="0" algn="just">
              <a:buNone/>
            </a:pPr>
            <a:r>
              <a:rPr lang="en-US" b="1" dirty="0"/>
              <a:t>2. </a:t>
            </a:r>
            <a:r>
              <a:rPr lang="en-US" dirty="0"/>
              <a:t>Dice: which computes the number of documents associated with both terms divided by the sum of the number of documents associated with one term and the number associated with the other.</a:t>
            </a:r>
          </a:p>
          <a:p>
            <a:pPr algn="just"/>
            <a:endParaRPr lang="en-IN" dirty="0"/>
          </a:p>
        </p:txBody>
      </p:sp>
      <p:pic>
        <p:nvPicPr>
          <p:cNvPr id="5" name="Picture 4">
            <a:extLst>
              <a:ext uri="{FF2B5EF4-FFF2-40B4-BE49-F238E27FC236}">
                <a16:creationId xmlns:a16="http://schemas.microsoft.com/office/drawing/2014/main" id="{E591122C-002C-25D1-31A2-4C3A06D68F9D}"/>
              </a:ext>
            </a:extLst>
          </p:cNvPr>
          <p:cNvPicPr>
            <a:picLocks noChangeAspect="1"/>
          </p:cNvPicPr>
          <p:nvPr/>
        </p:nvPicPr>
        <p:blipFill>
          <a:blip r:embed="rId2"/>
          <a:stretch>
            <a:fillRect/>
          </a:stretch>
        </p:blipFill>
        <p:spPr>
          <a:xfrm>
            <a:off x="415019" y="4993831"/>
            <a:ext cx="5277858" cy="1672439"/>
          </a:xfrm>
          <a:prstGeom prst="rect">
            <a:avLst/>
          </a:prstGeom>
        </p:spPr>
      </p:pic>
      <p:pic>
        <p:nvPicPr>
          <p:cNvPr id="7" name="Picture 6">
            <a:extLst>
              <a:ext uri="{FF2B5EF4-FFF2-40B4-BE49-F238E27FC236}">
                <a16:creationId xmlns:a16="http://schemas.microsoft.com/office/drawing/2014/main" id="{ECADC52F-BBE7-B842-F406-1F36FEC7E531}"/>
              </a:ext>
            </a:extLst>
          </p:cNvPr>
          <p:cNvPicPr>
            <a:picLocks noChangeAspect="1"/>
          </p:cNvPicPr>
          <p:nvPr/>
        </p:nvPicPr>
        <p:blipFill>
          <a:blip r:embed="rId3"/>
          <a:stretch>
            <a:fillRect/>
          </a:stretch>
        </p:blipFill>
        <p:spPr>
          <a:xfrm>
            <a:off x="6174658" y="4799109"/>
            <a:ext cx="5712542" cy="1867161"/>
          </a:xfrm>
          <a:prstGeom prst="rect">
            <a:avLst/>
          </a:prstGeom>
        </p:spPr>
      </p:pic>
    </p:spTree>
    <p:extLst>
      <p:ext uri="{BB962C8B-B14F-4D97-AF65-F5344CB8AC3E}">
        <p14:creationId xmlns:p14="http://schemas.microsoft.com/office/powerpoint/2010/main" val="136496098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F9757-0F2E-D4AB-9911-9F2065F7BD98}"/>
              </a:ext>
            </a:extLst>
          </p:cNvPr>
          <p:cNvSpPr>
            <a:spLocks noGrp="1"/>
          </p:cNvSpPr>
          <p:nvPr>
            <p:ph type="title"/>
          </p:nvPr>
        </p:nvSpPr>
        <p:spPr>
          <a:xfrm>
            <a:off x="838200" y="365125"/>
            <a:ext cx="10515600" cy="775417"/>
          </a:xfrm>
        </p:spPr>
        <p:txBody>
          <a:bodyPr/>
          <a:lstStyle/>
          <a:p>
            <a:r>
              <a:rPr lang="en-IN" b="1" dirty="0"/>
              <a:t>Vocabulary Organization:</a:t>
            </a:r>
            <a:endParaRPr lang="en-IN" dirty="0"/>
          </a:p>
        </p:txBody>
      </p:sp>
      <p:sp>
        <p:nvSpPr>
          <p:cNvPr id="3" name="Content Placeholder 2">
            <a:extLst>
              <a:ext uri="{FF2B5EF4-FFF2-40B4-BE49-F238E27FC236}">
                <a16:creationId xmlns:a16="http://schemas.microsoft.com/office/drawing/2014/main" id="{FF8817AE-374D-4E61-9B8F-DF276A27439C}"/>
              </a:ext>
            </a:extLst>
          </p:cNvPr>
          <p:cNvSpPr>
            <a:spLocks noGrp="1"/>
          </p:cNvSpPr>
          <p:nvPr>
            <p:ph idx="1"/>
          </p:nvPr>
        </p:nvSpPr>
        <p:spPr>
          <a:xfrm>
            <a:off x="838200" y="1012722"/>
            <a:ext cx="10515600" cy="5174073"/>
          </a:xfrm>
        </p:spPr>
        <p:txBody>
          <a:bodyPr/>
          <a:lstStyle/>
          <a:p>
            <a:pPr algn="just"/>
            <a:r>
              <a:rPr lang="en-US" dirty="0"/>
              <a:t>Once the statistical term similarities have been computed, the last step is to impose some structure on the vocabulary which usually means a hierarchical arrangement of term classes. </a:t>
            </a:r>
          </a:p>
          <a:p>
            <a:pPr algn="just"/>
            <a:r>
              <a:rPr lang="en-US" dirty="0"/>
              <a:t>For this, any appropriate clustering program can be used. </a:t>
            </a:r>
          </a:p>
          <a:p>
            <a:pPr algn="just"/>
            <a:r>
              <a:rPr lang="en-US"/>
              <a:t>A </a:t>
            </a:r>
            <a:r>
              <a:rPr lang="en-US" dirty="0"/>
              <a:t>standard clustering algorithm generally accepts all pairwise similarity values corresponding to a collection of objects and uses these similarity values to partition the objects into clusters or classes such that objects within a cluster are more similar than objects in different clusters</a:t>
            </a:r>
            <a:r>
              <a:rPr lang="en-US"/>
              <a:t>. </a:t>
            </a:r>
          </a:p>
          <a:p>
            <a:pPr algn="just"/>
            <a:r>
              <a:rPr lang="en-US"/>
              <a:t>Some </a:t>
            </a:r>
            <a:r>
              <a:rPr lang="en-US" dirty="0"/>
              <a:t>clustering algorithms can also generate hierarchies.</a:t>
            </a:r>
            <a:endParaRPr lang="en-IN" dirty="0"/>
          </a:p>
        </p:txBody>
      </p:sp>
    </p:spTree>
    <p:extLst>
      <p:ext uri="{BB962C8B-B14F-4D97-AF65-F5344CB8AC3E}">
        <p14:creationId xmlns:p14="http://schemas.microsoft.com/office/powerpoint/2010/main" val="29184901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19292</TotalTime>
  <Words>7492</Words>
  <Application>Microsoft Office PowerPoint</Application>
  <PresentationFormat>Widescreen</PresentationFormat>
  <Paragraphs>604</Paragraphs>
  <Slides>96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96</vt:i4>
      </vt:variant>
    </vt:vector>
  </HeadingPairs>
  <TitlesOfParts>
    <vt:vector size="101" baseType="lpstr">
      <vt:lpstr>Arial</vt:lpstr>
      <vt:lpstr>Calibri</vt:lpstr>
      <vt:lpstr>Calibri Light</vt:lpstr>
      <vt:lpstr>Wingdings</vt:lpstr>
      <vt:lpstr>Office Theme</vt:lpstr>
      <vt:lpstr>INFORMATION RETRIEVAL SYSTEM</vt:lpstr>
      <vt:lpstr>Unit IV: Stemming Algorithms and Thesaurus Construction: </vt:lpstr>
      <vt:lpstr>INTRODUCTION</vt:lpstr>
      <vt:lpstr>PowerPoint Presentation</vt:lpstr>
      <vt:lpstr>Functional View of Paradigm IR System:</vt:lpstr>
      <vt:lpstr>PowerPoint Presentation</vt:lpstr>
      <vt:lpstr>Example of Stemmer Use in Searching</vt:lpstr>
      <vt:lpstr>PowerPoint Presentation</vt:lpstr>
      <vt:lpstr>TYPES OF STEMMING ALGORITHMS-TABLE LOOKUP </vt:lpstr>
      <vt:lpstr>PowerPoint Presentation</vt:lpstr>
      <vt:lpstr>SUCCESSOR STEMMERS </vt:lpstr>
      <vt:lpstr>PowerPoint Presentation</vt:lpstr>
      <vt:lpstr>PowerPoint Presentation</vt:lpstr>
      <vt:lpstr>PowerPoint Presentation</vt:lpstr>
      <vt:lpstr>PowerPoint Presentation</vt:lpstr>
      <vt:lpstr>PowerPoint Presentation</vt:lpstr>
      <vt:lpstr>N-Gram Stemmers</vt:lpstr>
      <vt:lpstr>PowerPoint Presentation</vt:lpstr>
      <vt:lpstr>PowerPoint Presentation</vt:lpstr>
      <vt:lpstr>PowerPoint Presentation</vt:lpstr>
      <vt:lpstr>PowerPoint Presentation</vt:lpstr>
      <vt:lpstr>AFFIX REMOVAL STEMMERS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Another Example: “Controllably”</vt:lpstr>
      <vt:lpstr>EXPERIMENTAL EVALUATIONS OF STEMMING</vt:lpstr>
      <vt:lpstr>PowerPoint Presentation</vt:lpstr>
      <vt:lpstr>PowerPoint Presentation</vt:lpstr>
      <vt:lpstr>PowerPoint Presentation</vt:lpstr>
      <vt:lpstr>STEMMING TO COMPRESS INVERTED FILES</vt:lpstr>
      <vt:lpstr>PowerPoint Presentation</vt:lpstr>
      <vt:lpstr>Thesaurus Construction</vt:lpstr>
      <vt:lpstr>PowerPoint Presentation</vt:lpstr>
      <vt:lpstr>PowerPoint Presentation</vt:lpstr>
      <vt:lpstr>PowerPoint Presentation</vt:lpstr>
      <vt:lpstr>PowerPoint Presentation</vt:lpstr>
      <vt:lpstr>FEATURES OF THESAURI:</vt:lpstr>
      <vt:lpstr>Coordination Level:</vt:lpstr>
      <vt:lpstr>PowerPoint Presentation</vt:lpstr>
      <vt:lpstr>PowerPoint Presentation</vt:lpstr>
      <vt:lpstr>Term Relationships:</vt:lpstr>
      <vt:lpstr>PowerPoint Presentation</vt:lpstr>
      <vt:lpstr>PowerPoint Presentation</vt:lpstr>
      <vt:lpstr>PowerPoint Presentation</vt:lpstr>
      <vt:lpstr>PowerPoint Presentation</vt:lpstr>
      <vt:lpstr>PowerPoint Presentation</vt:lpstr>
      <vt:lpstr>PowerPoint Presentation</vt:lpstr>
      <vt:lpstr>Number of Entries for Each Term:</vt:lpstr>
      <vt:lpstr>Specificity of Vocabulary:</vt:lpstr>
      <vt:lpstr>Control on Term Frequency of Class Members:</vt:lpstr>
      <vt:lpstr>PowerPoint Presentation</vt:lpstr>
      <vt:lpstr>Normalization of Vocabulary:</vt:lpstr>
      <vt:lpstr>PowerPoint Presentation</vt:lpstr>
      <vt:lpstr>PowerPoint Presentation</vt:lpstr>
      <vt:lpstr>PowerPoint Presentation</vt:lpstr>
      <vt:lpstr>THESAURUS CONSTRUCTION</vt:lpstr>
      <vt:lpstr>PowerPoint Presentation</vt:lpstr>
      <vt:lpstr>PowerPoint Presentation</vt:lpstr>
      <vt:lpstr>Automatic Thesaurus Construction </vt:lpstr>
      <vt:lpstr>PowerPoint Presentation</vt:lpstr>
      <vt:lpstr>PowerPoint Presentation</vt:lpstr>
      <vt:lpstr>PowerPoint Presentation</vt:lpstr>
      <vt:lpstr>THESAURUS CONSTRUCTION FROM TEXTS: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Similarity Computation:</vt:lpstr>
      <vt:lpstr>Vocabulary Organization: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 sushuma</dc:creator>
  <cp:lastModifiedBy>Siddu Kutchula</cp:lastModifiedBy>
  <cp:revision>100</cp:revision>
  <dcterms:created xsi:type="dcterms:W3CDTF">2025-09-08T05:17:33Z</dcterms:created>
  <dcterms:modified xsi:type="dcterms:W3CDTF">2025-11-17T06:00:05Z</dcterms:modified>
</cp:coreProperties>
</file>