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9" r:id="rId4"/>
    <p:sldId id="258"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354" autoAdjust="0"/>
    <p:restoredTop sz="94660"/>
  </p:normalViewPr>
  <p:slideViewPr>
    <p:cSldViewPr snapToGrid="0">
      <p:cViewPr varScale="1">
        <p:scale>
          <a:sx n="78" d="100"/>
          <a:sy n="78" d="100"/>
        </p:scale>
        <p:origin x="49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A2AF8AB-A8DB-4A8E-9A29-C86B9F1B4E41}" type="datetimeFigureOut">
              <a:rPr lang="en-IN" smtClean="0"/>
              <a:t>26-03-2025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C3B87E-0626-46D2-8487-2A1E6D2742D2}" type="slidenum">
              <a:rPr lang="en-IN" smtClean="0"/>
              <a:t>‹#›</a:t>
            </a:fld>
            <a:endParaRPr lang="en-IN"/>
          </a:p>
        </p:txBody>
      </p:sp>
    </p:spTree>
    <p:extLst>
      <p:ext uri="{BB962C8B-B14F-4D97-AF65-F5344CB8AC3E}">
        <p14:creationId xmlns:p14="http://schemas.microsoft.com/office/powerpoint/2010/main" val="39534429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A2AF8AB-A8DB-4A8E-9A29-C86B9F1B4E41}" type="datetimeFigureOut">
              <a:rPr lang="en-IN" smtClean="0"/>
              <a:t>26-03-2025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C3B87E-0626-46D2-8487-2A1E6D2742D2}" type="slidenum">
              <a:rPr lang="en-IN" smtClean="0"/>
              <a:t>‹#›</a:t>
            </a:fld>
            <a:endParaRPr lang="en-IN"/>
          </a:p>
        </p:txBody>
      </p:sp>
    </p:spTree>
    <p:extLst>
      <p:ext uri="{BB962C8B-B14F-4D97-AF65-F5344CB8AC3E}">
        <p14:creationId xmlns:p14="http://schemas.microsoft.com/office/powerpoint/2010/main" val="9152150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2AF8AB-A8DB-4A8E-9A29-C86B9F1B4E41}" type="datetimeFigureOut">
              <a:rPr lang="en-IN" smtClean="0"/>
              <a:t>26-03-2025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C3B87E-0626-46D2-8487-2A1E6D2742D2}" type="slidenum">
              <a:rPr lang="en-IN" smtClean="0"/>
              <a:t>‹#›</a:t>
            </a:fld>
            <a:endParaRPr lang="en-IN"/>
          </a:p>
        </p:txBody>
      </p:sp>
    </p:spTree>
    <p:extLst>
      <p:ext uri="{BB962C8B-B14F-4D97-AF65-F5344CB8AC3E}">
        <p14:creationId xmlns:p14="http://schemas.microsoft.com/office/powerpoint/2010/main" val="16452085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2AF8AB-A8DB-4A8E-9A29-C86B9F1B4E41}" type="datetimeFigureOut">
              <a:rPr lang="en-IN" smtClean="0"/>
              <a:t>26-03-2025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CC3B87E-0626-46D2-8487-2A1E6D2742D2}" type="slidenum">
              <a:rPr lang="en-IN" smtClean="0"/>
              <a:t>‹#›</a:t>
            </a:fld>
            <a:endParaRPr lang="en-IN"/>
          </a:p>
        </p:txBody>
      </p:sp>
    </p:spTree>
    <p:extLst>
      <p:ext uri="{BB962C8B-B14F-4D97-AF65-F5344CB8AC3E}">
        <p14:creationId xmlns:p14="http://schemas.microsoft.com/office/powerpoint/2010/main" val="38085066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A2AF8AB-A8DB-4A8E-9A29-C86B9F1B4E41}" type="datetimeFigureOut">
              <a:rPr lang="en-IN" smtClean="0"/>
              <a:t>26-03-2025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CC3B87E-0626-46D2-8487-2A1E6D2742D2}" type="slidenum">
              <a:rPr lang="en-IN" smtClean="0"/>
              <a:t>‹#›</a:t>
            </a:fld>
            <a:endParaRPr lang="en-IN"/>
          </a:p>
        </p:txBody>
      </p:sp>
    </p:spTree>
    <p:extLst>
      <p:ext uri="{BB962C8B-B14F-4D97-AF65-F5344CB8AC3E}">
        <p14:creationId xmlns:p14="http://schemas.microsoft.com/office/powerpoint/2010/main" val="10335235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A2AF8AB-A8DB-4A8E-9A29-C86B9F1B4E41}" type="datetimeFigureOut">
              <a:rPr lang="en-IN" smtClean="0"/>
              <a:t>26-03-2025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CC3B87E-0626-46D2-8487-2A1E6D2742D2}" type="slidenum">
              <a:rPr lang="en-IN" smtClean="0"/>
              <a:t>‹#›</a:t>
            </a:fld>
            <a:endParaRPr lang="en-IN"/>
          </a:p>
        </p:txBody>
      </p:sp>
    </p:spTree>
    <p:extLst>
      <p:ext uri="{BB962C8B-B14F-4D97-AF65-F5344CB8AC3E}">
        <p14:creationId xmlns:p14="http://schemas.microsoft.com/office/powerpoint/2010/main" val="2352818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2AF8AB-A8DB-4A8E-9A29-C86B9F1B4E41}" type="datetimeFigureOut">
              <a:rPr lang="en-IN" smtClean="0"/>
              <a:t>26-03-2025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CC3B87E-0626-46D2-8487-2A1E6D2742D2}" type="slidenum">
              <a:rPr lang="en-IN" smtClean="0"/>
              <a:t>‹#›</a:t>
            </a:fld>
            <a:endParaRPr lang="en-IN"/>
          </a:p>
        </p:txBody>
      </p:sp>
    </p:spTree>
    <p:extLst>
      <p:ext uri="{BB962C8B-B14F-4D97-AF65-F5344CB8AC3E}">
        <p14:creationId xmlns:p14="http://schemas.microsoft.com/office/powerpoint/2010/main" val="15265747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A2AF8AB-A8DB-4A8E-9A29-C86B9F1B4E41}" type="datetimeFigureOut">
              <a:rPr lang="en-IN" smtClean="0"/>
              <a:t>26-03-2025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CC3B87E-0626-46D2-8487-2A1E6D2742D2}" type="slidenum">
              <a:rPr lang="en-IN" smtClean="0"/>
              <a:t>‹#›</a:t>
            </a:fld>
            <a:endParaRPr lang="en-IN"/>
          </a:p>
        </p:txBody>
      </p:sp>
    </p:spTree>
    <p:extLst>
      <p:ext uri="{BB962C8B-B14F-4D97-AF65-F5344CB8AC3E}">
        <p14:creationId xmlns:p14="http://schemas.microsoft.com/office/powerpoint/2010/main" val="3998061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A2AF8AB-A8DB-4A8E-9A29-C86B9F1B4E41}" type="datetimeFigureOut">
              <a:rPr lang="en-IN" smtClean="0"/>
              <a:t>26-03-2025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CC3B87E-0626-46D2-8487-2A1E6D2742D2}" type="slidenum">
              <a:rPr lang="en-IN" smtClean="0"/>
              <a:t>‹#›</a:t>
            </a:fld>
            <a:endParaRPr lang="en-IN"/>
          </a:p>
        </p:txBody>
      </p:sp>
    </p:spTree>
    <p:extLst>
      <p:ext uri="{BB962C8B-B14F-4D97-AF65-F5344CB8AC3E}">
        <p14:creationId xmlns:p14="http://schemas.microsoft.com/office/powerpoint/2010/main" val="32176369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2AF8AB-A8DB-4A8E-9A29-C86B9F1B4E41}" type="datetimeFigureOut">
              <a:rPr lang="en-IN" smtClean="0"/>
              <a:t>26-03-2025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C3B87E-0626-46D2-8487-2A1E6D2742D2}" type="slidenum">
              <a:rPr lang="en-IN" smtClean="0"/>
              <a:t>‹#›</a:t>
            </a:fld>
            <a:endParaRPr lang="en-IN"/>
          </a:p>
        </p:txBody>
      </p:sp>
    </p:spTree>
    <p:extLst>
      <p:ext uri="{BB962C8B-B14F-4D97-AF65-F5344CB8AC3E}">
        <p14:creationId xmlns:p14="http://schemas.microsoft.com/office/powerpoint/2010/main" val="27827276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2AF8AB-A8DB-4A8E-9A29-C86B9F1B4E41}" type="datetimeFigureOut">
              <a:rPr lang="en-IN" smtClean="0"/>
              <a:t>26-03-2025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C3B87E-0626-46D2-8487-2A1E6D2742D2}"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1088397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2AF8AB-A8DB-4A8E-9A29-C86B9F1B4E41}" type="datetimeFigureOut">
              <a:rPr lang="en-IN" smtClean="0"/>
              <a:t>26-03-2025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C3B87E-0626-46D2-8487-2A1E6D2742D2}" type="slidenum">
              <a:rPr lang="en-IN" smtClean="0"/>
              <a:t>‹#›</a:t>
            </a:fld>
            <a:endParaRPr lang="en-IN"/>
          </a:p>
        </p:txBody>
      </p:sp>
    </p:spTree>
    <p:extLst>
      <p:ext uri="{BB962C8B-B14F-4D97-AF65-F5344CB8AC3E}">
        <p14:creationId xmlns:p14="http://schemas.microsoft.com/office/powerpoint/2010/main" val="14803800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2AF8AB-A8DB-4A8E-9A29-C86B9F1B4E41}" type="datetimeFigureOut">
              <a:rPr lang="en-IN" smtClean="0"/>
              <a:t>26-03-2025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C3B87E-0626-46D2-8487-2A1E6D2742D2}"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1605962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2AF8AB-A8DB-4A8E-9A29-C86B9F1B4E41}" type="datetimeFigureOut">
              <a:rPr lang="en-IN" smtClean="0"/>
              <a:t>26-03-2025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C3B87E-0626-46D2-8487-2A1E6D2742D2}" type="slidenum">
              <a:rPr lang="en-IN" smtClean="0"/>
              <a:t>‹#›</a:t>
            </a:fld>
            <a:endParaRPr lang="en-IN"/>
          </a:p>
        </p:txBody>
      </p:sp>
    </p:spTree>
    <p:extLst>
      <p:ext uri="{BB962C8B-B14F-4D97-AF65-F5344CB8AC3E}">
        <p14:creationId xmlns:p14="http://schemas.microsoft.com/office/powerpoint/2010/main" val="42159216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A2AF8AB-A8DB-4A8E-9A29-C86B9F1B4E41}" type="datetimeFigureOut">
              <a:rPr lang="en-IN" smtClean="0"/>
              <a:t>26-03-2025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C3B87E-0626-46D2-8487-2A1E6D2742D2}" type="slidenum">
              <a:rPr lang="en-IN" smtClean="0"/>
              <a:t>‹#›</a:t>
            </a:fld>
            <a:endParaRPr lang="en-IN"/>
          </a:p>
        </p:txBody>
      </p:sp>
    </p:spTree>
    <p:extLst>
      <p:ext uri="{BB962C8B-B14F-4D97-AF65-F5344CB8AC3E}">
        <p14:creationId xmlns:p14="http://schemas.microsoft.com/office/powerpoint/2010/main" val="7411354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A2AF8AB-A8DB-4A8E-9A29-C86B9F1B4E41}" type="datetimeFigureOut">
              <a:rPr lang="en-IN" smtClean="0"/>
              <a:t>26-03-2025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C3B87E-0626-46D2-8487-2A1E6D2742D2}" type="slidenum">
              <a:rPr lang="en-IN" smtClean="0"/>
              <a:t>‹#›</a:t>
            </a:fld>
            <a:endParaRPr lang="en-IN"/>
          </a:p>
        </p:txBody>
      </p:sp>
    </p:spTree>
    <p:extLst>
      <p:ext uri="{BB962C8B-B14F-4D97-AF65-F5344CB8AC3E}">
        <p14:creationId xmlns:p14="http://schemas.microsoft.com/office/powerpoint/2010/main" val="27371919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A2AF8AB-A8DB-4A8E-9A29-C86B9F1B4E41}" type="datetimeFigureOut">
              <a:rPr lang="en-IN" smtClean="0"/>
              <a:t>26-03-2025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ECC3B87E-0626-46D2-8487-2A1E6D2742D2}" type="slidenum">
              <a:rPr lang="en-IN" smtClean="0"/>
              <a:t>‹#›</a:t>
            </a:fld>
            <a:endParaRPr lang="en-IN"/>
          </a:p>
        </p:txBody>
      </p:sp>
    </p:spTree>
    <p:extLst>
      <p:ext uri="{BB962C8B-B14F-4D97-AF65-F5344CB8AC3E}">
        <p14:creationId xmlns:p14="http://schemas.microsoft.com/office/powerpoint/2010/main" val="6014474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EEA76-4120-71E7-C6C7-E6511232348D}"/>
              </a:ext>
            </a:extLst>
          </p:cNvPr>
          <p:cNvSpPr>
            <a:spLocks noGrp="1"/>
          </p:cNvSpPr>
          <p:nvPr>
            <p:ph type="ctrTitle"/>
          </p:nvPr>
        </p:nvSpPr>
        <p:spPr>
          <a:xfrm>
            <a:off x="1507067" y="2011244"/>
            <a:ext cx="7766936" cy="1646302"/>
          </a:xfrm>
        </p:spPr>
        <p:txBody>
          <a:bodyPr/>
          <a:lstStyle/>
          <a:p>
            <a:pPr algn="ctr"/>
            <a:r>
              <a:rPr lang="en-US" sz="4400" b="1" dirty="0"/>
              <a:t>PROTECTION</a:t>
            </a:r>
            <a:endParaRPr lang="en-IN" sz="4400" b="1" dirty="0"/>
          </a:p>
        </p:txBody>
      </p:sp>
    </p:spTree>
    <p:extLst>
      <p:ext uri="{BB962C8B-B14F-4D97-AF65-F5344CB8AC3E}">
        <p14:creationId xmlns:p14="http://schemas.microsoft.com/office/powerpoint/2010/main" val="28875194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0007AF-3EEF-F799-0DA0-F7645F4CA334}"/>
              </a:ext>
            </a:extLst>
          </p:cNvPr>
          <p:cNvSpPr>
            <a:spLocks noGrp="1"/>
          </p:cNvSpPr>
          <p:nvPr>
            <p:ph idx="1"/>
          </p:nvPr>
        </p:nvSpPr>
        <p:spPr/>
        <p:txBody>
          <a:bodyPr>
            <a:normAutofit/>
          </a:bodyPr>
          <a:lstStyle/>
          <a:p>
            <a:r>
              <a:rPr lang="en-US" sz="2800" b="0" i="0" u="none" strike="noStrike" baseline="0" dirty="0">
                <a:solidFill>
                  <a:srgbClr val="000000"/>
                </a:solidFill>
                <a:latin typeface="Times New Roman" panose="02020603050405020304" pitchFamily="18" charset="0"/>
              </a:rPr>
              <a:t>Goals of protection, </a:t>
            </a:r>
          </a:p>
          <a:p>
            <a:r>
              <a:rPr lang="en-US" sz="2800" b="0" i="0" u="none" strike="noStrike" baseline="0" dirty="0">
                <a:solidFill>
                  <a:srgbClr val="000000"/>
                </a:solidFill>
                <a:latin typeface="Times New Roman" panose="02020603050405020304" pitchFamily="18" charset="0"/>
              </a:rPr>
              <a:t>Principles of protection, </a:t>
            </a:r>
          </a:p>
          <a:p>
            <a:r>
              <a:rPr lang="en-US" sz="2800" b="0" i="0" u="none" strike="noStrike" baseline="0" dirty="0">
                <a:solidFill>
                  <a:srgbClr val="000000"/>
                </a:solidFill>
                <a:latin typeface="Times New Roman" panose="02020603050405020304" pitchFamily="18" charset="0"/>
              </a:rPr>
              <a:t>Protection Rings, </a:t>
            </a:r>
          </a:p>
          <a:p>
            <a:r>
              <a:rPr lang="en-US" sz="2800" b="0" i="0" u="none" strike="noStrike" baseline="0" dirty="0">
                <a:solidFill>
                  <a:srgbClr val="000000"/>
                </a:solidFill>
                <a:latin typeface="Times New Roman" panose="02020603050405020304" pitchFamily="18" charset="0"/>
              </a:rPr>
              <a:t>Domain of protection, </a:t>
            </a:r>
          </a:p>
          <a:p>
            <a:r>
              <a:rPr lang="en-US" sz="2800" b="0" i="0" u="none" strike="noStrike" baseline="0" dirty="0">
                <a:solidFill>
                  <a:srgbClr val="000000"/>
                </a:solidFill>
                <a:latin typeface="Times New Roman" panose="02020603050405020304" pitchFamily="18" charset="0"/>
              </a:rPr>
              <a:t>Access matrix. </a:t>
            </a:r>
            <a:endParaRPr lang="en-IN" sz="2800" dirty="0"/>
          </a:p>
        </p:txBody>
      </p:sp>
    </p:spTree>
    <p:extLst>
      <p:ext uri="{BB962C8B-B14F-4D97-AF65-F5344CB8AC3E}">
        <p14:creationId xmlns:p14="http://schemas.microsoft.com/office/powerpoint/2010/main" val="40345483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C0DC7-D387-3CDB-E0BF-57C65D585706}"/>
              </a:ext>
            </a:extLst>
          </p:cNvPr>
          <p:cNvSpPr>
            <a:spLocks noGrp="1"/>
          </p:cNvSpPr>
          <p:nvPr>
            <p:ph type="title"/>
          </p:nvPr>
        </p:nvSpPr>
        <p:spPr>
          <a:xfrm>
            <a:off x="677334" y="609600"/>
            <a:ext cx="8596668" cy="786581"/>
          </a:xfrm>
        </p:spPr>
        <p:txBody>
          <a:bodyPr/>
          <a:lstStyle/>
          <a:p>
            <a:r>
              <a:rPr lang="en-US" b="1" dirty="0"/>
              <a:t>Introduction</a:t>
            </a:r>
            <a:endParaRPr lang="en-IN" b="1" dirty="0"/>
          </a:p>
        </p:txBody>
      </p:sp>
      <p:sp>
        <p:nvSpPr>
          <p:cNvPr id="3" name="Content Placeholder 2">
            <a:extLst>
              <a:ext uri="{FF2B5EF4-FFF2-40B4-BE49-F238E27FC236}">
                <a16:creationId xmlns:a16="http://schemas.microsoft.com/office/drawing/2014/main" id="{7CD3645A-7AD7-7D61-98B5-D8BF0605F28D}"/>
              </a:ext>
            </a:extLst>
          </p:cNvPr>
          <p:cNvSpPr>
            <a:spLocks noGrp="1"/>
          </p:cNvSpPr>
          <p:nvPr>
            <p:ph idx="1"/>
          </p:nvPr>
        </p:nvSpPr>
        <p:spPr>
          <a:xfrm>
            <a:off x="677334" y="1877961"/>
            <a:ext cx="8596668" cy="4163401"/>
          </a:xfrm>
        </p:spPr>
        <p:txBody>
          <a:bodyPr/>
          <a:lstStyle/>
          <a:p>
            <a:pPr algn="just"/>
            <a:r>
              <a:rPr lang="en-US" dirty="0"/>
              <a:t>Protection involves controlling the access of processes and users to the resources defined by a computer system. </a:t>
            </a:r>
          </a:p>
          <a:p>
            <a:pPr algn="just"/>
            <a:r>
              <a:rPr lang="en-US" dirty="0"/>
              <a:t>The processes in an operating system must be protected from one another’s activities. </a:t>
            </a:r>
          </a:p>
          <a:p>
            <a:pPr algn="just"/>
            <a:r>
              <a:rPr lang="en-US" dirty="0"/>
              <a:t>To provide this protection, we can use various mechanisms to ensure that only processes that have gained proper authorization from the operating system can operate on the files, memory segments, CPU, networking, and other resources of a system. </a:t>
            </a:r>
          </a:p>
        </p:txBody>
      </p:sp>
    </p:spTree>
    <p:extLst>
      <p:ext uri="{BB962C8B-B14F-4D97-AF65-F5344CB8AC3E}">
        <p14:creationId xmlns:p14="http://schemas.microsoft.com/office/powerpoint/2010/main" val="2107235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872B0-87CF-452A-8C80-EB7955A2CDA4}"/>
              </a:ext>
            </a:extLst>
          </p:cNvPr>
          <p:cNvSpPr>
            <a:spLocks noGrp="1"/>
          </p:cNvSpPr>
          <p:nvPr>
            <p:ph type="title"/>
          </p:nvPr>
        </p:nvSpPr>
        <p:spPr>
          <a:xfrm>
            <a:off x="677334" y="609600"/>
            <a:ext cx="8596668" cy="934065"/>
          </a:xfrm>
        </p:spPr>
        <p:txBody>
          <a:bodyPr>
            <a:normAutofit/>
          </a:bodyPr>
          <a:lstStyle/>
          <a:p>
            <a:r>
              <a:rPr lang="en-US" sz="3200" b="1" dirty="0"/>
              <a:t>1.</a:t>
            </a:r>
            <a:r>
              <a:rPr lang="en-US" sz="1600" b="1" i="0" u="none" strike="noStrike" baseline="0" dirty="0">
                <a:solidFill>
                  <a:srgbClr val="000000"/>
                </a:solidFill>
                <a:latin typeface="Times New Roman" panose="02020603050405020304" pitchFamily="18" charset="0"/>
              </a:rPr>
              <a:t> </a:t>
            </a:r>
            <a:r>
              <a:rPr lang="en-US" sz="3200" b="1" dirty="0"/>
              <a:t>Goals of protection</a:t>
            </a:r>
            <a:endParaRPr lang="en-IN" sz="3200" b="1" dirty="0"/>
          </a:p>
        </p:txBody>
      </p:sp>
      <p:sp>
        <p:nvSpPr>
          <p:cNvPr id="3" name="Content Placeholder 2">
            <a:extLst>
              <a:ext uri="{FF2B5EF4-FFF2-40B4-BE49-F238E27FC236}">
                <a16:creationId xmlns:a16="http://schemas.microsoft.com/office/drawing/2014/main" id="{AFB520A2-2EF2-623E-74AB-A0EF3B5A4D75}"/>
              </a:ext>
            </a:extLst>
          </p:cNvPr>
          <p:cNvSpPr>
            <a:spLocks noGrp="1"/>
          </p:cNvSpPr>
          <p:nvPr>
            <p:ph idx="1"/>
          </p:nvPr>
        </p:nvSpPr>
        <p:spPr>
          <a:xfrm>
            <a:off x="677334" y="1455175"/>
            <a:ext cx="8596668" cy="4586188"/>
          </a:xfrm>
        </p:spPr>
        <p:txBody>
          <a:bodyPr>
            <a:normAutofit fontScale="92500" lnSpcReduction="20000"/>
          </a:bodyPr>
          <a:lstStyle/>
          <a:p>
            <a:pPr algn="just">
              <a:lnSpc>
                <a:spcPct val="120000"/>
              </a:lnSpc>
            </a:pPr>
            <a:r>
              <a:rPr lang="en-US" b="1" dirty="0"/>
              <a:t>Prevent Unauthorized Access </a:t>
            </a:r>
            <a:r>
              <a:rPr lang="en-US" dirty="0"/>
              <a:t>– Ensure that users and processes can only access resources they are permitted to, avoiding security breaches.</a:t>
            </a:r>
          </a:p>
          <a:p>
            <a:pPr algn="just">
              <a:lnSpc>
                <a:spcPct val="120000"/>
              </a:lnSpc>
            </a:pPr>
            <a:r>
              <a:rPr lang="en-US" b="1" dirty="0"/>
              <a:t>Ensure Data Integrity </a:t>
            </a:r>
            <a:r>
              <a:rPr lang="en-US" dirty="0"/>
              <a:t>– Protect system resources from accidental or malicious modification, maintaining accuracy and consistency.</a:t>
            </a:r>
          </a:p>
          <a:p>
            <a:pPr algn="just">
              <a:lnSpc>
                <a:spcPct val="120000"/>
              </a:lnSpc>
            </a:pPr>
            <a:r>
              <a:rPr lang="en-US" b="1" dirty="0"/>
              <a:t>Enforce User Authentication </a:t>
            </a:r>
            <a:r>
              <a:rPr lang="en-US" dirty="0"/>
              <a:t>– Verify user identities before granting access to sensitive data or system functions.</a:t>
            </a:r>
          </a:p>
          <a:p>
            <a:pPr algn="just">
              <a:lnSpc>
                <a:spcPct val="120000"/>
              </a:lnSpc>
            </a:pPr>
            <a:r>
              <a:rPr lang="en-US" b="1" dirty="0"/>
              <a:t>Limit Resource Usage </a:t>
            </a:r>
            <a:r>
              <a:rPr lang="en-US" dirty="0"/>
              <a:t>– Restrict the usage of CPU, memory, files, and I/O devices to prevent monopolization by a single process or user.</a:t>
            </a:r>
          </a:p>
          <a:p>
            <a:pPr algn="just">
              <a:lnSpc>
                <a:spcPct val="120000"/>
              </a:lnSpc>
            </a:pPr>
            <a:r>
              <a:rPr lang="en-US" b="1" dirty="0"/>
              <a:t>Facilitate Controlled Sharing </a:t>
            </a:r>
            <a:r>
              <a:rPr lang="en-US" dirty="0"/>
              <a:t>– Allow authorized users and processes to share system resources while preventing unauthorized interference.</a:t>
            </a:r>
          </a:p>
          <a:p>
            <a:pPr algn="just">
              <a:lnSpc>
                <a:spcPct val="120000"/>
              </a:lnSpc>
            </a:pPr>
            <a:r>
              <a:rPr lang="en-US" b="1" dirty="0"/>
              <a:t>Maintain System Stability </a:t>
            </a:r>
            <a:r>
              <a:rPr lang="en-US" dirty="0"/>
              <a:t>– Prevent one process from negatively affecting others, ensuring smooth system operations.</a:t>
            </a:r>
          </a:p>
          <a:p>
            <a:pPr algn="just">
              <a:lnSpc>
                <a:spcPct val="120000"/>
              </a:lnSpc>
            </a:pPr>
            <a:r>
              <a:rPr lang="en-US" b="1" dirty="0"/>
              <a:t>Support Audit and Accountability</a:t>
            </a:r>
            <a:r>
              <a:rPr lang="en-US" dirty="0"/>
              <a:t> – Track access and modifications to resources to identify security violations and ensure compliance.</a:t>
            </a:r>
            <a:endParaRPr lang="en-IN" dirty="0"/>
          </a:p>
        </p:txBody>
      </p:sp>
    </p:spTree>
    <p:extLst>
      <p:ext uri="{BB962C8B-B14F-4D97-AF65-F5344CB8AC3E}">
        <p14:creationId xmlns:p14="http://schemas.microsoft.com/office/powerpoint/2010/main" val="39579724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A7065-D650-59B4-97CA-287FBA427B4E}"/>
              </a:ext>
            </a:extLst>
          </p:cNvPr>
          <p:cNvSpPr>
            <a:spLocks noGrp="1"/>
          </p:cNvSpPr>
          <p:nvPr>
            <p:ph type="title"/>
          </p:nvPr>
        </p:nvSpPr>
        <p:spPr>
          <a:xfrm>
            <a:off x="677334" y="609600"/>
            <a:ext cx="8596668" cy="816077"/>
          </a:xfrm>
        </p:spPr>
        <p:txBody>
          <a:bodyPr>
            <a:normAutofit/>
          </a:bodyPr>
          <a:lstStyle/>
          <a:p>
            <a:r>
              <a:rPr lang="en-US" sz="3200" b="1" dirty="0"/>
              <a:t>2.Principles of Protection</a:t>
            </a:r>
            <a:endParaRPr lang="en-IN" sz="3200" b="1" dirty="0"/>
          </a:p>
        </p:txBody>
      </p:sp>
      <p:sp>
        <p:nvSpPr>
          <p:cNvPr id="3" name="Content Placeholder 2">
            <a:extLst>
              <a:ext uri="{FF2B5EF4-FFF2-40B4-BE49-F238E27FC236}">
                <a16:creationId xmlns:a16="http://schemas.microsoft.com/office/drawing/2014/main" id="{082B3A77-7EDB-9E38-3768-F9A0E5A824AC}"/>
              </a:ext>
            </a:extLst>
          </p:cNvPr>
          <p:cNvSpPr>
            <a:spLocks noGrp="1"/>
          </p:cNvSpPr>
          <p:nvPr>
            <p:ph idx="1"/>
          </p:nvPr>
        </p:nvSpPr>
        <p:spPr>
          <a:xfrm>
            <a:off x="677334" y="1700981"/>
            <a:ext cx="8596668" cy="4340381"/>
          </a:xfrm>
        </p:spPr>
        <p:txBody>
          <a:bodyPr>
            <a:normAutofit lnSpcReduction="10000"/>
          </a:bodyPr>
          <a:lstStyle/>
          <a:p>
            <a:pPr algn="just"/>
            <a:r>
              <a:rPr lang="en-US" b="1" dirty="0"/>
              <a:t>Principle of Least Privilege </a:t>
            </a:r>
            <a:r>
              <a:rPr lang="en-US" dirty="0"/>
              <a:t>– Each process or user should have the minimum privileges necessary to perform its task, reducing potential security risks.</a:t>
            </a:r>
          </a:p>
          <a:p>
            <a:pPr algn="just"/>
            <a:r>
              <a:rPr lang="en-US" b="1" dirty="0"/>
              <a:t>Access Control </a:t>
            </a:r>
            <a:r>
              <a:rPr lang="en-US" dirty="0"/>
              <a:t>– The system must define and enforce policies on who can access what resources and in what manner (read, write, execute).</a:t>
            </a:r>
          </a:p>
          <a:p>
            <a:pPr algn="just"/>
            <a:r>
              <a:rPr lang="en-US" b="1" dirty="0"/>
              <a:t>Domain of Protection </a:t>
            </a:r>
            <a:r>
              <a:rPr lang="en-US" dirty="0"/>
              <a:t>– Users and processes operate within a defined "domain" that specifies their access rights. Domains can be user-based or process-based.</a:t>
            </a:r>
          </a:p>
          <a:p>
            <a:pPr algn="just"/>
            <a:r>
              <a:rPr lang="en-US" b="1" dirty="0"/>
              <a:t>Access Matrix </a:t>
            </a:r>
            <a:r>
              <a:rPr lang="en-US" dirty="0"/>
              <a:t>– A conceptual model that defines which subjects (users/processes) have what type of access to which objects (resources).</a:t>
            </a:r>
          </a:p>
          <a:p>
            <a:pPr algn="just"/>
            <a:r>
              <a:rPr lang="en-US" b="1" dirty="0"/>
              <a:t>Capability Lists and Access Control Lists (ACLs)</a:t>
            </a:r>
            <a:r>
              <a:rPr lang="en-US" dirty="0"/>
              <a:t> – Two common mechanisms for implementing access control:</a:t>
            </a:r>
          </a:p>
          <a:p>
            <a:pPr lvl="1" algn="just"/>
            <a:r>
              <a:rPr lang="en-US" b="1" dirty="0"/>
              <a:t>Capability Lists </a:t>
            </a:r>
            <a:r>
              <a:rPr lang="en-US" dirty="0"/>
              <a:t>associate each process with the resources it can access.</a:t>
            </a:r>
          </a:p>
          <a:p>
            <a:pPr lvl="1" algn="just"/>
            <a:r>
              <a:rPr lang="en-US" b="1" dirty="0"/>
              <a:t>Access Control Lists (ACLs) </a:t>
            </a:r>
            <a:r>
              <a:rPr lang="en-US" dirty="0"/>
              <a:t>define the access rights for each resource.</a:t>
            </a:r>
            <a:endParaRPr lang="en-IN" dirty="0"/>
          </a:p>
        </p:txBody>
      </p:sp>
    </p:spTree>
    <p:extLst>
      <p:ext uri="{BB962C8B-B14F-4D97-AF65-F5344CB8AC3E}">
        <p14:creationId xmlns:p14="http://schemas.microsoft.com/office/powerpoint/2010/main" val="716993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F72CAE-1384-0C55-EA71-3A9532FC9378}"/>
              </a:ext>
            </a:extLst>
          </p:cNvPr>
          <p:cNvSpPr>
            <a:spLocks noGrp="1"/>
          </p:cNvSpPr>
          <p:nvPr>
            <p:ph idx="1"/>
          </p:nvPr>
        </p:nvSpPr>
        <p:spPr>
          <a:xfrm>
            <a:off x="677334" y="1396181"/>
            <a:ext cx="8596668" cy="4645182"/>
          </a:xfrm>
        </p:spPr>
        <p:txBody>
          <a:bodyPr/>
          <a:lstStyle/>
          <a:p>
            <a:pPr algn="just"/>
            <a:r>
              <a:rPr lang="en-US" b="1" dirty="0"/>
              <a:t>Revocation of Access Rights </a:t>
            </a:r>
            <a:r>
              <a:rPr lang="en-US" dirty="0"/>
              <a:t>– The system should support revoking privileges dynamically when needed.</a:t>
            </a:r>
          </a:p>
          <a:p>
            <a:pPr algn="just"/>
            <a:r>
              <a:rPr lang="en-US" b="1" dirty="0"/>
              <a:t>Role-Based Access Control (RBAC) </a:t>
            </a:r>
            <a:r>
              <a:rPr lang="en-US" dirty="0"/>
              <a:t>– Assigns permissions based on roles rather than individual users, simplifying management.</a:t>
            </a:r>
          </a:p>
          <a:p>
            <a:pPr algn="just"/>
            <a:r>
              <a:rPr lang="en-US" b="1" dirty="0"/>
              <a:t>Security Policies </a:t>
            </a:r>
            <a:r>
              <a:rPr lang="en-US" dirty="0"/>
              <a:t>– The OS must enforce policies such as Mandatory Access Control (MAC) and Discretionary Access Control (DAC) to regulate access.</a:t>
            </a:r>
          </a:p>
          <a:p>
            <a:pPr algn="just"/>
            <a:r>
              <a:rPr lang="en-US" b="1" dirty="0"/>
              <a:t>Implementation of Protection Mechanisms </a:t>
            </a:r>
            <a:r>
              <a:rPr lang="en-US" dirty="0"/>
              <a:t>– Use secure methods like encryption, authentication, and auditing to ensure compliance.</a:t>
            </a:r>
          </a:p>
          <a:p>
            <a:pPr algn="just"/>
            <a:r>
              <a:rPr lang="en-US" b="1" dirty="0"/>
              <a:t>Separation of Privilege </a:t>
            </a:r>
            <a:r>
              <a:rPr lang="en-US" dirty="0"/>
              <a:t>– Access to critical operations should require multiple conditions to be met, reducing the risk of single points of failure.</a:t>
            </a:r>
            <a:endParaRPr lang="en-IN" dirty="0"/>
          </a:p>
        </p:txBody>
      </p:sp>
    </p:spTree>
    <p:extLst>
      <p:ext uri="{BB962C8B-B14F-4D97-AF65-F5344CB8AC3E}">
        <p14:creationId xmlns:p14="http://schemas.microsoft.com/office/powerpoint/2010/main" val="31880493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CBA10-C38A-5067-5378-328D60700405}"/>
              </a:ext>
            </a:extLst>
          </p:cNvPr>
          <p:cNvSpPr>
            <a:spLocks noGrp="1"/>
          </p:cNvSpPr>
          <p:nvPr>
            <p:ph type="title"/>
          </p:nvPr>
        </p:nvSpPr>
        <p:spPr/>
        <p:txBody>
          <a:bodyPr>
            <a:normAutofit/>
          </a:bodyPr>
          <a:lstStyle/>
          <a:p>
            <a:r>
              <a:rPr lang="en-US" sz="3200" b="1" dirty="0"/>
              <a:t>3.Protection Rings</a:t>
            </a:r>
            <a:endParaRPr lang="en-IN" sz="3200" b="1" dirty="0"/>
          </a:p>
        </p:txBody>
      </p:sp>
      <p:sp>
        <p:nvSpPr>
          <p:cNvPr id="3" name="Content Placeholder 2">
            <a:extLst>
              <a:ext uri="{FF2B5EF4-FFF2-40B4-BE49-F238E27FC236}">
                <a16:creationId xmlns:a16="http://schemas.microsoft.com/office/drawing/2014/main" id="{87EE618C-9B16-7408-CCF4-DCD6F60A253E}"/>
              </a:ext>
            </a:extLst>
          </p:cNvPr>
          <p:cNvSpPr>
            <a:spLocks noGrp="1"/>
          </p:cNvSpPr>
          <p:nvPr>
            <p:ph idx="1"/>
          </p:nvPr>
        </p:nvSpPr>
        <p:spPr>
          <a:xfrm>
            <a:off x="677334" y="1570651"/>
            <a:ext cx="8596668" cy="3880773"/>
          </a:xfrm>
        </p:spPr>
        <p:txBody>
          <a:bodyPr/>
          <a:lstStyle/>
          <a:p>
            <a:r>
              <a:rPr lang="en-US" dirty="0"/>
              <a:t>Refers to a hierarchical security model used in computer systems to regulate access to resources. The model is structured in multiple levels, typically four, with </a:t>
            </a:r>
            <a:r>
              <a:rPr lang="en-US" b="1" dirty="0"/>
              <a:t>Ring 0</a:t>
            </a:r>
            <a:r>
              <a:rPr lang="en-US" dirty="0"/>
              <a:t> being the most privileged and </a:t>
            </a:r>
            <a:r>
              <a:rPr lang="en-US" b="1" dirty="0"/>
              <a:t>Ring 3</a:t>
            </a:r>
            <a:r>
              <a:rPr lang="en-US" dirty="0"/>
              <a:t> the least privileged.</a:t>
            </a:r>
          </a:p>
          <a:p>
            <a:endParaRPr lang="en-IN" dirty="0"/>
          </a:p>
        </p:txBody>
      </p:sp>
      <p:pic>
        <p:nvPicPr>
          <p:cNvPr id="5" name="Picture 4">
            <a:extLst>
              <a:ext uri="{FF2B5EF4-FFF2-40B4-BE49-F238E27FC236}">
                <a16:creationId xmlns:a16="http://schemas.microsoft.com/office/drawing/2014/main" id="{11AF410F-4A11-A1FC-C950-B05625CDA445}"/>
              </a:ext>
            </a:extLst>
          </p:cNvPr>
          <p:cNvPicPr>
            <a:picLocks noChangeAspect="1"/>
          </p:cNvPicPr>
          <p:nvPr/>
        </p:nvPicPr>
        <p:blipFill>
          <a:blip r:embed="rId2"/>
          <a:stretch>
            <a:fillRect/>
          </a:stretch>
        </p:blipFill>
        <p:spPr>
          <a:xfrm>
            <a:off x="2529957" y="2898191"/>
            <a:ext cx="4477375" cy="3448531"/>
          </a:xfrm>
          <a:prstGeom prst="rect">
            <a:avLst/>
          </a:prstGeom>
        </p:spPr>
      </p:pic>
    </p:spTree>
    <p:extLst>
      <p:ext uri="{BB962C8B-B14F-4D97-AF65-F5344CB8AC3E}">
        <p14:creationId xmlns:p14="http://schemas.microsoft.com/office/powerpoint/2010/main" val="42108725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6EDD0A-C877-EDBF-3436-88317CFF7FF9}"/>
              </a:ext>
            </a:extLst>
          </p:cNvPr>
          <p:cNvSpPr>
            <a:spLocks noGrp="1"/>
          </p:cNvSpPr>
          <p:nvPr>
            <p:ph idx="1"/>
          </p:nvPr>
        </p:nvSpPr>
        <p:spPr>
          <a:xfrm>
            <a:off x="677334" y="924233"/>
            <a:ext cx="8596668" cy="5117130"/>
          </a:xfrm>
        </p:spPr>
        <p:txBody>
          <a:bodyPr>
            <a:normAutofit lnSpcReduction="10000"/>
          </a:bodyPr>
          <a:lstStyle/>
          <a:p>
            <a:pPr algn="just"/>
            <a:r>
              <a:rPr lang="en-US" b="1" dirty="0"/>
              <a:t>Ring 0 (Kernel Mode):</a:t>
            </a:r>
          </a:p>
          <a:p>
            <a:pPr lvl="1" algn="just"/>
            <a:r>
              <a:rPr lang="en-US" dirty="0"/>
              <a:t>Highest privilege level.</a:t>
            </a:r>
          </a:p>
          <a:p>
            <a:pPr lvl="1" algn="just"/>
            <a:r>
              <a:rPr lang="en-US" dirty="0"/>
              <a:t>Executes critical operating system code (e.g., process scheduling, memory management).</a:t>
            </a:r>
          </a:p>
          <a:p>
            <a:pPr lvl="1" algn="just"/>
            <a:r>
              <a:rPr lang="en-US" dirty="0"/>
              <a:t>Has direct access to hardware and all system resources.</a:t>
            </a:r>
          </a:p>
          <a:p>
            <a:pPr algn="just"/>
            <a:r>
              <a:rPr lang="en-US" b="1" dirty="0"/>
              <a:t>Ring 1 (OS Services):</a:t>
            </a:r>
          </a:p>
          <a:p>
            <a:pPr lvl="1" algn="just"/>
            <a:r>
              <a:rPr lang="en-US" dirty="0"/>
              <a:t>Used for system services and device drivers that require elevated privileges but do not need full kernel access.</a:t>
            </a:r>
          </a:p>
          <a:p>
            <a:pPr algn="just"/>
            <a:r>
              <a:rPr lang="en-US" b="1" dirty="0"/>
              <a:t>Ring 2 (Middleware and Drivers):</a:t>
            </a:r>
          </a:p>
          <a:p>
            <a:pPr lvl="1" algn="just"/>
            <a:r>
              <a:rPr lang="en-US" dirty="0"/>
              <a:t>Intended for less critical drivers and privileged applications that need some hardware access.</a:t>
            </a:r>
          </a:p>
          <a:p>
            <a:pPr algn="just"/>
            <a:r>
              <a:rPr lang="en-US" b="1" dirty="0"/>
              <a:t>Ring 3 (User Mode):</a:t>
            </a:r>
          </a:p>
          <a:p>
            <a:pPr lvl="1" algn="just"/>
            <a:r>
              <a:rPr lang="en-US" dirty="0"/>
              <a:t>Lowest privilege </a:t>
            </a:r>
            <a:r>
              <a:rPr lang="en-US" dirty="0" err="1"/>
              <a:t>level.Used</a:t>
            </a:r>
            <a:r>
              <a:rPr lang="en-US" dirty="0"/>
              <a:t> for executing user applications.</a:t>
            </a:r>
          </a:p>
          <a:p>
            <a:pPr lvl="1" algn="just"/>
            <a:r>
              <a:rPr lang="en-US" dirty="0"/>
              <a:t>Restricted access to system resources; </a:t>
            </a:r>
          </a:p>
          <a:p>
            <a:pPr lvl="1" algn="just"/>
            <a:r>
              <a:rPr lang="en-US" dirty="0"/>
              <a:t>must use system calls to request OS services.</a:t>
            </a:r>
            <a:endParaRPr lang="en-IN" dirty="0"/>
          </a:p>
        </p:txBody>
      </p:sp>
    </p:spTree>
    <p:extLst>
      <p:ext uri="{BB962C8B-B14F-4D97-AF65-F5344CB8AC3E}">
        <p14:creationId xmlns:p14="http://schemas.microsoft.com/office/powerpoint/2010/main" val="3900544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C4DF3-6A94-161D-6EC9-E3DDD4BB9039}"/>
              </a:ext>
            </a:extLst>
          </p:cNvPr>
          <p:cNvSpPr>
            <a:spLocks noGrp="1"/>
          </p:cNvSpPr>
          <p:nvPr>
            <p:ph type="title"/>
          </p:nvPr>
        </p:nvSpPr>
        <p:spPr/>
        <p:txBody>
          <a:bodyPr>
            <a:normAutofit/>
          </a:bodyPr>
          <a:lstStyle/>
          <a:p>
            <a:r>
              <a:rPr lang="en-US" sz="3200" b="1" dirty="0"/>
              <a:t>4. Domain of Protection</a:t>
            </a:r>
            <a:endParaRPr lang="en-IN" sz="3200" b="1" dirty="0"/>
          </a:p>
        </p:txBody>
      </p:sp>
      <p:sp>
        <p:nvSpPr>
          <p:cNvPr id="3" name="Content Placeholder 2">
            <a:extLst>
              <a:ext uri="{FF2B5EF4-FFF2-40B4-BE49-F238E27FC236}">
                <a16:creationId xmlns:a16="http://schemas.microsoft.com/office/drawing/2014/main" id="{AE5F34A4-0DE9-3236-34F6-5777F15156C0}"/>
              </a:ext>
            </a:extLst>
          </p:cNvPr>
          <p:cNvSpPr>
            <a:spLocks noGrp="1"/>
          </p:cNvSpPr>
          <p:nvPr>
            <p:ph idx="1"/>
          </p:nvPr>
        </p:nvSpPr>
        <p:spPr>
          <a:xfrm>
            <a:off x="677334" y="1651819"/>
            <a:ext cx="8596668" cy="4389543"/>
          </a:xfrm>
        </p:spPr>
        <p:txBody>
          <a:bodyPr/>
          <a:lstStyle/>
          <a:p>
            <a:pPr algn="just"/>
            <a:r>
              <a:rPr lang="en-US" dirty="0"/>
              <a:t>Rings of protection separate functions into domains and order them hierarchically. A generalization of rings is using domains without a hierarchy. </a:t>
            </a:r>
          </a:p>
          <a:p>
            <a:pPr algn="just"/>
            <a:r>
              <a:rPr lang="en-US" dirty="0"/>
              <a:t>A computer system can be treated as a collection of processes and objects.</a:t>
            </a:r>
          </a:p>
          <a:p>
            <a:pPr algn="just"/>
            <a:r>
              <a:rPr lang="en-US" dirty="0"/>
              <a:t>The domain of protection provides a structured way to control which processes can access system resources and how they can interact with them. </a:t>
            </a:r>
          </a:p>
          <a:p>
            <a:pPr algn="just"/>
            <a:r>
              <a:rPr lang="en-US" dirty="0"/>
              <a:t>It enhances security, reliability, and fault isolation, preventing processes from interfering with each other or with critical system functions.</a:t>
            </a:r>
          </a:p>
          <a:p>
            <a:pPr algn="just"/>
            <a:r>
              <a:rPr lang="en-US" dirty="0"/>
              <a:t>The </a:t>
            </a:r>
            <a:r>
              <a:rPr lang="en-US" b="1" dirty="0"/>
              <a:t>protection domain</a:t>
            </a:r>
            <a:r>
              <a:rPr lang="en-US" dirty="0"/>
              <a:t> consists of a set of access rights, which specify the </a:t>
            </a:r>
            <a:r>
              <a:rPr lang="en-US" b="1" dirty="0"/>
              <a:t>objects</a:t>
            </a:r>
            <a:r>
              <a:rPr lang="en-US" dirty="0"/>
              <a:t> (resources like files, memory, or devices) and the </a:t>
            </a:r>
            <a:r>
              <a:rPr lang="en-US" b="1" dirty="0"/>
              <a:t>operations</a:t>
            </a:r>
            <a:r>
              <a:rPr lang="en-US" dirty="0"/>
              <a:t> (such as read, write, or execute) that a process can perform on those objects.</a:t>
            </a:r>
            <a:endParaRPr lang="en-IN" dirty="0"/>
          </a:p>
        </p:txBody>
      </p:sp>
    </p:spTree>
    <p:extLst>
      <p:ext uri="{BB962C8B-B14F-4D97-AF65-F5344CB8AC3E}">
        <p14:creationId xmlns:p14="http://schemas.microsoft.com/office/powerpoint/2010/main" val="8672239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0514A8-BFE2-2505-3A93-D3B71916F123}"/>
              </a:ext>
            </a:extLst>
          </p:cNvPr>
          <p:cNvSpPr>
            <a:spLocks noGrp="1"/>
          </p:cNvSpPr>
          <p:nvPr>
            <p:ph idx="1"/>
          </p:nvPr>
        </p:nvSpPr>
        <p:spPr>
          <a:xfrm>
            <a:off x="677334" y="806245"/>
            <a:ext cx="8596668" cy="5235117"/>
          </a:xfrm>
        </p:spPr>
        <p:txBody>
          <a:bodyPr>
            <a:normAutofit/>
          </a:bodyPr>
          <a:lstStyle/>
          <a:p>
            <a:pPr algn="just">
              <a:buNone/>
            </a:pPr>
            <a:r>
              <a:rPr lang="en-US" b="1" dirty="0"/>
              <a:t>Key Aspects of the Domain of Protection:</a:t>
            </a:r>
          </a:p>
          <a:p>
            <a:pPr algn="just">
              <a:buFont typeface="+mj-lt"/>
              <a:buAutoNum type="arabicPeriod"/>
            </a:pPr>
            <a:r>
              <a:rPr lang="en-US" b="1" dirty="0"/>
              <a:t>Definition of a Domain:</a:t>
            </a:r>
            <a:endParaRPr lang="en-US" dirty="0"/>
          </a:p>
          <a:p>
            <a:pPr marL="742950" lvl="1" indent="-285750" algn="just">
              <a:buFont typeface="+mj-lt"/>
              <a:buAutoNum type="arabicPeriod"/>
            </a:pPr>
            <a:r>
              <a:rPr lang="en-US" dirty="0"/>
              <a:t>A </a:t>
            </a:r>
            <a:r>
              <a:rPr lang="en-US" b="1" dirty="0"/>
              <a:t>domain</a:t>
            </a:r>
            <a:r>
              <a:rPr lang="en-US" dirty="0"/>
              <a:t> is a set of </a:t>
            </a:r>
            <a:r>
              <a:rPr lang="en-US" b="1" dirty="0"/>
              <a:t>(object, access rights)</a:t>
            </a:r>
            <a:r>
              <a:rPr lang="en-US" dirty="0"/>
              <a:t> pairs.</a:t>
            </a:r>
          </a:p>
          <a:p>
            <a:pPr marL="742950" lvl="1" indent="-285750" algn="just">
              <a:buFont typeface="+mj-lt"/>
              <a:buAutoNum type="arabicPeriod"/>
            </a:pPr>
            <a:r>
              <a:rPr lang="en-US" dirty="0"/>
              <a:t>Each process executes within a particular domain, determining its permitted actions.</a:t>
            </a:r>
          </a:p>
          <a:p>
            <a:pPr algn="just">
              <a:buFont typeface="+mj-lt"/>
              <a:buAutoNum type="arabicPeriod"/>
            </a:pPr>
            <a:r>
              <a:rPr lang="en-US" b="1" dirty="0"/>
              <a:t>Multiple Domains:</a:t>
            </a:r>
            <a:endParaRPr lang="en-US" dirty="0"/>
          </a:p>
          <a:p>
            <a:pPr marL="742950" lvl="1" indent="-285750" algn="just">
              <a:buFont typeface="+mj-lt"/>
              <a:buAutoNum type="arabicPeriod"/>
            </a:pPr>
            <a:r>
              <a:rPr lang="en-US" dirty="0"/>
              <a:t>A system may have </a:t>
            </a:r>
            <a:r>
              <a:rPr lang="en-US" b="1" dirty="0"/>
              <a:t>multiple protection domains</a:t>
            </a:r>
            <a:r>
              <a:rPr lang="en-US" dirty="0"/>
              <a:t> (e.g., kernel mode, user mode, administrative mode).</a:t>
            </a:r>
          </a:p>
          <a:p>
            <a:pPr marL="742950" lvl="1" indent="-285750" algn="just">
              <a:buFont typeface="+mj-lt"/>
              <a:buAutoNum type="arabicPeriod"/>
            </a:pPr>
            <a:r>
              <a:rPr lang="en-US" dirty="0"/>
              <a:t>A process can belong to one domain at a time but may </a:t>
            </a:r>
            <a:r>
              <a:rPr lang="en-US" b="1" dirty="0"/>
              <a:t>switch domains</a:t>
            </a:r>
            <a:r>
              <a:rPr lang="en-US" dirty="0"/>
              <a:t> under specific conditions (e.g., executing system calls).</a:t>
            </a:r>
          </a:p>
          <a:p>
            <a:pPr algn="just">
              <a:buFont typeface="+mj-lt"/>
              <a:buAutoNum type="arabicPeriod"/>
            </a:pPr>
            <a:r>
              <a:rPr lang="en-US" b="1" dirty="0"/>
              <a:t>Access Rights:</a:t>
            </a:r>
            <a:endParaRPr lang="en-US" dirty="0"/>
          </a:p>
          <a:p>
            <a:pPr marL="742950" lvl="1" indent="-285750" algn="just">
              <a:buFont typeface="+mj-lt"/>
              <a:buAutoNum type="arabicPeriod"/>
            </a:pPr>
            <a:r>
              <a:rPr lang="en-US" dirty="0"/>
              <a:t>Each domain specifies </a:t>
            </a:r>
            <a:r>
              <a:rPr lang="en-US" b="1" dirty="0"/>
              <a:t>which resources a process can access</a:t>
            </a:r>
            <a:r>
              <a:rPr lang="en-US" dirty="0"/>
              <a:t> and </a:t>
            </a:r>
            <a:r>
              <a:rPr lang="en-US" b="1" dirty="0"/>
              <a:t>what operations it can perform</a:t>
            </a:r>
            <a:r>
              <a:rPr lang="en-US" dirty="0"/>
              <a:t> on them.</a:t>
            </a:r>
          </a:p>
          <a:p>
            <a:pPr marL="742950" lvl="1" indent="-285750" algn="just">
              <a:buFont typeface="+mj-lt"/>
              <a:buAutoNum type="arabicPeriod"/>
            </a:pPr>
            <a:r>
              <a:rPr lang="en-US" dirty="0"/>
              <a:t>Examples of access rights include </a:t>
            </a:r>
            <a:r>
              <a:rPr lang="en-US" b="1" dirty="0"/>
              <a:t>read, write, execute, delete, and modify permissions</a:t>
            </a:r>
            <a:r>
              <a:rPr lang="en-US" dirty="0"/>
              <a:t>.</a:t>
            </a:r>
          </a:p>
          <a:p>
            <a:pPr algn="just"/>
            <a:endParaRPr lang="en-IN" dirty="0"/>
          </a:p>
        </p:txBody>
      </p:sp>
    </p:spTree>
    <p:extLst>
      <p:ext uri="{BB962C8B-B14F-4D97-AF65-F5344CB8AC3E}">
        <p14:creationId xmlns:p14="http://schemas.microsoft.com/office/powerpoint/2010/main" val="21304978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79C89D-7C26-D66A-3B63-F16FB9D97B57}"/>
              </a:ext>
            </a:extLst>
          </p:cNvPr>
          <p:cNvSpPr>
            <a:spLocks noGrp="1"/>
          </p:cNvSpPr>
          <p:nvPr>
            <p:ph idx="1"/>
          </p:nvPr>
        </p:nvSpPr>
        <p:spPr>
          <a:xfrm>
            <a:off x="677334" y="835740"/>
            <a:ext cx="8596668" cy="5338918"/>
          </a:xfrm>
        </p:spPr>
        <p:txBody>
          <a:bodyPr>
            <a:noAutofit/>
          </a:bodyPr>
          <a:lstStyle/>
          <a:p>
            <a:pPr marL="0" indent="0" algn="just">
              <a:buNone/>
            </a:pPr>
            <a:r>
              <a:rPr lang="en-US" sz="1600" b="1" dirty="0">
                <a:solidFill>
                  <a:srgbClr val="92D050"/>
                </a:solidFill>
              </a:rPr>
              <a:t>4</a:t>
            </a:r>
            <a:r>
              <a:rPr lang="en-US" sz="1600" b="1" dirty="0"/>
              <a:t>. Dynamic Domain Switching:</a:t>
            </a:r>
          </a:p>
          <a:p>
            <a:pPr lvl="1" algn="just">
              <a:buFont typeface="Arial" panose="020B0604020202020204" pitchFamily="34" charset="0"/>
              <a:buChar char="•"/>
            </a:pPr>
            <a:r>
              <a:rPr lang="en-US" dirty="0"/>
              <a:t>Some systems allow a process to switch domains to gain temporary access to more privileges.</a:t>
            </a:r>
          </a:p>
          <a:p>
            <a:pPr lvl="1" algn="just">
              <a:buFont typeface="Arial" panose="020B0604020202020204" pitchFamily="34" charset="0"/>
              <a:buChar char="•"/>
            </a:pPr>
            <a:r>
              <a:rPr lang="en-US" dirty="0"/>
              <a:t>This can be done using mechanisms like system calls or role-based access control.</a:t>
            </a:r>
          </a:p>
          <a:p>
            <a:pPr marL="0" indent="0" algn="just">
              <a:buNone/>
            </a:pPr>
            <a:r>
              <a:rPr lang="en-US" sz="1600" b="1" dirty="0"/>
              <a:t>5. Implementation of Protection Domains:</a:t>
            </a:r>
          </a:p>
          <a:p>
            <a:pPr lvl="1" algn="just">
              <a:buFont typeface="Arial" panose="020B0604020202020204" pitchFamily="34" charset="0"/>
              <a:buChar char="•"/>
            </a:pPr>
            <a:r>
              <a:rPr lang="en-US" dirty="0"/>
              <a:t>Protection domains can be implemented using Access Control Lists (ACLs) or Capability Lists.</a:t>
            </a:r>
          </a:p>
          <a:p>
            <a:pPr lvl="1" algn="just">
              <a:buFont typeface="Arial" panose="020B0604020202020204" pitchFamily="34" charset="0"/>
              <a:buChar char="•"/>
            </a:pPr>
            <a:r>
              <a:rPr lang="en-US" dirty="0"/>
              <a:t>Access Control List (ACL): Each object has a list specifying which domains can 	access it.</a:t>
            </a:r>
          </a:p>
          <a:p>
            <a:pPr lvl="1" algn="just">
              <a:buFont typeface="Arial" panose="020B0604020202020204" pitchFamily="34" charset="0"/>
              <a:buChar char="•"/>
            </a:pPr>
            <a:r>
              <a:rPr lang="en-US" dirty="0"/>
              <a:t>Capability List: Each domain has a list specifying which objects it can access and how.</a:t>
            </a:r>
          </a:p>
          <a:p>
            <a:pPr marL="0" indent="0" algn="just">
              <a:buNone/>
            </a:pPr>
            <a:r>
              <a:rPr lang="en-US" sz="1600" b="1" dirty="0"/>
              <a:t>6.  Domain Enforcement:</a:t>
            </a:r>
          </a:p>
          <a:p>
            <a:pPr lvl="1" algn="just">
              <a:buFont typeface="Arial" panose="020B0604020202020204" pitchFamily="34" charset="0"/>
              <a:buChar char="•"/>
            </a:pPr>
            <a:r>
              <a:rPr lang="en-US" dirty="0"/>
              <a:t>The operating system ensures that a process cannot exceed its privileges.</a:t>
            </a:r>
          </a:p>
          <a:p>
            <a:pPr lvl="1" algn="just">
              <a:buFont typeface="Arial" panose="020B0604020202020204" pitchFamily="34" charset="0"/>
              <a:buChar char="•"/>
            </a:pPr>
            <a:r>
              <a:rPr lang="en-US" dirty="0"/>
              <a:t>Unauthorized access attempts are blocked through hardware and software mechanisms.</a:t>
            </a:r>
            <a:endParaRPr lang="en-IN" dirty="0"/>
          </a:p>
        </p:txBody>
      </p:sp>
    </p:spTree>
    <p:extLst>
      <p:ext uri="{BB962C8B-B14F-4D97-AF65-F5344CB8AC3E}">
        <p14:creationId xmlns:p14="http://schemas.microsoft.com/office/powerpoint/2010/main" val="1197295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8B44B-203D-3C2B-4252-55304F6A0804}"/>
              </a:ext>
            </a:extLst>
          </p:cNvPr>
          <p:cNvSpPr>
            <a:spLocks noGrp="1"/>
          </p:cNvSpPr>
          <p:nvPr>
            <p:ph type="title"/>
          </p:nvPr>
        </p:nvSpPr>
        <p:spPr/>
        <p:txBody>
          <a:bodyPr>
            <a:normAutofit/>
          </a:bodyPr>
          <a:lstStyle/>
          <a:p>
            <a:r>
              <a:rPr lang="en-US" sz="3200" b="1" dirty="0"/>
              <a:t>5. Access matrix</a:t>
            </a:r>
            <a:endParaRPr lang="en-IN" sz="3200" b="1" dirty="0"/>
          </a:p>
        </p:txBody>
      </p:sp>
      <p:sp>
        <p:nvSpPr>
          <p:cNvPr id="3" name="Content Placeholder 2">
            <a:extLst>
              <a:ext uri="{FF2B5EF4-FFF2-40B4-BE49-F238E27FC236}">
                <a16:creationId xmlns:a16="http://schemas.microsoft.com/office/drawing/2014/main" id="{C46D0423-72C0-3DB6-03D3-95746F070433}"/>
              </a:ext>
            </a:extLst>
          </p:cNvPr>
          <p:cNvSpPr>
            <a:spLocks noGrp="1"/>
          </p:cNvSpPr>
          <p:nvPr>
            <p:ph idx="1"/>
          </p:nvPr>
        </p:nvSpPr>
        <p:spPr>
          <a:xfrm>
            <a:off x="677334" y="1661653"/>
            <a:ext cx="8596668" cy="4379710"/>
          </a:xfrm>
        </p:spPr>
        <p:txBody>
          <a:bodyPr/>
          <a:lstStyle/>
          <a:p>
            <a:pPr algn="just"/>
            <a:r>
              <a:rPr lang="en-US" dirty="0"/>
              <a:t>The general model of protection can be viewed abstractly as a matrix, called an access matrix. </a:t>
            </a:r>
          </a:p>
          <a:p>
            <a:pPr algn="just"/>
            <a:r>
              <a:rPr lang="en-US" dirty="0"/>
              <a:t>The rows of the access matrix represent domains, and the columns represent objects. </a:t>
            </a:r>
          </a:p>
          <a:p>
            <a:pPr algn="just"/>
            <a:r>
              <a:rPr lang="en-US" dirty="0"/>
              <a:t>Each entry in the matrix consists of a set of access rights. Because the column defines objects explicitly, we can omit the object name from the access right. </a:t>
            </a:r>
          </a:p>
          <a:p>
            <a:pPr algn="just"/>
            <a:r>
              <a:rPr lang="en-US" dirty="0"/>
              <a:t>The entry access(</a:t>
            </a:r>
            <a:r>
              <a:rPr lang="en-US" dirty="0" err="1"/>
              <a:t>i,j</a:t>
            </a:r>
            <a:r>
              <a:rPr lang="en-US" dirty="0"/>
              <a:t>) defines the set of operations that a process executing in domain Di can invoke on object </a:t>
            </a:r>
            <a:r>
              <a:rPr lang="en-US" dirty="0" err="1"/>
              <a:t>Oj</a:t>
            </a:r>
            <a:r>
              <a:rPr lang="en-US" dirty="0"/>
              <a:t>.</a:t>
            </a:r>
          </a:p>
          <a:p>
            <a:pPr algn="just"/>
            <a:r>
              <a:rPr lang="en-US" dirty="0"/>
              <a:t>We must ensure that a process executing in domain Di can access only those objects specified in row </a:t>
            </a:r>
            <a:r>
              <a:rPr lang="en-US" dirty="0" err="1"/>
              <a:t>i</a:t>
            </a:r>
            <a:r>
              <a:rPr lang="en-US" dirty="0"/>
              <a:t>, and then only as allowed by the access-matrix entries.</a:t>
            </a:r>
            <a:endParaRPr lang="en-IN" dirty="0"/>
          </a:p>
        </p:txBody>
      </p:sp>
    </p:spTree>
    <p:extLst>
      <p:ext uri="{BB962C8B-B14F-4D97-AF65-F5344CB8AC3E}">
        <p14:creationId xmlns:p14="http://schemas.microsoft.com/office/powerpoint/2010/main" val="26988932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4F5C99C-BEBD-49FF-3B16-509886B0AB4F}"/>
              </a:ext>
            </a:extLst>
          </p:cNvPr>
          <p:cNvPicPr>
            <a:picLocks noChangeAspect="1"/>
          </p:cNvPicPr>
          <p:nvPr/>
        </p:nvPicPr>
        <p:blipFill>
          <a:blip r:embed="rId2"/>
          <a:stretch>
            <a:fillRect/>
          </a:stretch>
        </p:blipFill>
        <p:spPr>
          <a:xfrm>
            <a:off x="469714" y="527353"/>
            <a:ext cx="8005692" cy="5314560"/>
          </a:xfrm>
          <a:prstGeom prst="rect">
            <a:avLst/>
          </a:prstGeom>
        </p:spPr>
      </p:pic>
    </p:spTree>
    <p:extLst>
      <p:ext uri="{BB962C8B-B14F-4D97-AF65-F5344CB8AC3E}">
        <p14:creationId xmlns:p14="http://schemas.microsoft.com/office/powerpoint/2010/main" val="27271253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CD76-4EC5-B6B7-C29A-4B6B14EE8C0A}"/>
              </a:ext>
            </a:extLst>
          </p:cNvPr>
          <p:cNvSpPr>
            <a:spLocks noGrp="1"/>
          </p:cNvSpPr>
          <p:nvPr>
            <p:ph idx="1"/>
          </p:nvPr>
        </p:nvSpPr>
        <p:spPr>
          <a:xfrm>
            <a:off x="677334" y="1465007"/>
            <a:ext cx="8596668" cy="4576356"/>
          </a:xfrm>
        </p:spPr>
        <p:txBody>
          <a:bodyPr/>
          <a:lstStyle/>
          <a:p>
            <a:pPr algn="just"/>
            <a:r>
              <a:rPr lang="en-US" dirty="0"/>
              <a:t>There are four domains and four objects— three files (F1, F2, F3) and one laser printer. </a:t>
            </a:r>
          </a:p>
          <a:p>
            <a:pPr algn="just"/>
            <a:r>
              <a:rPr lang="en-US" dirty="0"/>
              <a:t>A process executing in domain D1 can read files F1 and F3. </a:t>
            </a:r>
          </a:p>
          <a:p>
            <a:pPr algn="just"/>
            <a:r>
              <a:rPr lang="en-US" dirty="0"/>
              <a:t>A process executing in domain D4 has the same privileges as one executing in domain D1; but in addition, it can also write onto files F1 and F3. </a:t>
            </a:r>
          </a:p>
          <a:p>
            <a:pPr algn="just"/>
            <a:r>
              <a:rPr lang="en-US" dirty="0"/>
              <a:t>The laser printer can be accessed only by a process executing in domain D2</a:t>
            </a:r>
            <a:endParaRPr lang="en-IN" dirty="0"/>
          </a:p>
        </p:txBody>
      </p:sp>
    </p:spTree>
    <p:extLst>
      <p:ext uri="{BB962C8B-B14F-4D97-AF65-F5344CB8AC3E}">
        <p14:creationId xmlns:p14="http://schemas.microsoft.com/office/powerpoint/2010/main" val="252144520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52</TotalTime>
  <Words>1250</Words>
  <Application>Microsoft Office PowerPoint</Application>
  <PresentationFormat>Widescreen</PresentationFormat>
  <Paragraphs>81</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Times New Roman</vt:lpstr>
      <vt:lpstr>Trebuchet MS</vt:lpstr>
      <vt:lpstr>Wingdings 3</vt:lpstr>
      <vt:lpstr>Facet</vt:lpstr>
      <vt:lpstr>PROTECTION</vt:lpstr>
      <vt:lpstr>PowerPoint Presentation</vt:lpstr>
      <vt:lpstr>Introduction</vt:lpstr>
      <vt:lpstr>1. Goals of protection</vt:lpstr>
      <vt:lpstr>2.Principles of Protection</vt:lpstr>
      <vt:lpstr>PowerPoint Presentation</vt:lpstr>
      <vt:lpstr>3.Protection Rings</vt:lpstr>
      <vt:lpstr>PowerPoint Presentation</vt:lpstr>
      <vt:lpstr>4. Domain of Protection</vt:lpstr>
      <vt:lpstr>PowerPoint Presentation</vt:lpstr>
      <vt:lpstr>PowerPoint Presentation</vt:lpstr>
      <vt:lpstr>5. Access matrix</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Surya Vinti</dc:creator>
  <cp:lastModifiedBy>Surya Vinti</cp:lastModifiedBy>
  <cp:revision>2</cp:revision>
  <dcterms:created xsi:type="dcterms:W3CDTF">2025-03-26T06:07:56Z</dcterms:created>
  <dcterms:modified xsi:type="dcterms:W3CDTF">2025-03-26T14:01:49Z</dcterms:modified>
</cp:coreProperties>
</file>