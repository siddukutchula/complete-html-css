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F4456AD-72CF-4834-8268-BA3F3CA9AA4B}">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88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C8F30-DA97-B458-5458-736A98E443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5535FA-1583-6850-DF0D-0ACF185D28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F009B3-D91C-0162-3299-9653F6B81831}"/>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5" name="Footer Placeholder 4">
            <a:extLst>
              <a:ext uri="{FF2B5EF4-FFF2-40B4-BE49-F238E27FC236}">
                <a16:creationId xmlns:a16="http://schemas.microsoft.com/office/drawing/2014/main" id="{4AC3A796-F98D-96E8-A79F-CE570A365E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92B34B-7695-EB37-6686-748F4350BE7C}"/>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502873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EACD7-853C-4385-9B0A-262986D620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7D289E-2565-D91E-CC6A-B72C34A35B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FEDCC4-5FE7-55B3-6BBE-ED5DCDF11838}"/>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5" name="Footer Placeholder 4">
            <a:extLst>
              <a:ext uri="{FF2B5EF4-FFF2-40B4-BE49-F238E27FC236}">
                <a16:creationId xmlns:a16="http://schemas.microsoft.com/office/drawing/2014/main" id="{878AAA09-2AD7-84D2-84D2-FF42D5B00F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D5184D-C349-36EF-D824-07C35A2D08AD}"/>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170383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DA745-74DE-1C3B-10DF-11E86DEF90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0CBC04-2AB5-EF41-2ED4-CCA76F87A5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7F4CDC-98A4-ECF4-1D5D-ACF59A570BDB}"/>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5" name="Footer Placeholder 4">
            <a:extLst>
              <a:ext uri="{FF2B5EF4-FFF2-40B4-BE49-F238E27FC236}">
                <a16:creationId xmlns:a16="http://schemas.microsoft.com/office/drawing/2014/main" id="{745DC20D-D068-E159-9233-DDDFF855EE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B0CF85-D011-D9A0-1CC0-76FD44FCED30}"/>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2883082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4981-7E23-1C88-A3A6-686C441344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5217A9-7E12-BF8B-9AB8-D21107741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526826-0196-3842-F3D9-18027CEDCE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2C7714-085A-40EF-7F38-82696FD8CA7A}"/>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6" name="Footer Placeholder 5">
            <a:extLst>
              <a:ext uri="{FF2B5EF4-FFF2-40B4-BE49-F238E27FC236}">
                <a16:creationId xmlns:a16="http://schemas.microsoft.com/office/drawing/2014/main" id="{14DCBADD-4D7F-EBEA-A65D-B9DFCBCF20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C9CDCE-5DC2-3ED0-7F8F-FD463E6E3E78}"/>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3273069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20FB-4E6E-50E9-EA37-382A5E04A3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B187E8-2C25-1F62-F05B-E5DF89969E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A9E738-5222-492E-A5A1-565D4C2DB9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CAE3FCC-C9B7-66C7-E86E-368697E6B7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1CFE5C-F8BA-F122-56AB-9814AB306D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88ADDE-9838-CCD2-3A5B-97787057ACD5}"/>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8" name="Footer Placeholder 7">
            <a:extLst>
              <a:ext uri="{FF2B5EF4-FFF2-40B4-BE49-F238E27FC236}">
                <a16:creationId xmlns:a16="http://schemas.microsoft.com/office/drawing/2014/main" id="{ABFB4229-1CB0-461E-CBED-BA7AA2286E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762260-5CEC-EB5C-DBF6-539EE24E1C15}"/>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4191193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68C1E-0031-C5AC-4F72-95AC4DF191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B2BAA9-E89B-C99C-666D-64551B50F589}"/>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4" name="Footer Placeholder 3">
            <a:extLst>
              <a:ext uri="{FF2B5EF4-FFF2-40B4-BE49-F238E27FC236}">
                <a16:creationId xmlns:a16="http://schemas.microsoft.com/office/drawing/2014/main" id="{229C0E91-2090-9ECB-1E87-C416523198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455844A-E73B-C574-8D19-A0A7D52A8937}"/>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808282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72D21C-86C4-DE1D-30E8-265EB7F30340}"/>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3" name="Footer Placeholder 2">
            <a:extLst>
              <a:ext uri="{FF2B5EF4-FFF2-40B4-BE49-F238E27FC236}">
                <a16:creationId xmlns:a16="http://schemas.microsoft.com/office/drawing/2014/main" id="{5E57A0DF-42FA-D7EE-2B77-9845266EC9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DFC22DC-7F54-2854-4DBA-E6C214320F1E}"/>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750757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01D20-0F07-B17B-9031-94260726D6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935E78-B592-1492-54F0-D7212DC8E0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23038C-C9ED-70F7-7DF0-C2869878C5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D8012F-8243-DC78-D0B9-9844F15979BD}"/>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6" name="Footer Placeholder 5">
            <a:extLst>
              <a:ext uri="{FF2B5EF4-FFF2-40B4-BE49-F238E27FC236}">
                <a16:creationId xmlns:a16="http://schemas.microsoft.com/office/drawing/2014/main" id="{D2A7CEF6-34F5-0A9F-5DE3-0E38623C93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3510C1-28A1-6FF7-EE7B-92E2271A21AF}"/>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3582273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106BF-491B-BDFC-7076-9242DBAF11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45F4E5-42BA-8474-0903-F30DE485AA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12EED3-563C-071F-C3C6-F1A6A70F5A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500449-4F43-29EA-8928-9E5640EFC324}"/>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6" name="Footer Placeholder 5">
            <a:extLst>
              <a:ext uri="{FF2B5EF4-FFF2-40B4-BE49-F238E27FC236}">
                <a16:creationId xmlns:a16="http://schemas.microsoft.com/office/drawing/2014/main" id="{37D920AE-B763-F8A3-0DDF-78106A29FB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AEA577-20D2-0A49-F6E9-7696C73E2449}"/>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437864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AD9BB-A37C-1684-9D9D-064C1EDFCE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8FE053-65C0-065A-0F49-8991DB8D6E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D31100-997D-5BBB-9277-DC5397C6FF14}"/>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5" name="Footer Placeholder 4">
            <a:extLst>
              <a:ext uri="{FF2B5EF4-FFF2-40B4-BE49-F238E27FC236}">
                <a16:creationId xmlns:a16="http://schemas.microsoft.com/office/drawing/2014/main" id="{8BBE6E64-6571-01A4-4C90-562238CF42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1EFDD9-7EAA-9853-1D76-06B42498B2AC}"/>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3246217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55AC9D-5AFD-EFA1-3691-6C6D8421C9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C2D302-A149-62D8-EDD9-4CC8AFB809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8D46F2-CF4A-4569-D811-FE68218480BA}"/>
              </a:ext>
            </a:extLst>
          </p:cNvPr>
          <p:cNvSpPr>
            <a:spLocks noGrp="1"/>
          </p:cNvSpPr>
          <p:nvPr>
            <p:ph type="dt" sz="half" idx="10"/>
          </p:nvPr>
        </p:nvSpPr>
        <p:spPr/>
        <p:txBody>
          <a:bodyPr/>
          <a:lstStyle/>
          <a:p>
            <a:fld id="{DA2C6739-AB0E-4744-B84F-B5AEB59F6960}" type="datetimeFigureOut">
              <a:rPr lang="en-IN" smtClean="0"/>
              <a:t>13-03-2025</a:t>
            </a:fld>
            <a:endParaRPr lang="en-IN"/>
          </a:p>
        </p:txBody>
      </p:sp>
      <p:sp>
        <p:nvSpPr>
          <p:cNvPr id="5" name="Footer Placeholder 4">
            <a:extLst>
              <a:ext uri="{FF2B5EF4-FFF2-40B4-BE49-F238E27FC236}">
                <a16:creationId xmlns:a16="http://schemas.microsoft.com/office/drawing/2014/main" id="{A1B25B7F-1860-80E5-7329-0BA37861B3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96BD55-CDF3-3C44-D7E8-A080EB84EA85}"/>
              </a:ext>
            </a:extLst>
          </p:cNvPr>
          <p:cNvSpPr>
            <a:spLocks noGrp="1"/>
          </p:cNvSpPr>
          <p:nvPr>
            <p:ph type="sldNum" sz="quarter" idx="12"/>
          </p:nvPr>
        </p:nvSpPr>
        <p:spPr/>
        <p:txBody>
          <a:bodyPr/>
          <a:lstStyle/>
          <a:p>
            <a:fld id="{E89376F2-F45A-4C9C-94F8-FD8FB0F7AF94}" type="slidenum">
              <a:rPr lang="en-IN" smtClean="0"/>
              <a:t>‹#›</a:t>
            </a:fld>
            <a:endParaRPr lang="en-IN"/>
          </a:p>
        </p:txBody>
      </p:sp>
    </p:spTree>
    <p:extLst>
      <p:ext uri="{BB962C8B-B14F-4D97-AF65-F5344CB8AC3E}">
        <p14:creationId xmlns:p14="http://schemas.microsoft.com/office/powerpoint/2010/main" val="2362894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4689BF-B5BB-FF55-9E5A-AF6645D10B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1D77B8-AA9E-3034-5EEC-773E6C8199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8EE56A-C082-17F9-28BB-E66D5C153C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2C6739-AB0E-4744-B84F-B5AEB59F6960}" type="datetimeFigureOut">
              <a:rPr lang="en-IN" smtClean="0"/>
              <a:t>13-03-2025</a:t>
            </a:fld>
            <a:endParaRPr lang="en-IN"/>
          </a:p>
        </p:txBody>
      </p:sp>
      <p:sp>
        <p:nvSpPr>
          <p:cNvPr id="5" name="Footer Placeholder 4">
            <a:extLst>
              <a:ext uri="{FF2B5EF4-FFF2-40B4-BE49-F238E27FC236}">
                <a16:creationId xmlns:a16="http://schemas.microsoft.com/office/drawing/2014/main" id="{E6863333-9C52-2232-65B8-D6D8DD5690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449B077-9749-C744-7CB6-2708CC4752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9376F2-F45A-4C9C-94F8-FD8FB0F7AF94}" type="slidenum">
              <a:rPr lang="en-IN" smtClean="0"/>
              <a:t>‹#›</a:t>
            </a:fld>
            <a:endParaRPr lang="en-IN"/>
          </a:p>
        </p:txBody>
      </p:sp>
    </p:spTree>
    <p:extLst>
      <p:ext uri="{BB962C8B-B14F-4D97-AF65-F5344CB8AC3E}">
        <p14:creationId xmlns:p14="http://schemas.microsoft.com/office/powerpoint/2010/main" val="1435019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729D-D2A3-26EF-D985-1F2E715BAAB5}"/>
              </a:ext>
            </a:extLst>
          </p:cNvPr>
          <p:cNvSpPr>
            <a:spLocks noGrp="1"/>
          </p:cNvSpPr>
          <p:nvPr>
            <p:ph type="title"/>
          </p:nvPr>
        </p:nvSpPr>
        <p:spPr/>
        <p:txBody>
          <a:bodyPr>
            <a:normAutofit/>
          </a:bodyPr>
          <a:lstStyle/>
          <a:p>
            <a:r>
              <a:rPr lang="en-US" sz="3200" b="1" dirty="0"/>
              <a:t>MONITORS</a:t>
            </a:r>
            <a:endParaRPr lang="en-IN" sz="3200" b="1" dirty="0"/>
          </a:p>
        </p:txBody>
      </p:sp>
      <p:sp>
        <p:nvSpPr>
          <p:cNvPr id="3" name="Content Placeholder 2">
            <a:extLst>
              <a:ext uri="{FF2B5EF4-FFF2-40B4-BE49-F238E27FC236}">
                <a16:creationId xmlns:a16="http://schemas.microsoft.com/office/drawing/2014/main" id="{DC71BC41-AC82-6958-7E76-52BBEF6C923F}"/>
              </a:ext>
            </a:extLst>
          </p:cNvPr>
          <p:cNvSpPr>
            <a:spLocks noGrp="1"/>
          </p:cNvSpPr>
          <p:nvPr>
            <p:ph idx="1"/>
          </p:nvPr>
        </p:nvSpPr>
        <p:spPr/>
        <p:txBody>
          <a:bodyPr>
            <a:normAutofit/>
          </a:bodyPr>
          <a:lstStyle/>
          <a:p>
            <a:pPr algn="just"/>
            <a:r>
              <a:rPr lang="en-US" sz="2400" dirty="0"/>
              <a:t>A monitor type is an ADT that includes a set of programmer-defined operations that are provided with mutual exclusion within the monitor</a:t>
            </a:r>
          </a:p>
          <a:p>
            <a:pPr algn="just"/>
            <a:r>
              <a:rPr lang="en-US" sz="2400" dirty="0"/>
              <a:t>An abstract data type—or ADT—encapsulates data with a set of functions to operate on that data that are independent of any specific implementation of the ADT.</a:t>
            </a:r>
          </a:p>
          <a:p>
            <a:pPr algn="just"/>
            <a:r>
              <a:rPr lang="en-US" sz="2400" dirty="0"/>
              <a:t>A function defined within a monitor can access only those variables declared locally within the monitor and its formal parameters. Similarly, the local variables of a monitor can be accessed by only the local functions.</a:t>
            </a:r>
          </a:p>
          <a:p>
            <a:pPr algn="just"/>
            <a:r>
              <a:rPr lang="en-US" sz="2400" dirty="0"/>
              <a:t>The monitor construct ensures that only one process at a time is active within the monitor</a:t>
            </a:r>
            <a:endParaRPr lang="en-IN" sz="2400" dirty="0"/>
          </a:p>
        </p:txBody>
      </p:sp>
    </p:spTree>
    <p:extLst>
      <p:ext uri="{BB962C8B-B14F-4D97-AF65-F5344CB8AC3E}">
        <p14:creationId xmlns:p14="http://schemas.microsoft.com/office/powerpoint/2010/main" val="3836991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F4085D-0CCD-A5C1-DB11-FDE0CCE57EAB}"/>
              </a:ext>
            </a:extLst>
          </p:cNvPr>
          <p:cNvPicPr>
            <a:picLocks noGrp="1" noChangeAspect="1"/>
          </p:cNvPicPr>
          <p:nvPr>
            <p:ph idx="1"/>
          </p:nvPr>
        </p:nvPicPr>
        <p:blipFill>
          <a:blip r:embed="rId2"/>
          <a:stretch>
            <a:fillRect/>
          </a:stretch>
        </p:blipFill>
        <p:spPr>
          <a:xfrm>
            <a:off x="2143432" y="344130"/>
            <a:ext cx="7492181" cy="5832834"/>
          </a:xfrm>
        </p:spPr>
      </p:pic>
    </p:spTree>
    <p:extLst>
      <p:ext uri="{BB962C8B-B14F-4D97-AF65-F5344CB8AC3E}">
        <p14:creationId xmlns:p14="http://schemas.microsoft.com/office/powerpoint/2010/main" val="2118887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19D44B-F0D0-B6E6-AA08-34C1C9B38207}"/>
              </a:ext>
            </a:extLst>
          </p:cNvPr>
          <p:cNvSpPr>
            <a:spLocks noGrp="1"/>
          </p:cNvSpPr>
          <p:nvPr>
            <p:ph idx="1"/>
          </p:nvPr>
        </p:nvSpPr>
        <p:spPr>
          <a:xfrm>
            <a:off x="838200" y="655983"/>
            <a:ext cx="10515600" cy="4830417"/>
          </a:xfrm>
        </p:spPr>
        <p:txBody>
          <a:bodyPr>
            <a:noAutofit/>
          </a:bodyPr>
          <a:lstStyle/>
          <a:p>
            <a:pPr algn="just"/>
            <a:r>
              <a:rPr lang="en-US" dirty="0"/>
              <a:t>A programmer who needs to write a tailor-made synchronization scheme can define one or more variables of type condition: </a:t>
            </a:r>
          </a:p>
          <a:p>
            <a:pPr marL="0" indent="0" algn="just">
              <a:buNone/>
            </a:pPr>
            <a:r>
              <a:rPr lang="en-US" dirty="0"/>
              <a:t>				</a:t>
            </a:r>
            <a:r>
              <a:rPr lang="en-US" b="1" dirty="0"/>
              <a:t>condition x, y; </a:t>
            </a:r>
          </a:p>
          <a:p>
            <a:pPr algn="just"/>
            <a:r>
              <a:rPr lang="en-US" dirty="0"/>
              <a:t>The only operations that can be invoked on a condition variable are wait() and signal(). </a:t>
            </a:r>
          </a:p>
          <a:p>
            <a:pPr lvl="1" algn="just"/>
            <a:r>
              <a:rPr lang="en-US" sz="2800" dirty="0"/>
              <a:t>The operation </a:t>
            </a:r>
            <a:r>
              <a:rPr lang="en-US" sz="2800" b="1" dirty="0" err="1"/>
              <a:t>x.wait</a:t>
            </a:r>
            <a:r>
              <a:rPr lang="en-US" sz="2800" b="1" dirty="0"/>
              <a:t>()</a:t>
            </a:r>
            <a:r>
              <a:rPr lang="en-US" sz="2800" dirty="0"/>
              <a:t>; means that the process invoking this operation is suspended until another process invokes </a:t>
            </a:r>
            <a:r>
              <a:rPr lang="en-US" sz="2800" b="1" dirty="0" err="1"/>
              <a:t>x.signal</a:t>
            </a:r>
            <a:r>
              <a:rPr lang="en-US" sz="2800" b="1" dirty="0"/>
              <a:t>()</a:t>
            </a:r>
            <a:r>
              <a:rPr lang="en-US" sz="2800" dirty="0"/>
              <a:t>;</a:t>
            </a:r>
          </a:p>
          <a:p>
            <a:pPr lvl="1" algn="just"/>
            <a:endParaRPr lang="en-US" sz="2800" dirty="0"/>
          </a:p>
          <a:p>
            <a:pPr algn="just"/>
            <a:r>
              <a:rPr lang="en-US" dirty="0"/>
              <a:t>The </a:t>
            </a:r>
            <a:r>
              <a:rPr lang="en-US" dirty="0" err="1"/>
              <a:t>x.signal</a:t>
            </a:r>
            <a:r>
              <a:rPr lang="en-US" dirty="0"/>
              <a:t>() operation resumes exactly one suspended process. If no process is suspended, then the signal() operation has no effect; that is, the state of x is the same as if the operation had never been executed</a:t>
            </a:r>
            <a:endParaRPr lang="en-IN" dirty="0"/>
          </a:p>
        </p:txBody>
      </p:sp>
    </p:spTree>
    <p:extLst>
      <p:ext uri="{BB962C8B-B14F-4D97-AF65-F5344CB8AC3E}">
        <p14:creationId xmlns:p14="http://schemas.microsoft.com/office/powerpoint/2010/main" val="2437313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C44319-FF0C-DC55-2342-627FF6DFD2AE}"/>
              </a:ext>
            </a:extLst>
          </p:cNvPr>
          <p:cNvPicPr>
            <a:picLocks noGrp="1" noChangeAspect="1"/>
          </p:cNvPicPr>
          <p:nvPr>
            <p:ph idx="1"/>
          </p:nvPr>
        </p:nvPicPr>
        <p:blipFill>
          <a:blip r:embed="rId2"/>
          <a:stretch>
            <a:fillRect/>
          </a:stretch>
        </p:blipFill>
        <p:spPr>
          <a:xfrm>
            <a:off x="2107097" y="188843"/>
            <a:ext cx="8169964" cy="5988120"/>
          </a:xfrm>
        </p:spPr>
      </p:pic>
    </p:spTree>
    <p:extLst>
      <p:ext uri="{BB962C8B-B14F-4D97-AF65-F5344CB8AC3E}">
        <p14:creationId xmlns:p14="http://schemas.microsoft.com/office/powerpoint/2010/main" val="263068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50B17-80ED-40B9-82B6-1EF58204B592}"/>
              </a:ext>
            </a:extLst>
          </p:cNvPr>
          <p:cNvSpPr>
            <a:spLocks noGrp="1"/>
          </p:cNvSpPr>
          <p:nvPr>
            <p:ph type="title"/>
          </p:nvPr>
        </p:nvSpPr>
        <p:spPr/>
        <p:txBody>
          <a:bodyPr>
            <a:normAutofit/>
          </a:bodyPr>
          <a:lstStyle/>
          <a:p>
            <a:r>
              <a:rPr lang="en-US" sz="3600" b="1" dirty="0"/>
              <a:t>How deadlocks occur</a:t>
            </a:r>
            <a:endParaRPr lang="en-IN" sz="3600" b="1" dirty="0"/>
          </a:p>
        </p:txBody>
      </p:sp>
      <p:sp>
        <p:nvSpPr>
          <p:cNvPr id="3" name="Content Placeholder 2">
            <a:extLst>
              <a:ext uri="{FF2B5EF4-FFF2-40B4-BE49-F238E27FC236}">
                <a16:creationId xmlns:a16="http://schemas.microsoft.com/office/drawing/2014/main" id="{6388D57E-D3FB-1114-26CC-C8D0CA9DB098}"/>
              </a:ext>
            </a:extLst>
          </p:cNvPr>
          <p:cNvSpPr>
            <a:spLocks noGrp="1"/>
          </p:cNvSpPr>
          <p:nvPr>
            <p:ph idx="1"/>
          </p:nvPr>
        </p:nvSpPr>
        <p:spPr/>
        <p:txBody>
          <a:bodyPr>
            <a:normAutofit/>
          </a:bodyPr>
          <a:lstStyle/>
          <a:p>
            <a:pPr algn="just"/>
            <a:r>
              <a:rPr lang="en-US" sz="2400" dirty="0"/>
              <a:t>Consider a system consisting of two processes, P0 and P1, each accessing two semaphores, S and Q, set to the value 1.</a:t>
            </a:r>
          </a:p>
          <a:p>
            <a:pPr algn="just"/>
            <a:r>
              <a:rPr lang="en-US" sz="2400" dirty="0"/>
              <a:t>Suppose that P0 executes wait(S) and then P1 executes wait(Q). When P0 executes wait(Q), it must wait until P1 executes signal(Q). Similarly, when P1 executes wait(S), it must wait until P0 executes signal(S). Since these signal() operations cannot be executed, P0 and P1 are deadlocked</a:t>
            </a:r>
          </a:p>
          <a:p>
            <a:pPr algn="just"/>
            <a:endParaRPr lang="en-IN" sz="2400" dirty="0"/>
          </a:p>
        </p:txBody>
      </p:sp>
    </p:spTree>
    <p:extLst>
      <p:ext uri="{BB962C8B-B14F-4D97-AF65-F5344CB8AC3E}">
        <p14:creationId xmlns:p14="http://schemas.microsoft.com/office/powerpoint/2010/main" val="591067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40CE07-50B3-36EC-198A-35C99432B676}"/>
              </a:ext>
            </a:extLst>
          </p:cNvPr>
          <p:cNvPicPr>
            <a:picLocks noGrp="1" noChangeAspect="1"/>
          </p:cNvPicPr>
          <p:nvPr>
            <p:ph idx="1"/>
          </p:nvPr>
        </p:nvPicPr>
        <p:blipFill>
          <a:blip r:embed="rId2"/>
          <a:stretch>
            <a:fillRect/>
          </a:stretch>
        </p:blipFill>
        <p:spPr>
          <a:xfrm>
            <a:off x="3209522" y="1193027"/>
            <a:ext cx="5772956" cy="3648584"/>
          </a:xfrm>
        </p:spPr>
      </p:pic>
    </p:spTree>
    <p:extLst>
      <p:ext uri="{BB962C8B-B14F-4D97-AF65-F5344CB8AC3E}">
        <p14:creationId xmlns:p14="http://schemas.microsoft.com/office/powerpoint/2010/main" val="3246419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D0727-58D2-C0A7-3A32-7B5BF97AFF14}"/>
              </a:ext>
            </a:extLst>
          </p:cNvPr>
          <p:cNvSpPr>
            <a:spLocks noGrp="1"/>
          </p:cNvSpPr>
          <p:nvPr>
            <p:ph type="title"/>
          </p:nvPr>
        </p:nvSpPr>
        <p:spPr/>
        <p:txBody>
          <a:bodyPr/>
          <a:lstStyle/>
          <a:p>
            <a:r>
              <a:rPr lang="en-US" b="1" dirty="0"/>
              <a:t>Classic Problems of Synchronization</a:t>
            </a:r>
            <a:endParaRPr lang="en-IN" b="1" dirty="0"/>
          </a:p>
        </p:txBody>
      </p:sp>
      <p:sp>
        <p:nvSpPr>
          <p:cNvPr id="3" name="Content Placeholder 2">
            <a:extLst>
              <a:ext uri="{FF2B5EF4-FFF2-40B4-BE49-F238E27FC236}">
                <a16:creationId xmlns:a16="http://schemas.microsoft.com/office/drawing/2014/main" id="{AD17FE25-A363-D27C-FFAD-E22E53B0E033}"/>
              </a:ext>
            </a:extLst>
          </p:cNvPr>
          <p:cNvSpPr>
            <a:spLocks noGrp="1"/>
          </p:cNvSpPr>
          <p:nvPr>
            <p:ph idx="1"/>
          </p:nvPr>
        </p:nvSpPr>
        <p:spPr/>
        <p:txBody>
          <a:bodyPr/>
          <a:lstStyle/>
          <a:p>
            <a:r>
              <a:rPr lang="en-US" dirty="0"/>
              <a:t>The Bounded Buffer Problem</a:t>
            </a:r>
          </a:p>
          <a:p>
            <a:r>
              <a:rPr lang="en-US" dirty="0"/>
              <a:t>The Reader Writers problem</a:t>
            </a:r>
          </a:p>
          <a:p>
            <a:r>
              <a:rPr lang="en-US" dirty="0"/>
              <a:t>The Dining Philosophers Problem</a:t>
            </a:r>
            <a:endParaRPr lang="en-IN" dirty="0"/>
          </a:p>
        </p:txBody>
      </p:sp>
    </p:spTree>
    <p:extLst>
      <p:ext uri="{BB962C8B-B14F-4D97-AF65-F5344CB8AC3E}">
        <p14:creationId xmlns:p14="http://schemas.microsoft.com/office/powerpoint/2010/main" val="1974567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B2C55-F60C-519B-8477-D51938DB0894}"/>
              </a:ext>
            </a:extLst>
          </p:cNvPr>
          <p:cNvSpPr>
            <a:spLocks noGrp="1"/>
          </p:cNvSpPr>
          <p:nvPr>
            <p:ph type="title"/>
          </p:nvPr>
        </p:nvSpPr>
        <p:spPr/>
        <p:txBody>
          <a:bodyPr>
            <a:normAutofit/>
          </a:bodyPr>
          <a:lstStyle/>
          <a:p>
            <a:r>
              <a:rPr lang="en-IN" sz="3600" b="1" dirty="0"/>
              <a:t>The Bounded-Buffer (Producer Consumer  Problem)</a:t>
            </a:r>
          </a:p>
        </p:txBody>
      </p:sp>
      <p:sp>
        <p:nvSpPr>
          <p:cNvPr id="3" name="Content Placeholder 2">
            <a:extLst>
              <a:ext uri="{FF2B5EF4-FFF2-40B4-BE49-F238E27FC236}">
                <a16:creationId xmlns:a16="http://schemas.microsoft.com/office/drawing/2014/main" id="{3ABF7FB9-68F3-2A16-656E-A8A5C74C5083}"/>
              </a:ext>
            </a:extLst>
          </p:cNvPr>
          <p:cNvSpPr>
            <a:spLocks noGrp="1"/>
          </p:cNvSpPr>
          <p:nvPr>
            <p:ph idx="1"/>
          </p:nvPr>
        </p:nvSpPr>
        <p:spPr/>
        <p:txBody>
          <a:bodyPr>
            <a:normAutofit/>
          </a:bodyPr>
          <a:lstStyle/>
          <a:p>
            <a:pPr algn="just"/>
            <a:r>
              <a:rPr lang="en-US" sz="2400" b="0" i="0" dirty="0">
                <a:solidFill>
                  <a:srgbClr val="273239"/>
                </a:solidFill>
                <a:effectLst/>
                <a:latin typeface="Nunito" pitchFamily="2" charset="0"/>
              </a:rPr>
              <a:t> The problem describes two processes, the producer and the consumer, which share a common, fixed-size buffer .</a:t>
            </a:r>
          </a:p>
          <a:p>
            <a:pPr algn="just"/>
            <a:r>
              <a:rPr lang="en-US" sz="2400" dirty="0">
                <a:solidFill>
                  <a:srgbClr val="273239"/>
                </a:solidFill>
                <a:latin typeface="Nunito" pitchFamily="2" charset="0"/>
              </a:rPr>
              <a:t>Producer produces information by inserts data into empty slots of buffer.</a:t>
            </a:r>
          </a:p>
          <a:p>
            <a:pPr algn="just"/>
            <a:r>
              <a:rPr lang="en-US" sz="2400" b="0" i="0" dirty="0">
                <a:solidFill>
                  <a:srgbClr val="273239"/>
                </a:solidFill>
                <a:effectLst/>
                <a:latin typeface="Nunito" pitchFamily="2" charset="0"/>
              </a:rPr>
              <a:t>Consumer consumes information by removing data from the filled in slots of buffer.</a:t>
            </a:r>
          </a:p>
          <a:p>
            <a:pPr algn="just"/>
            <a:r>
              <a:rPr lang="en-US" sz="2400" dirty="0">
                <a:solidFill>
                  <a:srgbClr val="273239"/>
                </a:solidFill>
                <a:latin typeface="Nunito" pitchFamily="2" charset="0"/>
              </a:rPr>
              <a:t>Producer must not produce when the buffer is full.</a:t>
            </a:r>
          </a:p>
          <a:p>
            <a:pPr algn="just"/>
            <a:r>
              <a:rPr lang="en-US" sz="2400" b="0" i="0" dirty="0">
                <a:solidFill>
                  <a:srgbClr val="273239"/>
                </a:solidFill>
                <a:effectLst/>
                <a:latin typeface="Nunito" pitchFamily="2" charset="0"/>
              </a:rPr>
              <a:t>Consumer must not consume when the buffer is empty.</a:t>
            </a:r>
          </a:p>
          <a:p>
            <a:pPr algn="just"/>
            <a:r>
              <a:rPr lang="en-US" sz="2400" b="0" i="0" dirty="0">
                <a:solidFill>
                  <a:srgbClr val="273239"/>
                </a:solidFill>
                <a:effectLst/>
                <a:latin typeface="Nunito" pitchFamily="2" charset="0"/>
              </a:rPr>
              <a:t>Producer and consumer should not insert and remove simultaneously.</a:t>
            </a:r>
          </a:p>
          <a:p>
            <a:pPr algn="just"/>
            <a:endParaRPr lang="en-IN" sz="2400" dirty="0"/>
          </a:p>
        </p:txBody>
      </p:sp>
    </p:spTree>
    <p:extLst>
      <p:ext uri="{BB962C8B-B14F-4D97-AF65-F5344CB8AC3E}">
        <p14:creationId xmlns:p14="http://schemas.microsoft.com/office/powerpoint/2010/main" val="2973200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F55464-7C32-DD8D-D05F-68DE626069F3}"/>
              </a:ext>
            </a:extLst>
          </p:cNvPr>
          <p:cNvSpPr>
            <a:spLocks noGrp="1"/>
          </p:cNvSpPr>
          <p:nvPr>
            <p:ph idx="1"/>
          </p:nvPr>
        </p:nvSpPr>
        <p:spPr>
          <a:xfrm>
            <a:off x="838200" y="934278"/>
            <a:ext cx="10515600" cy="5242685"/>
          </a:xfrm>
        </p:spPr>
        <p:txBody>
          <a:bodyPr>
            <a:normAutofit/>
          </a:bodyPr>
          <a:lstStyle/>
          <a:p>
            <a:pPr algn="just"/>
            <a:r>
              <a:rPr lang="en-US" dirty="0"/>
              <a:t>The producer and consumer processes share the following data structures: </a:t>
            </a:r>
          </a:p>
          <a:p>
            <a:pPr lvl="7" algn="just"/>
            <a:r>
              <a:rPr lang="en-US" sz="2400" dirty="0"/>
              <a:t>int n; </a:t>
            </a:r>
          </a:p>
          <a:p>
            <a:pPr lvl="7" algn="just"/>
            <a:r>
              <a:rPr lang="en-US" sz="2400" dirty="0"/>
              <a:t>semaphore mutex = 1; </a:t>
            </a:r>
          </a:p>
          <a:p>
            <a:pPr lvl="7" algn="just"/>
            <a:r>
              <a:rPr lang="en-US" sz="2400" dirty="0"/>
              <a:t>semaphore empty = n; </a:t>
            </a:r>
          </a:p>
          <a:p>
            <a:pPr lvl="7" algn="just"/>
            <a:r>
              <a:rPr lang="en-US" sz="2400" dirty="0"/>
              <a:t>semaphore full = 0</a:t>
            </a:r>
          </a:p>
          <a:p>
            <a:pPr algn="just"/>
            <a:r>
              <a:rPr lang="en-US" sz="2400" dirty="0"/>
              <a:t>The pool consists of n buffers, each capable of holding one item. </a:t>
            </a:r>
          </a:p>
          <a:p>
            <a:pPr algn="just"/>
            <a:r>
              <a:rPr lang="en-US" sz="2400" dirty="0"/>
              <a:t>The mutex binary semaphore provides mutual exclusion for accesses to the buffer pool and is initialized to the value 1. </a:t>
            </a:r>
          </a:p>
          <a:p>
            <a:pPr algn="just"/>
            <a:r>
              <a:rPr lang="en-US" sz="2400" dirty="0"/>
              <a:t>The empty and full semaphores count the number of empty and full buffers. The semaphore empty is initialized to the value n; the semaphore full is initialized to the value 0.</a:t>
            </a:r>
            <a:endParaRPr lang="en-IN" sz="3400" dirty="0"/>
          </a:p>
        </p:txBody>
      </p:sp>
    </p:spTree>
    <p:extLst>
      <p:ext uri="{BB962C8B-B14F-4D97-AF65-F5344CB8AC3E}">
        <p14:creationId xmlns:p14="http://schemas.microsoft.com/office/powerpoint/2010/main" val="1778134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9F4147-3BBE-9D30-66BF-4FF7A9D5DAB9}"/>
              </a:ext>
            </a:extLst>
          </p:cNvPr>
          <p:cNvPicPr>
            <a:picLocks noChangeAspect="1"/>
          </p:cNvPicPr>
          <p:nvPr/>
        </p:nvPicPr>
        <p:blipFill>
          <a:blip r:embed="rId2"/>
          <a:stretch>
            <a:fillRect/>
          </a:stretch>
        </p:blipFill>
        <p:spPr>
          <a:xfrm>
            <a:off x="378773" y="681037"/>
            <a:ext cx="4600730" cy="5441467"/>
          </a:xfrm>
          <a:prstGeom prst="rect">
            <a:avLst/>
          </a:prstGeom>
        </p:spPr>
      </p:pic>
      <p:pic>
        <p:nvPicPr>
          <p:cNvPr id="7" name="Picture 6">
            <a:extLst>
              <a:ext uri="{FF2B5EF4-FFF2-40B4-BE49-F238E27FC236}">
                <a16:creationId xmlns:a16="http://schemas.microsoft.com/office/drawing/2014/main" id="{F617B981-F37C-9475-B5A7-903D9ED379C3}"/>
              </a:ext>
            </a:extLst>
          </p:cNvPr>
          <p:cNvPicPr>
            <a:picLocks noChangeAspect="1"/>
          </p:cNvPicPr>
          <p:nvPr/>
        </p:nvPicPr>
        <p:blipFill>
          <a:blip r:embed="rId3"/>
          <a:stretch>
            <a:fillRect/>
          </a:stretch>
        </p:blipFill>
        <p:spPr>
          <a:xfrm>
            <a:off x="5615610" y="725557"/>
            <a:ext cx="5963478" cy="5573155"/>
          </a:xfrm>
          <a:prstGeom prst="rect">
            <a:avLst/>
          </a:prstGeom>
        </p:spPr>
      </p:pic>
    </p:spTree>
    <p:extLst>
      <p:ext uri="{BB962C8B-B14F-4D97-AF65-F5344CB8AC3E}">
        <p14:creationId xmlns:p14="http://schemas.microsoft.com/office/powerpoint/2010/main" val="3737558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E633-BB0A-7328-F5D3-F43412D01961}"/>
              </a:ext>
            </a:extLst>
          </p:cNvPr>
          <p:cNvSpPr>
            <a:spLocks noGrp="1"/>
          </p:cNvSpPr>
          <p:nvPr>
            <p:ph type="title"/>
          </p:nvPr>
        </p:nvSpPr>
        <p:spPr/>
        <p:txBody>
          <a:bodyPr vert="horz" lIns="91440" tIns="45720" rIns="91440" bIns="45720" rtlCol="0" anchor="ctr">
            <a:normAutofit/>
          </a:bodyPr>
          <a:lstStyle/>
          <a:p>
            <a:r>
              <a:rPr lang="en-US" sz="3600" b="1" dirty="0"/>
              <a:t>The Reader Writers problem</a:t>
            </a:r>
            <a:endParaRPr lang="en-IN" sz="3600" b="1" dirty="0"/>
          </a:p>
        </p:txBody>
      </p:sp>
      <p:sp>
        <p:nvSpPr>
          <p:cNvPr id="3" name="Content Placeholder 2">
            <a:extLst>
              <a:ext uri="{FF2B5EF4-FFF2-40B4-BE49-F238E27FC236}">
                <a16:creationId xmlns:a16="http://schemas.microsoft.com/office/drawing/2014/main" id="{2B105BC8-7D4E-2093-3E75-E9ED74682203}"/>
              </a:ext>
            </a:extLst>
          </p:cNvPr>
          <p:cNvSpPr>
            <a:spLocks noGrp="1"/>
          </p:cNvSpPr>
          <p:nvPr>
            <p:ph idx="1"/>
          </p:nvPr>
        </p:nvSpPr>
        <p:spPr/>
        <p:txBody>
          <a:bodyPr>
            <a:normAutofit/>
          </a:bodyPr>
          <a:lstStyle/>
          <a:p>
            <a:pPr algn="just" rtl="0" fontAlgn="base">
              <a:spcAft>
                <a:spcPts val="750"/>
              </a:spcAft>
              <a:buNone/>
            </a:pPr>
            <a:r>
              <a:rPr lang="en-US" sz="2400" b="0" i="0" dirty="0">
                <a:solidFill>
                  <a:srgbClr val="273239"/>
                </a:solidFill>
                <a:effectLst/>
                <a:latin typeface="Nunito" pitchFamily="2" charset="0"/>
              </a:rPr>
              <a:t>The Readers-Writers Problem is a classic synchronization issue in operating systems that involves managing access to shared data by multiple threads or processes. The problem addresses the scenario where:</a:t>
            </a:r>
          </a:p>
          <a:p>
            <a:pPr lvl="1" algn="just" fontAlgn="base">
              <a:spcAft>
                <a:spcPts val="1800"/>
              </a:spcAft>
            </a:pPr>
            <a:r>
              <a:rPr lang="en-US" sz="2000" b="1" i="0" dirty="0">
                <a:solidFill>
                  <a:srgbClr val="273239"/>
                </a:solidFill>
                <a:effectLst/>
                <a:latin typeface="Nunito" pitchFamily="2" charset="0"/>
              </a:rPr>
              <a:t>Readers</a:t>
            </a:r>
            <a:r>
              <a:rPr lang="en-US" sz="2000" b="0" i="0" dirty="0">
                <a:solidFill>
                  <a:srgbClr val="273239"/>
                </a:solidFill>
                <a:effectLst/>
                <a:latin typeface="Nunito" pitchFamily="2" charset="0"/>
              </a:rPr>
              <a:t>: Multiple readers can access the shared data simultaneously without causing any issues because they are only reading and not modifying the data.</a:t>
            </a:r>
          </a:p>
          <a:p>
            <a:pPr lvl="1" algn="just" fontAlgn="base">
              <a:spcAft>
                <a:spcPts val="1800"/>
              </a:spcAft>
            </a:pPr>
            <a:r>
              <a:rPr lang="en-US" sz="2000" b="1" i="0" dirty="0">
                <a:solidFill>
                  <a:srgbClr val="273239"/>
                </a:solidFill>
                <a:effectLst/>
                <a:latin typeface="Nunito" pitchFamily="2" charset="0"/>
              </a:rPr>
              <a:t>Writers</a:t>
            </a:r>
            <a:r>
              <a:rPr lang="en-US" sz="2000" b="0" i="0" dirty="0">
                <a:solidFill>
                  <a:srgbClr val="273239"/>
                </a:solidFill>
                <a:effectLst/>
                <a:latin typeface="Nunito" pitchFamily="2" charset="0"/>
              </a:rPr>
              <a:t>: Only one writer can access the shared data at a time to ensure data integrity, as writers modify the data, and concurrent modifications could lead to data corruption or inconsistencies.</a:t>
            </a:r>
          </a:p>
          <a:p>
            <a:pPr algn="just"/>
            <a:endParaRPr lang="en-IN" sz="2400" dirty="0"/>
          </a:p>
        </p:txBody>
      </p:sp>
    </p:spTree>
    <p:extLst>
      <p:ext uri="{BB962C8B-B14F-4D97-AF65-F5344CB8AC3E}">
        <p14:creationId xmlns:p14="http://schemas.microsoft.com/office/powerpoint/2010/main" val="1402393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A899CA-6EA9-72D2-0ABC-409B65324FE5}"/>
              </a:ext>
            </a:extLst>
          </p:cNvPr>
          <p:cNvSpPr>
            <a:spLocks noGrp="1"/>
          </p:cNvSpPr>
          <p:nvPr>
            <p:ph idx="1"/>
          </p:nvPr>
        </p:nvSpPr>
        <p:spPr>
          <a:xfrm>
            <a:off x="838200" y="825910"/>
            <a:ext cx="10515600" cy="5351053"/>
          </a:xfrm>
        </p:spPr>
        <p:txBody>
          <a:bodyPr>
            <a:normAutofit lnSpcReduction="10000"/>
          </a:bodyPr>
          <a:lstStyle/>
          <a:p>
            <a:pPr algn="just" rtl="0" fontAlgn="base">
              <a:spcAft>
                <a:spcPts val="750"/>
              </a:spcAft>
              <a:buNone/>
            </a:pPr>
            <a:r>
              <a:rPr lang="en-US" sz="2400" b="0" i="0" dirty="0">
                <a:solidFill>
                  <a:srgbClr val="273239"/>
                </a:solidFill>
                <a:effectLst/>
                <a:latin typeface="Nunito" pitchFamily="2" charset="0"/>
              </a:rPr>
              <a:t>The challenge now becomes how to create a synchronization scheme such that the following is supported:</a:t>
            </a:r>
          </a:p>
          <a:p>
            <a:pPr algn="l" fontAlgn="base">
              <a:spcAft>
                <a:spcPts val="1800"/>
              </a:spcAft>
              <a:buFont typeface="Arial" panose="020B0604020202020204" pitchFamily="34" charset="0"/>
              <a:buChar char="•"/>
            </a:pPr>
            <a:r>
              <a:rPr lang="en-US" sz="2400" b="1" i="0" dirty="0">
                <a:solidFill>
                  <a:srgbClr val="273239"/>
                </a:solidFill>
                <a:effectLst/>
                <a:latin typeface="Nunito" pitchFamily="2" charset="0"/>
              </a:rPr>
              <a:t>Multiple Readers</a:t>
            </a:r>
            <a:r>
              <a:rPr lang="en-US" sz="2400" b="0" i="0" dirty="0">
                <a:solidFill>
                  <a:srgbClr val="273239"/>
                </a:solidFill>
                <a:effectLst/>
                <a:latin typeface="Nunito" pitchFamily="2" charset="0"/>
              </a:rPr>
              <a:t>: A number of readers may access simultaneously if no writer is presently writing.</a:t>
            </a:r>
          </a:p>
          <a:p>
            <a:pPr algn="l" fontAlgn="base">
              <a:spcAft>
                <a:spcPts val="1800"/>
              </a:spcAft>
              <a:buFont typeface="Arial" panose="020B0604020202020204" pitchFamily="34" charset="0"/>
              <a:buChar char="•"/>
            </a:pPr>
            <a:r>
              <a:rPr lang="en-US" sz="2400" b="1" i="0" dirty="0">
                <a:solidFill>
                  <a:srgbClr val="273239"/>
                </a:solidFill>
                <a:effectLst/>
                <a:latin typeface="Nunito" pitchFamily="2" charset="0"/>
              </a:rPr>
              <a:t>Exclusion for Writers</a:t>
            </a:r>
            <a:r>
              <a:rPr lang="en-US" sz="2400" b="0" i="0" dirty="0">
                <a:solidFill>
                  <a:srgbClr val="273239"/>
                </a:solidFill>
                <a:effectLst/>
                <a:latin typeface="Nunito" pitchFamily="2" charset="0"/>
              </a:rPr>
              <a:t>: If one writer is writing, no other reader or writer may access the common resource.</a:t>
            </a:r>
          </a:p>
          <a:p>
            <a:pPr algn="l" fontAlgn="base">
              <a:spcAft>
                <a:spcPts val="1800"/>
              </a:spcAft>
              <a:buFont typeface="Arial" panose="020B0604020202020204" pitchFamily="34" charset="0"/>
              <a:buChar char="•"/>
            </a:pPr>
            <a:r>
              <a:rPr lang="en-US" sz="2400" b="0" i="0" dirty="0">
                <a:solidFill>
                  <a:srgbClr val="273239"/>
                </a:solidFill>
                <a:effectLst/>
                <a:latin typeface="Nunito" pitchFamily="2" charset="0"/>
              </a:rPr>
              <a:t>In the solution to the first readers–writers problem, the reader processes share the following data structures:</a:t>
            </a:r>
          </a:p>
          <a:p>
            <a:pPr lvl="8" fontAlgn="base">
              <a:spcAft>
                <a:spcPts val="1800"/>
              </a:spcAft>
            </a:pPr>
            <a:r>
              <a:rPr lang="en-US" sz="2000" b="1" i="0" dirty="0">
                <a:solidFill>
                  <a:srgbClr val="273239"/>
                </a:solidFill>
                <a:effectLst/>
                <a:latin typeface="Nunito" pitchFamily="2" charset="0"/>
              </a:rPr>
              <a:t>semaphore </a:t>
            </a:r>
            <a:r>
              <a:rPr lang="en-US" sz="2000" b="1" i="0" dirty="0" err="1">
                <a:solidFill>
                  <a:srgbClr val="273239"/>
                </a:solidFill>
                <a:effectLst/>
                <a:latin typeface="Nunito" pitchFamily="2" charset="0"/>
              </a:rPr>
              <a:t>rw</a:t>
            </a:r>
            <a:r>
              <a:rPr lang="en-US" sz="2000" b="1" dirty="0" err="1">
                <a:solidFill>
                  <a:srgbClr val="273239"/>
                </a:solidFill>
                <a:latin typeface="Nunito" pitchFamily="2" charset="0"/>
              </a:rPr>
              <a:t>_</a:t>
            </a:r>
            <a:r>
              <a:rPr lang="en-US" sz="2000" b="1" i="0" dirty="0" err="1">
                <a:solidFill>
                  <a:srgbClr val="273239"/>
                </a:solidFill>
                <a:effectLst/>
                <a:latin typeface="Nunito" pitchFamily="2" charset="0"/>
              </a:rPr>
              <a:t>mutex</a:t>
            </a:r>
            <a:r>
              <a:rPr lang="en-US" sz="2000" b="1" i="0" dirty="0">
                <a:solidFill>
                  <a:srgbClr val="273239"/>
                </a:solidFill>
                <a:effectLst/>
                <a:latin typeface="Nunito" pitchFamily="2" charset="0"/>
              </a:rPr>
              <a:t> = 1;</a:t>
            </a:r>
          </a:p>
          <a:p>
            <a:pPr lvl="8" fontAlgn="base">
              <a:spcAft>
                <a:spcPts val="1800"/>
              </a:spcAft>
            </a:pPr>
            <a:r>
              <a:rPr lang="en-US" sz="2000" b="1" i="0" dirty="0">
                <a:solidFill>
                  <a:srgbClr val="273239"/>
                </a:solidFill>
                <a:effectLst/>
                <a:latin typeface="Nunito" pitchFamily="2" charset="0"/>
              </a:rPr>
              <a:t>semaphore mutex = 1;</a:t>
            </a:r>
          </a:p>
          <a:p>
            <a:pPr lvl="8" fontAlgn="base">
              <a:spcAft>
                <a:spcPts val="1800"/>
              </a:spcAft>
            </a:pPr>
            <a:r>
              <a:rPr lang="en-US" sz="2000" b="1" i="0" dirty="0">
                <a:solidFill>
                  <a:srgbClr val="273239"/>
                </a:solidFill>
                <a:effectLst/>
                <a:latin typeface="Nunito" pitchFamily="2" charset="0"/>
              </a:rPr>
              <a:t>int </a:t>
            </a:r>
            <a:r>
              <a:rPr lang="en-US" sz="2000" b="1" i="0" dirty="0" err="1">
                <a:solidFill>
                  <a:srgbClr val="273239"/>
                </a:solidFill>
                <a:effectLst/>
                <a:latin typeface="Nunito" pitchFamily="2" charset="0"/>
              </a:rPr>
              <a:t>read_count</a:t>
            </a:r>
            <a:r>
              <a:rPr lang="en-US" sz="2000" b="1" i="0" dirty="0">
                <a:solidFill>
                  <a:srgbClr val="273239"/>
                </a:solidFill>
                <a:effectLst/>
                <a:latin typeface="Nunito" pitchFamily="2" charset="0"/>
              </a:rPr>
              <a:t> = 0;</a:t>
            </a:r>
          </a:p>
          <a:p>
            <a:endParaRPr lang="en-IN" sz="2400" dirty="0"/>
          </a:p>
        </p:txBody>
      </p:sp>
    </p:spTree>
    <p:extLst>
      <p:ext uri="{BB962C8B-B14F-4D97-AF65-F5344CB8AC3E}">
        <p14:creationId xmlns:p14="http://schemas.microsoft.com/office/powerpoint/2010/main" val="141679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2DF2BB8-D0B0-5980-88D6-8FD063EEF06D}"/>
              </a:ext>
            </a:extLst>
          </p:cNvPr>
          <p:cNvPicPr>
            <a:picLocks noGrp="1" noChangeAspect="1"/>
          </p:cNvPicPr>
          <p:nvPr>
            <p:ph idx="1"/>
          </p:nvPr>
        </p:nvPicPr>
        <p:blipFill>
          <a:blip r:embed="rId2"/>
          <a:stretch>
            <a:fillRect/>
          </a:stretch>
        </p:blipFill>
        <p:spPr>
          <a:xfrm>
            <a:off x="6695769" y="596591"/>
            <a:ext cx="4878926" cy="5322427"/>
          </a:xfrm>
        </p:spPr>
      </p:pic>
      <p:pic>
        <p:nvPicPr>
          <p:cNvPr id="5" name="Picture 4">
            <a:extLst>
              <a:ext uri="{FF2B5EF4-FFF2-40B4-BE49-F238E27FC236}">
                <a16:creationId xmlns:a16="http://schemas.microsoft.com/office/drawing/2014/main" id="{FA524D81-409A-3B35-07BC-FD658195E95D}"/>
              </a:ext>
            </a:extLst>
          </p:cNvPr>
          <p:cNvPicPr>
            <a:picLocks noChangeAspect="1"/>
          </p:cNvPicPr>
          <p:nvPr/>
        </p:nvPicPr>
        <p:blipFill>
          <a:blip r:embed="rId3"/>
          <a:stretch>
            <a:fillRect/>
          </a:stretch>
        </p:blipFill>
        <p:spPr>
          <a:xfrm>
            <a:off x="701617" y="1590418"/>
            <a:ext cx="5544324" cy="3677163"/>
          </a:xfrm>
          <a:prstGeom prst="rect">
            <a:avLst/>
          </a:prstGeom>
        </p:spPr>
      </p:pic>
    </p:spTree>
    <p:extLst>
      <p:ext uri="{BB962C8B-B14F-4D97-AF65-F5344CB8AC3E}">
        <p14:creationId xmlns:p14="http://schemas.microsoft.com/office/powerpoint/2010/main" val="1218752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F1C10A-6C53-E576-7EE2-BDC9E8632AB5}"/>
              </a:ext>
            </a:extLst>
          </p:cNvPr>
          <p:cNvSpPr>
            <a:spLocks noGrp="1"/>
          </p:cNvSpPr>
          <p:nvPr>
            <p:ph idx="1"/>
          </p:nvPr>
        </p:nvSpPr>
        <p:spPr>
          <a:xfrm>
            <a:off x="838200" y="1302026"/>
            <a:ext cx="10515600" cy="4874937"/>
          </a:xfrm>
        </p:spPr>
        <p:txBody>
          <a:bodyPr/>
          <a:lstStyle/>
          <a:p>
            <a:pPr algn="just"/>
            <a:r>
              <a:rPr lang="en-US" dirty="0"/>
              <a:t>The </a:t>
            </a:r>
            <a:r>
              <a:rPr lang="en-US" b="1" dirty="0"/>
              <a:t>mutex</a:t>
            </a:r>
            <a:r>
              <a:rPr lang="en-US" dirty="0"/>
              <a:t> semaphore is used to ensure mutual exclusion when the variable read count is updated. </a:t>
            </a:r>
          </a:p>
          <a:p>
            <a:pPr algn="just"/>
            <a:r>
              <a:rPr lang="en-US" dirty="0"/>
              <a:t>The </a:t>
            </a:r>
            <a:r>
              <a:rPr lang="en-US" b="1" dirty="0" err="1"/>
              <a:t>read_count</a:t>
            </a:r>
            <a:r>
              <a:rPr lang="en-US" b="1" dirty="0"/>
              <a:t> </a:t>
            </a:r>
            <a:r>
              <a:rPr lang="en-US" dirty="0"/>
              <a:t>variable keeps track of how many processes are currently reading the object. </a:t>
            </a:r>
          </a:p>
          <a:p>
            <a:pPr algn="just"/>
            <a:r>
              <a:rPr lang="en-US" dirty="0"/>
              <a:t>The semaphore </a:t>
            </a:r>
            <a:r>
              <a:rPr lang="en-US" b="1" dirty="0" err="1"/>
              <a:t>rw_mutex</a:t>
            </a:r>
            <a:r>
              <a:rPr lang="en-US" b="1" dirty="0"/>
              <a:t> </a:t>
            </a:r>
            <a:r>
              <a:rPr lang="en-US" dirty="0"/>
              <a:t>functions as a mutual exclusion semaphore for the writers. </a:t>
            </a:r>
          </a:p>
          <a:p>
            <a:pPr lvl="1" algn="just"/>
            <a:r>
              <a:rPr lang="en-US" dirty="0"/>
              <a:t>It is also used by the first or last reader that enters or exits the critical section. It is not used by readers that enter or exit while other readers are in their critical sections</a:t>
            </a:r>
            <a:endParaRPr lang="en-IN" dirty="0"/>
          </a:p>
        </p:txBody>
      </p:sp>
    </p:spTree>
    <p:extLst>
      <p:ext uri="{BB962C8B-B14F-4D97-AF65-F5344CB8AC3E}">
        <p14:creationId xmlns:p14="http://schemas.microsoft.com/office/powerpoint/2010/main" val="2961092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86EACD-2AEA-E734-74AE-42FCC812CFF4}"/>
              </a:ext>
            </a:extLst>
          </p:cNvPr>
          <p:cNvSpPr>
            <a:spLocks noGrp="1"/>
          </p:cNvSpPr>
          <p:nvPr>
            <p:ph idx="1"/>
          </p:nvPr>
        </p:nvSpPr>
        <p:spPr/>
        <p:txBody>
          <a:bodyPr>
            <a:normAutofit/>
          </a:bodyPr>
          <a:lstStyle/>
          <a:p>
            <a:pPr algn="just">
              <a:lnSpc>
                <a:spcPct val="100000"/>
              </a:lnSpc>
            </a:pPr>
            <a:r>
              <a:rPr lang="en-US" sz="2000" b="0" i="0" dirty="0">
                <a:solidFill>
                  <a:srgbClr val="273239"/>
                </a:solidFill>
                <a:effectLst/>
                <a:latin typeface="Nunito" pitchFamily="2" charset="0"/>
              </a:rPr>
              <a:t>The </a:t>
            </a:r>
            <a:r>
              <a:rPr lang="en-US" sz="2000" b="1" i="0" dirty="0">
                <a:solidFill>
                  <a:srgbClr val="273239"/>
                </a:solidFill>
                <a:effectLst/>
                <a:latin typeface="Nunito" pitchFamily="2" charset="0"/>
              </a:rPr>
              <a:t>Dining Philosopher Problem</a:t>
            </a:r>
            <a:r>
              <a:rPr lang="en-US" sz="2000" b="0" i="0" dirty="0">
                <a:solidFill>
                  <a:srgbClr val="273239"/>
                </a:solidFill>
                <a:effectLst/>
                <a:latin typeface="Nunito" pitchFamily="2" charset="0"/>
              </a:rPr>
              <a:t> is a classic synchronization and concurrency problem that deals with resource sharing, deadlock, and starvation in systems where multiple processes require limited resources.</a:t>
            </a:r>
          </a:p>
          <a:p>
            <a:pPr algn="just">
              <a:lnSpc>
                <a:spcPct val="100000"/>
              </a:lnSpc>
            </a:pPr>
            <a:r>
              <a:rPr lang="en-US" sz="2000" b="0" i="0" dirty="0">
                <a:solidFill>
                  <a:srgbClr val="273239"/>
                </a:solidFill>
                <a:effectLst/>
                <a:latin typeface="Nunito" pitchFamily="2" charset="0"/>
              </a:rPr>
              <a:t>The </a:t>
            </a:r>
            <a:r>
              <a:rPr lang="en-US" sz="2000" b="1" i="0" dirty="0">
                <a:solidFill>
                  <a:srgbClr val="273239"/>
                </a:solidFill>
                <a:effectLst/>
                <a:latin typeface="Nunito" pitchFamily="2" charset="0"/>
              </a:rPr>
              <a:t>Dining Philosopher Problem</a:t>
            </a:r>
            <a:r>
              <a:rPr lang="en-US" sz="2000" b="0" i="0" dirty="0">
                <a:solidFill>
                  <a:srgbClr val="273239"/>
                </a:solidFill>
                <a:effectLst/>
                <a:latin typeface="Nunito" pitchFamily="2" charset="0"/>
              </a:rPr>
              <a:t> involves ‘n’ philosophers sitting around a circular table.</a:t>
            </a:r>
          </a:p>
          <a:p>
            <a:pPr algn="just">
              <a:lnSpc>
                <a:spcPct val="100000"/>
              </a:lnSpc>
            </a:pPr>
            <a:r>
              <a:rPr lang="en-US" sz="2000" b="0" i="0" dirty="0">
                <a:solidFill>
                  <a:srgbClr val="273239"/>
                </a:solidFill>
                <a:effectLst/>
                <a:latin typeface="Nunito" pitchFamily="2" charset="0"/>
              </a:rPr>
              <a:t> Each philosopher alternates between two states: </a:t>
            </a:r>
            <a:r>
              <a:rPr lang="en-US" sz="2000" b="1" i="0" dirty="0">
                <a:solidFill>
                  <a:srgbClr val="273239"/>
                </a:solidFill>
                <a:effectLst/>
                <a:latin typeface="Nunito" pitchFamily="2" charset="0"/>
              </a:rPr>
              <a:t>thinking</a:t>
            </a:r>
            <a:r>
              <a:rPr lang="en-US" sz="2000" b="0" i="0" dirty="0">
                <a:solidFill>
                  <a:srgbClr val="273239"/>
                </a:solidFill>
                <a:effectLst/>
                <a:latin typeface="Nunito" pitchFamily="2" charset="0"/>
              </a:rPr>
              <a:t> and </a:t>
            </a:r>
            <a:r>
              <a:rPr lang="en-US" sz="2000" b="1" i="0" dirty="0">
                <a:solidFill>
                  <a:srgbClr val="273239"/>
                </a:solidFill>
                <a:effectLst/>
                <a:latin typeface="Nunito" pitchFamily="2" charset="0"/>
              </a:rPr>
              <a:t>eating</a:t>
            </a:r>
            <a:r>
              <a:rPr lang="en-US" sz="2000" b="0" i="0" dirty="0">
                <a:solidFill>
                  <a:srgbClr val="273239"/>
                </a:solidFill>
                <a:effectLst/>
                <a:latin typeface="Nunito" pitchFamily="2" charset="0"/>
              </a:rPr>
              <a:t>. </a:t>
            </a:r>
          </a:p>
          <a:p>
            <a:pPr algn="just">
              <a:lnSpc>
                <a:spcPct val="100000"/>
              </a:lnSpc>
            </a:pPr>
            <a:r>
              <a:rPr lang="en-US" sz="2000" b="0" i="0" dirty="0">
                <a:solidFill>
                  <a:srgbClr val="273239"/>
                </a:solidFill>
                <a:effectLst/>
                <a:latin typeface="Nunito" pitchFamily="2" charset="0"/>
              </a:rPr>
              <a:t>To eat, a philosopher needs two chopsticks, one on their left and one on their right. </a:t>
            </a:r>
          </a:p>
          <a:p>
            <a:pPr algn="just">
              <a:lnSpc>
                <a:spcPct val="100000"/>
              </a:lnSpc>
            </a:pPr>
            <a:r>
              <a:rPr lang="en-US" sz="2000" b="0" i="0" dirty="0">
                <a:solidFill>
                  <a:srgbClr val="273239"/>
                </a:solidFill>
                <a:effectLst/>
                <a:latin typeface="Nunito" pitchFamily="2" charset="0"/>
              </a:rPr>
              <a:t>However, the number of chopsticks is equal to the number of philosophers, and each chopstick is shared between two neighboring philosophers.</a:t>
            </a:r>
            <a:endParaRPr lang="en-IN" sz="2000" dirty="0"/>
          </a:p>
        </p:txBody>
      </p:sp>
      <p:sp>
        <p:nvSpPr>
          <p:cNvPr id="4" name="Title 1">
            <a:extLst>
              <a:ext uri="{FF2B5EF4-FFF2-40B4-BE49-F238E27FC236}">
                <a16:creationId xmlns:a16="http://schemas.microsoft.com/office/drawing/2014/main" id="{FAA27C39-3136-E2FF-B90D-EAC52AD0C9F9}"/>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3600" b="1" dirty="0"/>
              <a:t>The Dining Philosophers problem</a:t>
            </a:r>
            <a:endParaRPr lang="en-IN" sz="3600" b="1" dirty="0"/>
          </a:p>
        </p:txBody>
      </p:sp>
    </p:spTree>
    <p:extLst>
      <p:ext uri="{BB962C8B-B14F-4D97-AF65-F5344CB8AC3E}">
        <p14:creationId xmlns:p14="http://schemas.microsoft.com/office/powerpoint/2010/main" val="92606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a:extLst>
              <a:ext uri="{FF2B5EF4-FFF2-40B4-BE49-F238E27FC236}">
                <a16:creationId xmlns:a16="http://schemas.microsoft.com/office/drawing/2014/main" id="{FF7ABFC9-D802-7C84-0B1D-F30441F402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063486"/>
            <a:ext cx="6539948" cy="431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466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DA2400-299D-0F76-F1E0-90F19BF63391}"/>
              </a:ext>
            </a:extLst>
          </p:cNvPr>
          <p:cNvSpPr>
            <a:spLocks noGrp="1"/>
          </p:cNvSpPr>
          <p:nvPr>
            <p:ph idx="1"/>
          </p:nvPr>
        </p:nvSpPr>
        <p:spPr>
          <a:xfrm>
            <a:off x="838200" y="805070"/>
            <a:ext cx="10515600" cy="5371893"/>
          </a:xfrm>
        </p:spPr>
        <p:txBody>
          <a:bodyPr>
            <a:normAutofit/>
          </a:bodyPr>
          <a:lstStyle/>
          <a:p>
            <a:pPr algn="just" fontAlgn="base">
              <a:spcBef>
                <a:spcPts val="1800"/>
              </a:spcBef>
              <a:spcAft>
                <a:spcPts val="1800"/>
              </a:spcAft>
              <a:buNone/>
            </a:pPr>
            <a:r>
              <a:rPr lang="en-US" sz="2400" b="1" i="0" dirty="0">
                <a:solidFill>
                  <a:srgbClr val="273239"/>
                </a:solidFill>
                <a:effectLst/>
                <a:latin typeface="Nunito" pitchFamily="2" charset="0"/>
              </a:rPr>
              <a:t>Constraints and Conditions for the Problem</a:t>
            </a:r>
          </a:p>
          <a:p>
            <a:pPr algn="just" fontAlgn="base">
              <a:spcAft>
                <a:spcPts val="1800"/>
              </a:spcAft>
              <a:buFont typeface="Arial" panose="020B0604020202020204" pitchFamily="34" charset="0"/>
              <a:buChar char="•"/>
            </a:pPr>
            <a:r>
              <a:rPr lang="en-US" sz="2400" b="0" i="0" dirty="0">
                <a:solidFill>
                  <a:srgbClr val="273239"/>
                </a:solidFill>
                <a:effectLst/>
                <a:latin typeface="Nunito" pitchFamily="2" charset="0"/>
              </a:rPr>
              <a:t>Every Philosopher needs two forks to eat.</a:t>
            </a:r>
          </a:p>
          <a:p>
            <a:pPr algn="just" fontAlgn="base">
              <a:spcAft>
                <a:spcPts val="1800"/>
              </a:spcAft>
              <a:buFont typeface="Arial" panose="020B0604020202020204" pitchFamily="34" charset="0"/>
              <a:buChar char="•"/>
            </a:pPr>
            <a:r>
              <a:rPr lang="en-US" sz="2400" b="0" i="0" dirty="0">
                <a:solidFill>
                  <a:srgbClr val="273239"/>
                </a:solidFill>
                <a:effectLst/>
                <a:latin typeface="Nunito" pitchFamily="2" charset="0"/>
              </a:rPr>
              <a:t>Every Philosopher may pick up the forks on the left or right but only one fork at once.</a:t>
            </a:r>
          </a:p>
          <a:p>
            <a:pPr algn="just" fontAlgn="base">
              <a:spcAft>
                <a:spcPts val="1800"/>
              </a:spcAft>
              <a:buFont typeface="Arial" panose="020B0604020202020204" pitchFamily="34" charset="0"/>
              <a:buChar char="•"/>
            </a:pPr>
            <a:r>
              <a:rPr lang="en-US" sz="2400" b="0" i="0" dirty="0">
                <a:solidFill>
                  <a:srgbClr val="273239"/>
                </a:solidFill>
                <a:effectLst/>
                <a:latin typeface="Nunito" pitchFamily="2" charset="0"/>
              </a:rPr>
              <a:t>Philosophers only eat when they have two forks. We have to design such a protocol i.e. pre and post protocol which ensures that a philosopher only eats if he or she has two forks.</a:t>
            </a:r>
          </a:p>
          <a:p>
            <a:pPr algn="just"/>
            <a:endParaRPr lang="en-IN" sz="2400" dirty="0"/>
          </a:p>
        </p:txBody>
      </p:sp>
    </p:spTree>
    <p:extLst>
      <p:ext uri="{BB962C8B-B14F-4D97-AF65-F5344CB8AC3E}">
        <p14:creationId xmlns:p14="http://schemas.microsoft.com/office/powerpoint/2010/main" val="520442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AD083-4925-FDB0-EB63-BE9CDC10164B}"/>
              </a:ext>
            </a:extLst>
          </p:cNvPr>
          <p:cNvSpPr>
            <a:spLocks noGrp="1"/>
          </p:cNvSpPr>
          <p:nvPr>
            <p:ph type="title"/>
          </p:nvPr>
        </p:nvSpPr>
        <p:spPr/>
        <p:txBody>
          <a:bodyPr>
            <a:normAutofit/>
          </a:bodyPr>
          <a:lstStyle/>
          <a:p>
            <a:r>
              <a:rPr lang="en-US" sz="3200" b="1" dirty="0"/>
              <a:t>Solution using monitors : </a:t>
            </a:r>
            <a:endParaRPr lang="en-IN" sz="3200" b="1" dirty="0"/>
          </a:p>
        </p:txBody>
      </p:sp>
      <p:sp>
        <p:nvSpPr>
          <p:cNvPr id="3" name="Content Placeholder 2">
            <a:extLst>
              <a:ext uri="{FF2B5EF4-FFF2-40B4-BE49-F238E27FC236}">
                <a16:creationId xmlns:a16="http://schemas.microsoft.com/office/drawing/2014/main" id="{4969B2F7-5F00-193C-419E-42F1828C6713}"/>
              </a:ext>
            </a:extLst>
          </p:cNvPr>
          <p:cNvSpPr>
            <a:spLocks noGrp="1"/>
          </p:cNvSpPr>
          <p:nvPr>
            <p:ph idx="1"/>
          </p:nvPr>
        </p:nvSpPr>
        <p:spPr/>
        <p:txBody>
          <a:bodyPr>
            <a:normAutofit/>
          </a:bodyPr>
          <a:lstStyle/>
          <a:p>
            <a:r>
              <a:rPr lang="en-US" sz="2400" dirty="0"/>
              <a:t>Monitor presents a deadlock-free solution to the dining-philosophers problem. </a:t>
            </a:r>
          </a:p>
          <a:p>
            <a:r>
              <a:rPr lang="en-US" sz="2400" dirty="0"/>
              <a:t>This solution imposes the restriction that a philosopher may pick up her chopsticks only if both of them are available. </a:t>
            </a:r>
          </a:p>
          <a:p>
            <a:r>
              <a:rPr lang="en-US" sz="2400" dirty="0"/>
              <a:t>To code this solution, we need to distinguish among three states in which we may find a philosopher. </a:t>
            </a:r>
          </a:p>
          <a:p>
            <a:pPr lvl="1"/>
            <a:r>
              <a:rPr lang="en-US" dirty="0"/>
              <a:t>For this purpose, we introduce the following data structure: </a:t>
            </a:r>
          </a:p>
          <a:p>
            <a:pPr lvl="2"/>
            <a:r>
              <a:rPr lang="en-US" sz="2400" dirty="0" err="1"/>
              <a:t>enum</a:t>
            </a:r>
            <a:r>
              <a:rPr lang="en-US" sz="2400" dirty="0"/>
              <a:t> {THINKING, HUNGRY, EATING}   state[5];</a:t>
            </a:r>
            <a:endParaRPr lang="en-IN" sz="2400" dirty="0"/>
          </a:p>
        </p:txBody>
      </p:sp>
    </p:spTree>
    <p:extLst>
      <p:ext uri="{BB962C8B-B14F-4D97-AF65-F5344CB8AC3E}">
        <p14:creationId xmlns:p14="http://schemas.microsoft.com/office/powerpoint/2010/main" val="65702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6F56D0-2D83-A808-AB96-B6B7A50CE78F}"/>
              </a:ext>
            </a:extLst>
          </p:cNvPr>
          <p:cNvSpPr>
            <a:spLocks noGrp="1"/>
          </p:cNvSpPr>
          <p:nvPr>
            <p:ph idx="1"/>
          </p:nvPr>
        </p:nvSpPr>
        <p:spPr/>
        <p:txBody>
          <a:bodyPr>
            <a:normAutofit/>
          </a:bodyPr>
          <a:lstStyle/>
          <a:p>
            <a:pPr algn="just"/>
            <a:r>
              <a:rPr lang="en-US" dirty="0"/>
              <a:t>Philosopher </a:t>
            </a:r>
            <a:r>
              <a:rPr lang="en-US" dirty="0" err="1"/>
              <a:t>i</a:t>
            </a:r>
            <a:r>
              <a:rPr lang="en-US" dirty="0"/>
              <a:t> can set the variable state[</a:t>
            </a:r>
            <a:r>
              <a:rPr lang="en-US" dirty="0" err="1"/>
              <a:t>i</a:t>
            </a:r>
            <a:r>
              <a:rPr lang="en-US" dirty="0"/>
              <a:t>] = EATING only if her two neighbors are not eating: </a:t>
            </a:r>
          </a:p>
          <a:p>
            <a:pPr lvl="1" algn="just"/>
            <a:r>
              <a:rPr lang="en-US" sz="2800" dirty="0"/>
              <a:t>(state[(i+4) % 5] != EATING) and (state[(i+1) % 5] != EATING). </a:t>
            </a:r>
          </a:p>
          <a:p>
            <a:pPr algn="just"/>
            <a:r>
              <a:rPr lang="en-US" dirty="0"/>
              <a:t>We also need to declare condition self[5]; </a:t>
            </a:r>
          </a:p>
          <a:p>
            <a:pPr lvl="1" algn="just"/>
            <a:r>
              <a:rPr lang="en-US" sz="2800" dirty="0"/>
              <a:t>This allows philosopher </a:t>
            </a:r>
            <a:r>
              <a:rPr lang="en-US" sz="2800" dirty="0" err="1"/>
              <a:t>i</a:t>
            </a:r>
            <a:r>
              <a:rPr lang="en-US" sz="2800" dirty="0"/>
              <a:t> to delay self when she/he is hungry but is unable to obtain the chopsticks she/he needs.</a:t>
            </a:r>
            <a:endParaRPr lang="en-IN" sz="2800" dirty="0"/>
          </a:p>
        </p:txBody>
      </p:sp>
    </p:spTree>
    <p:extLst>
      <p:ext uri="{BB962C8B-B14F-4D97-AF65-F5344CB8AC3E}">
        <p14:creationId xmlns:p14="http://schemas.microsoft.com/office/powerpoint/2010/main" val="4129807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636726-1209-BF19-6FE1-B2BF9C48E176}"/>
              </a:ext>
            </a:extLst>
          </p:cNvPr>
          <p:cNvPicPr>
            <a:picLocks noGrp="1" noChangeAspect="1"/>
          </p:cNvPicPr>
          <p:nvPr>
            <p:ph idx="1"/>
          </p:nvPr>
        </p:nvPicPr>
        <p:blipFill>
          <a:blip r:embed="rId2"/>
          <a:stretch>
            <a:fillRect/>
          </a:stretch>
        </p:blipFill>
        <p:spPr>
          <a:xfrm>
            <a:off x="69574" y="745436"/>
            <a:ext cx="5930665" cy="529701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a:extLst>
              <a:ext uri="{FF2B5EF4-FFF2-40B4-BE49-F238E27FC236}">
                <a16:creationId xmlns:a16="http://schemas.microsoft.com/office/drawing/2014/main" id="{EF212C6D-17FE-2403-1DF9-C84D60D683DB}"/>
              </a:ext>
            </a:extLst>
          </p:cNvPr>
          <p:cNvPicPr>
            <a:picLocks noChangeAspect="1"/>
          </p:cNvPicPr>
          <p:nvPr/>
        </p:nvPicPr>
        <p:blipFill>
          <a:blip r:embed="rId3"/>
          <a:stretch>
            <a:fillRect/>
          </a:stretch>
        </p:blipFill>
        <p:spPr>
          <a:xfrm>
            <a:off x="6261652" y="745977"/>
            <a:ext cx="5730910" cy="529701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53877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1126</Words>
  <Application>Microsoft Office PowerPoint</Application>
  <PresentationFormat>Widescreen</PresentationFormat>
  <Paragraphs>68</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Nunito</vt:lpstr>
      <vt:lpstr>Office Theme</vt:lpstr>
      <vt:lpstr>MONITORS</vt:lpstr>
      <vt:lpstr>PowerPoint Presentation</vt:lpstr>
      <vt:lpstr>PowerPoint Presentation</vt:lpstr>
      <vt:lpstr>PowerPoint Presentation</vt:lpstr>
      <vt:lpstr>How deadlocks occur</vt:lpstr>
      <vt:lpstr>PowerPoint Presentation</vt:lpstr>
      <vt:lpstr>Classic Problems of Synchronization</vt:lpstr>
      <vt:lpstr>The Bounded-Buffer (Producer Consumer  Problem)</vt:lpstr>
      <vt:lpstr>PowerPoint Presentation</vt:lpstr>
      <vt:lpstr>PowerPoint Presentation</vt:lpstr>
      <vt:lpstr>The Reader Writers problem</vt:lpstr>
      <vt:lpstr>PowerPoint Presentation</vt:lpstr>
      <vt:lpstr>PowerPoint Presentation</vt:lpstr>
      <vt:lpstr>PowerPoint Presentation</vt:lpstr>
      <vt:lpstr>The Dining Philosophers problem</vt:lpstr>
      <vt:lpstr>PowerPoint Presentation</vt:lpstr>
      <vt:lpstr>PowerPoint Presentation</vt:lpstr>
      <vt:lpstr>Solution using monitors :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 Vinti</dc:creator>
  <cp:lastModifiedBy>Surya Vinti</cp:lastModifiedBy>
  <cp:revision>4</cp:revision>
  <dcterms:created xsi:type="dcterms:W3CDTF">2025-03-13T00:42:38Z</dcterms:created>
  <dcterms:modified xsi:type="dcterms:W3CDTF">2025-03-13T09:19:24Z</dcterms:modified>
</cp:coreProperties>
</file>