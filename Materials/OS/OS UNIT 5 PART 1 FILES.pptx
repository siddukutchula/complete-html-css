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569157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719517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279927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05C253-9325-4101-9872-991FF5F77A3A}"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1480727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05C253-9325-4101-9872-991FF5F77A3A}" type="datetimeFigureOut">
              <a:rPr lang="en-IN" smtClean="0"/>
              <a:t>26-03-2025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320614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05C253-9325-4101-9872-991FF5F77A3A}" type="datetimeFigureOut">
              <a:rPr lang="en-IN" smtClean="0"/>
              <a:t>26-03-2025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2236508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5C253-9325-4101-9872-991FF5F77A3A}" type="datetimeFigureOut">
              <a:rPr lang="en-IN" smtClean="0"/>
              <a:t>26-03-2025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1964056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05C253-9325-4101-9872-991FF5F77A3A}"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3965822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5C253-9325-4101-9872-991FF5F77A3A}"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297798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3558345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68755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186042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61352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4247344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2706218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05C253-9325-4101-9872-991FF5F77A3A}"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D05A48-0EC0-43FD-B8C9-42A7B7C473A3}" type="slidenum">
              <a:rPr lang="en-IN" smtClean="0"/>
              <a:t>‹#›</a:t>
            </a:fld>
            <a:endParaRPr lang="en-IN"/>
          </a:p>
        </p:txBody>
      </p:sp>
    </p:spTree>
    <p:extLst>
      <p:ext uri="{BB962C8B-B14F-4D97-AF65-F5344CB8AC3E}">
        <p14:creationId xmlns:p14="http://schemas.microsoft.com/office/powerpoint/2010/main" val="2304305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005C253-9325-4101-9872-991FF5F77A3A}" type="datetimeFigureOut">
              <a:rPr lang="en-IN" smtClean="0"/>
              <a:t>26-03-2025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BD05A48-0EC0-43FD-B8C9-42A7B7C473A3}" type="slidenum">
              <a:rPr lang="en-IN" smtClean="0"/>
              <a:t>‹#›</a:t>
            </a:fld>
            <a:endParaRPr lang="en-IN"/>
          </a:p>
        </p:txBody>
      </p:sp>
    </p:spTree>
    <p:extLst>
      <p:ext uri="{BB962C8B-B14F-4D97-AF65-F5344CB8AC3E}">
        <p14:creationId xmlns:p14="http://schemas.microsoft.com/office/powerpoint/2010/main" val="2669133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D5608-FD3D-6E62-8820-7F295F4B18FF}"/>
              </a:ext>
            </a:extLst>
          </p:cNvPr>
          <p:cNvSpPr>
            <a:spLocks noGrp="1"/>
          </p:cNvSpPr>
          <p:nvPr>
            <p:ph type="ctrTitle"/>
          </p:nvPr>
        </p:nvSpPr>
        <p:spPr>
          <a:xfrm>
            <a:off x="1507067" y="2129231"/>
            <a:ext cx="7766936" cy="1646302"/>
          </a:xfrm>
        </p:spPr>
        <p:txBody>
          <a:bodyPr/>
          <a:lstStyle/>
          <a:p>
            <a:pPr algn="ctr"/>
            <a:r>
              <a:rPr lang="en-US" dirty="0"/>
              <a:t>FILES</a:t>
            </a:r>
            <a:endParaRPr lang="en-IN" dirty="0"/>
          </a:p>
        </p:txBody>
      </p:sp>
    </p:spTree>
    <p:extLst>
      <p:ext uri="{BB962C8B-B14F-4D97-AF65-F5344CB8AC3E}">
        <p14:creationId xmlns:p14="http://schemas.microsoft.com/office/powerpoint/2010/main" val="2669973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88F4-F00D-B08F-DDED-7FCC62F430D3}"/>
              </a:ext>
            </a:extLst>
          </p:cNvPr>
          <p:cNvSpPr>
            <a:spLocks noGrp="1"/>
          </p:cNvSpPr>
          <p:nvPr>
            <p:ph type="title"/>
          </p:nvPr>
        </p:nvSpPr>
        <p:spPr/>
        <p:txBody>
          <a:bodyPr>
            <a:normAutofit/>
          </a:bodyPr>
          <a:lstStyle/>
          <a:p>
            <a:r>
              <a:rPr lang="en-US" sz="3200" b="1" dirty="0"/>
              <a:t>Introduction</a:t>
            </a:r>
            <a:endParaRPr lang="en-IN" sz="3200" b="1" dirty="0"/>
          </a:p>
        </p:txBody>
      </p:sp>
      <p:sp>
        <p:nvSpPr>
          <p:cNvPr id="3" name="Content Placeholder 2">
            <a:extLst>
              <a:ext uri="{FF2B5EF4-FFF2-40B4-BE49-F238E27FC236}">
                <a16:creationId xmlns:a16="http://schemas.microsoft.com/office/drawing/2014/main" id="{13ACFD6B-F0EE-0E41-A3DF-EA77E237710E}"/>
              </a:ext>
            </a:extLst>
          </p:cNvPr>
          <p:cNvSpPr>
            <a:spLocks noGrp="1"/>
          </p:cNvSpPr>
          <p:nvPr>
            <p:ph idx="1"/>
          </p:nvPr>
        </p:nvSpPr>
        <p:spPr>
          <a:xfrm>
            <a:off x="677334" y="1838633"/>
            <a:ext cx="8596668" cy="4202730"/>
          </a:xfrm>
        </p:spPr>
        <p:txBody>
          <a:bodyPr/>
          <a:lstStyle/>
          <a:p>
            <a:pPr algn="just"/>
            <a:r>
              <a:rPr lang="en-US" dirty="0"/>
              <a:t>A file is a collection of related information defined by its creator. </a:t>
            </a:r>
          </a:p>
          <a:p>
            <a:pPr algn="just"/>
            <a:r>
              <a:rPr lang="en-US" dirty="0"/>
              <a:t>Files are mapped by the operating system onto physical mass-storage devices. </a:t>
            </a:r>
          </a:p>
          <a:p>
            <a:pPr algn="just"/>
            <a:r>
              <a:rPr lang="en-US" dirty="0"/>
              <a:t>A file system describes how files are mapped onto physical devices, as well as how they are accessed and manipulated by both users and programs.</a:t>
            </a:r>
          </a:p>
          <a:p>
            <a:pPr algn="just"/>
            <a:r>
              <a:rPr lang="en-US" dirty="0"/>
              <a:t>A file has a certain defined structure, which depends on its type. </a:t>
            </a:r>
          </a:p>
          <a:p>
            <a:pPr lvl="1" algn="just"/>
            <a:r>
              <a:rPr lang="en-US" dirty="0"/>
              <a:t>A text file is a sequence of characters organized into lines (and possibly pages). </a:t>
            </a:r>
          </a:p>
          <a:p>
            <a:pPr lvl="1" algn="just"/>
            <a:r>
              <a:rPr lang="en-US" dirty="0"/>
              <a:t>A source file is a sequence of functions, each of which is further organized as declarations followed by executable statements. </a:t>
            </a:r>
          </a:p>
          <a:p>
            <a:pPr lvl="1" algn="just"/>
            <a:r>
              <a:rPr lang="en-US" dirty="0"/>
              <a:t>An executable file is a series of code sections that the loader can bring into memory and execute</a:t>
            </a:r>
            <a:endParaRPr lang="en-IN" dirty="0"/>
          </a:p>
        </p:txBody>
      </p:sp>
    </p:spTree>
    <p:extLst>
      <p:ext uri="{BB962C8B-B14F-4D97-AF65-F5344CB8AC3E}">
        <p14:creationId xmlns:p14="http://schemas.microsoft.com/office/powerpoint/2010/main" val="3770766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0734D-AA19-F53A-7613-EAF73ADA693F}"/>
              </a:ext>
            </a:extLst>
          </p:cNvPr>
          <p:cNvSpPr>
            <a:spLocks noGrp="1"/>
          </p:cNvSpPr>
          <p:nvPr>
            <p:ph type="title"/>
          </p:nvPr>
        </p:nvSpPr>
        <p:spPr/>
        <p:txBody>
          <a:bodyPr>
            <a:normAutofit/>
          </a:bodyPr>
          <a:lstStyle/>
          <a:p>
            <a:r>
              <a:rPr lang="en-US" sz="3200" b="1" dirty="0"/>
              <a:t>File Attributes : </a:t>
            </a:r>
            <a:endParaRPr lang="en-IN" sz="3200" b="1" dirty="0"/>
          </a:p>
        </p:txBody>
      </p:sp>
      <p:sp>
        <p:nvSpPr>
          <p:cNvPr id="3" name="Content Placeholder 2">
            <a:extLst>
              <a:ext uri="{FF2B5EF4-FFF2-40B4-BE49-F238E27FC236}">
                <a16:creationId xmlns:a16="http://schemas.microsoft.com/office/drawing/2014/main" id="{9162F29F-419C-0888-125B-3D407F0B8127}"/>
              </a:ext>
            </a:extLst>
          </p:cNvPr>
          <p:cNvSpPr>
            <a:spLocks noGrp="1"/>
          </p:cNvSpPr>
          <p:nvPr>
            <p:ph idx="1"/>
          </p:nvPr>
        </p:nvSpPr>
        <p:spPr>
          <a:xfrm>
            <a:off x="677334" y="1386349"/>
            <a:ext cx="8596668" cy="4655014"/>
          </a:xfrm>
        </p:spPr>
        <p:txBody>
          <a:bodyPr>
            <a:normAutofit lnSpcReduction="10000"/>
          </a:bodyPr>
          <a:lstStyle/>
          <a:p>
            <a:pPr algn="just"/>
            <a:r>
              <a:rPr lang="en-US" sz="1600" dirty="0"/>
              <a:t>A file’s attributes vary from one operating system to another but typically consist of these:</a:t>
            </a:r>
          </a:p>
          <a:p>
            <a:pPr lvl="1" algn="just"/>
            <a:r>
              <a:rPr lang="en-US" dirty="0"/>
              <a:t>Name : The symbolic file name is the only information kept in human readable form.</a:t>
            </a:r>
          </a:p>
          <a:p>
            <a:pPr lvl="1" algn="just"/>
            <a:r>
              <a:rPr lang="en-US" dirty="0"/>
              <a:t> Identifier : This unique tag, usually a number, identifies the file within the</a:t>
            </a:r>
          </a:p>
          <a:p>
            <a:pPr lvl="1" algn="just"/>
            <a:r>
              <a:rPr lang="en-US" dirty="0"/>
              <a:t>file system : it is the non-human-readable name for the file.</a:t>
            </a:r>
          </a:p>
          <a:p>
            <a:pPr lvl="1" algn="just"/>
            <a:r>
              <a:rPr lang="en-US" dirty="0"/>
              <a:t>Type : This information is needed for systems that support different types of files.</a:t>
            </a:r>
          </a:p>
          <a:p>
            <a:pPr lvl="1" algn="just"/>
            <a:r>
              <a:rPr lang="en-US" dirty="0"/>
              <a:t>Location :This information is a pointer to a device and to the location of the file on that device.</a:t>
            </a:r>
          </a:p>
          <a:p>
            <a:pPr lvl="1" algn="just"/>
            <a:r>
              <a:rPr lang="en-US" dirty="0"/>
              <a:t>Size. The current size of the file (in bytes, words, or blocks) and possibly the maximum allowed size are included in this attribute.</a:t>
            </a:r>
          </a:p>
          <a:p>
            <a:pPr lvl="1" algn="just"/>
            <a:r>
              <a:rPr lang="en-US" dirty="0"/>
              <a:t> Protection :Access-control information determines who can do reading, writing, executing, and so on.</a:t>
            </a:r>
          </a:p>
          <a:p>
            <a:pPr lvl="1" algn="just"/>
            <a:r>
              <a:rPr lang="en-US" dirty="0"/>
              <a:t>Timestamps and user identification . This information may be kept for creation, last modification, and last use. These data can be useful for protection, security, and usage monitoring.</a:t>
            </a:r>
            <a:endParaRPr lang="en-IN" dirty="0"/>
          </a:p>
        </p:txBody>
      </p:sp>
    </p:spTree>
    <p:extLst>
      <p:ext uri="{BB962C8B-B14F-4D97-AF65-F5344CB8AC3E}">
        <p14:creationId xmlns:p14="http://schemas.microsoft.com/office/powerpoint/2010/main" val="1840788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65B2-4BA9-A6DA-3E29-C5A9F2EA4F92}"/>
              </a:ext>
            </a:extLst>
          </p:cNvPr>
          <p:cNvSpPr>
            <a:spLocks noGrp="1"/>
          </p:cNvSpPr>
          <p:nvPr>
            <p:ph type="title"/>
          </p:nvPr>
        </p:nvSpPr>
        <p:spPr>
          <a:xfrm>
            <a:off x="677334" y="609600"/>
            <a:ext cx="8596668" cy="632791"/>
          </a:xfrm>
        </p:spPr>
        <p:txBody>
          <a:bodyPr>
            <a:normAutofit/>
          </a:bodyPr>
          <a:lstStyle/>
          <a:p>
            <a:r>
              <a:rPr lang="en-US" sz="3200" b="1" dirty="0"/>
              <a:t>File Operations</a:t>
            </a:r>
            <a:endParaRPr lang="en-IN" sz="3200" b="1" dirty="0"/>
          </a:p>
        </p:txBody>
      </p:sp>
      <p:sp>
        <p:nvSpPr>
          <p:cNvPr id="3" name="Content Placeholder 2">
            <a:extLst>
              <a:ext uri="{FF2B5EF4-FFF2-40B4-BE49-F238E27FC236}">
                <a16:creationId xmlns:a16="http://schemas.microsoft.com/office/drawing/2014/main" id="{0F941C47-3307-4414-CCE1-87B06CA5C2FD}"/>
              </a:ext>
            </a:extLst>
          </p:cNvPr>
          <p:cNvSpPr>
            <a:spLocks noGrp="1"/>
          </p:cNvSpPr>
          <p:nvPr>
            <p:ph idx="1"/>
          </p:nvPr>
        </p:nvSpPr>
        <p:spPr>
          <a:xfrm>
            <a:off x="677334" y="1341783"/>
            <a:ext cx="8596668" cy="5059017"/>
          </a:xfrm>
        </p:spPr>
        <p:txBody>
          <a:bodyPr>
            <a:normAutofit fontScale="92500" lnSpcReduction="20000"/>
          </a:bodyPr>
          <a:lstStyle/>
          <a:p>
            <a:pPr algn="just"/>
            <a:r>
              <a:rPr lang="en-US" dirty="0"/>
              <a:t>A file is an abstract data type. To define a file properly, we need to consider the operations that can be performed on files.</a:t>
            </a:r>
          </a:p>
          <a:p>
            <a:pPr algn="just"/>
            <a:r>
              <a:rPr lang="en-US" dirty="0"/>
              <a:t>Creating a file :</a:t>
            </a:r>
          </a:p>
          <a:p>
            <a:pPr lvl="1" algn="just"/>
            <a:r>
              <a:rPr lang="en-US" dirty="0"/>
              <a:t>Two steps are necessary to create a file.</a:t>
            </a:r>
          </a:p>
          <a:p>
            <a:pPr lvl="1" algn="just"/>
            <a:r>
              <a:rPr lang="en-US" dirty="0"/>
              <a:t> First, space in the file system must be found for the file</a:t>
            </a:r>
          </a:p>
          <a:p>
            <a:pPr lvl="1" algn="just"/>
            <a:r>
              <a:rPr lang="en-US" dirty="0"/>
              <a:t> Second, an entry for the new file must be made in a directory. </a:t>
            </a:r>
          </a:p>
          <a:p>
            <a:pPr algn="just"/>
            <a:r>
              <a:rPr lang="en-US" dirty="0"/>
              <a:t>Opening a file . </a:t>
            </a:r>
          </a:p>
          <a:p>
            <a:pPr lvl="1" algn="just"/>
            <a:r>
              <a:rPr lang="en-US" dirty="0"/>
              <a:t>Rather than have all file operations specify a file name, causing the operating system to evaluate the name, check access permissions, and so on, all operations except create and delete require a file open() first. </a:t>
            </a:r>
          </a:p>
          <a:p>
            <a:pPr lvl="1" algn="just"/>
            <a:r>
              <a:rPr lang="en-US" dirty="0"/>
              <a:t>If successful, the open call returns a file handle that is used as an argument in the other calls. </a:t>
            </a:r>
          </a:p>
          <a:p>
            <a:pPr algn="just"/>
            <a:r>
              <a:rPr lang="en-US" dirty="0"/>
              <a:t>Writing a file . </a:t>
            </a:r>
          </a:p>
          <a:p>
            <a:pPr lvl="1" algn="just"/>
            <a:r>
              <a:rPr lang="en-US" dirty="0"/>
              <a:t>To write a file, we make a system call specifying both the open file handle and the information to be written to the file.</a:t>
            </a:r>
          </a:p>
          <a:p>
            <a:pPr lvl="1" algn="just"/>
            <a:r>
              <a:rPr lang="en-US" dirty="0"/>
              <a:t> The system must keep a write pointer to the location in the file where the next write is to take place if it is sequential. The write pointer must be updated whenever a write occurs. </a:t>
            </a:r>
          </a:p>
        </p:txBody>
      </p:sp>
    </p:spTree>
    <p:extLst>
      <p:ext uri="{BB962C8B-B14F-4D97-AF65-F5344CB8AC3E}">
        <p14:creationId xmlns:p14="http://schemas.microsoft.com/office/powerpoint/2010/main" val="1307552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19BD4-4D09-1FBD-7ED7-F06F32597796}"/>
              </a:ext>
            </a:extLst>
          </p:cNvPr>
          <p:cNvSpPr>
            <a:spLocks noGrp="1"/>
          </p:cNvSpPr>
          <p:nvPr>
            <p:ph idx="1"/>
          </p:nvPr>
        </p:nvSpPr>
        <p:spPr>
          <a:xfrm>
            <a:off x="677334" y="725557"/>
            <a:ext cx="8596668" cy="5315805"/>
          </a:xfrm>
        </p:spPr>
        <p:txBody>
          <a:bodyPr>
            <a:normAutofit lnSpcReduction="10000"/>
          </a:bodyPr>
          <a:lstStyle/>
          <a:p>
            <a:pPr algn="just"/>
            <a:r>
              <a:rPr lang="en-US" dirty="0"/>
              <a:t>Reading a file .</a:t>
            </a:r>
          </a:p>
          <a:p>
            <a:pPr lvl="1" algn="just"/>
            <a:r>
              <a:rPr lang="en-US" dirty="0"/>
              <a:t> To read from a file, we use a system call that specifies the file handle and where (in memory) the next block of the file should be put. Again, the system needs to keep a read pointer to the location in the file where the next read is to take place, if sequential. </a:t>
            </a:r>
          </a:p>
          <a:p>
            <a:pPr algn="just"/>
            <a:r>
              <a:rPr lang="en-US" dirty="0"/>
              <a:t> Repositioning within a file. </a:t>
            </a:r>
          </a:p>
          <a:p>
            <a:pPr lvl="1" algn="just"/>
            <a:r>
              <a:rPr lang="en-US" dirty="0"/>
              <a:t>The current-file-position pointer of the open file is repositioned to a given value. Repositioning within a file need not involve any actual I/O. </a:t>
            </a:r>
          </a:p>
          <a:p>
            <a:pPr lvl="1" algn="just"/>
            <a:r>
              <a:rPr lang="en-US" dirty="0"/>
              <a:t>This file operation is also known as a file seek. </a:t>
            </a:r>
          </a:p>
          <a:p>
            <a:pPr algn="just"/>
            <a:r>
              <a:rPr lang="en-US" dirty="0"/>
              <a:t>Deleting a file </a:t>
            </a:r>
          </a:p>
          <a:p>
            <a:pPr lvl="1" algn="just"/>
            <a:r>
              <a:rPr lang="en-US" dirty="0"/>
              <a:t>To delete a file, we search the directory for the named file. Having found the associated directory entry, we release all file space, so that it can be reused by other files, and erase or mark as free the directory entry. </a:t>
            </a:r>
          </a:p>
          <a:p>
            <a:pPr algn="just"/>
            <a:r>
              <a:rPr lang="en-US" dirty="0"/>
              <a:t>Truncating a file </a:t>
            </a:r>
          </a:p>
          <a:p>
            <a:pPr lvl="1" algn="just"/>
            <a:r>
              <a:rPr lang="en-US" dirty="0"/>
              <a:t>The user may want to erase the contents of a file but  keep its attributes. Rather than forcing the user to delete the file and then recreate it, this function allows all attributes to remain unchanged</a:t>
            </a:r>
            <a:endParaRPr lang="en-IN" dirty="0"/>
          </a:p>
        </p:txBody>
      </p:sp>
    </p:spTree>
    <p:extLst>
      <p:ext uri="{BB962C8B-B14F-4D97-AF65-F5344CB8AC3E}">
        <p14:creationId xmlns:p14="http://schemas.microsoft.com/office/powerpoint/2010/main" val="342751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BFACC-61EB-3A62-A1B9-027A819BE4EF}"/>
              </a:ext>
            </a:extLst>
          </p:cNvPr>
          <p:cNvSpPr>
            <a:spLocks noGrp="1"/>
          </p:cNvSpPr>
          <p:nvPr>
            <p:ph type="title"/>
          </p:nvPr>
        </p:nvSpPr>
        <p:spPr/>
        <p:txBody>
          <a:bodyPr>
            <a:normAutofit/>
          </a:bodyPr>
          <a:lstStyle/>
          <a:p>
            <a:r>
              <a:rPr lang="en-US" sz="3200" b="1" dirty="0"/>
              <a:t>File Access Methods</a:t>
            </a:r>
            <a:endParaRPr lang="en-IN" sz="3200" b="1" dirty="0"/>
          </a:p>
        </p:txBody>
      </p:sp>
      <p:sp>
        <p:nvSpPr>
          <p:cNvPr id="3" name="Content Placeholder 2">
            <a:extLst>
              <a:ext uri="{FF2B5EF4-FFF2-40B4-BE49-F238E27FC236}">
                <a16:creationId xmlns:a16="http://schemas.microsoft.com/office/drawing/2014/main" id="{750B009C-4040-8406-5802-04795598629B}"/>
              </a:ext>
            </a:extLst>
          </p:cNvPr>
          <p:cNvSpPr>
            <a:spLocks noGrp="1"/>
          </p:cNvSpPr>
          <p:nvPr>
            <p:ph idx="1"/>
          </p:nvPr>
        </p:nvSpPr>
        <p:spPr/>
        <p:txBody>
          <a:bodyPr/>
          <a:lstStyle/>
          <a:p>
            <a:r>
              <a:rPr lang="en-US" dirty="0"/>
              <a:t>Files store information. </a:t>
            </a:r>
          </a:p>
          <a:p>
            <a:r>
              <a:rPr lang="en-US" dirty="0"/>
              <a:t>When it is used, this information must be accessed and read into computer memory. The information in the file can be accessed in several ways :</a:t>
            </a:r>
          </a:p>
          <a:p>
            <a:pPr lvl="1"/>
            <a:r>
              <a:rPr lang="en-IN" sz="1800" dirty="0"/>
              <a:t>Sequential Access</a:t>
            </a:r>
            <a:endParaRPr lang="en-US" sz="1800" dirty="0"/>
          </a:p>
          <a:p>
            <a:pPr lvl="1"/>
            <a:r>
              <a:rPr lang="en-IN" sz="1800" dirty="0"/>
              <a:t>Direct Access</a:t>
            </a:r>
          </a:p>
        </p:txBody>
      </p:sp>
    </p:spTree>
    <p:extLst>
      <p:ext uri="{BB962C8B-B14F-4D97-AF65-F5344CB8AC3E}">
        <p14:creationId xmlns:p14="http://schemas.microsoft.com/office/powerpoint/2010/main" val="2582598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E70C-485B-875E-96B2-42AC7B8C6A03}"/>
              </a:ext>
            </a:extLst>
          </p:cNvPr>
          <p:cNvSpPr>
            <a:spLocks noGrp="1"/>
          </p:cNvSpPr>
          <p:nvPr>
            <p:ph type="title"/>
          </p:nvPr>
        </p:nvSpPr>
        <p:spPr/>
        <p:txBody>
          <a:bodyPr>
            <a:normAutofit/>
          </a:bodyPr>
          <a:lstStyle/>
          <a:p>
            <a:r>
              <a:rPr lang="en-US" sz="2800" b="1" dirty="0"/>
              <a:t>a ) Sequential Access</a:t>
            </a:r>
            <a:endParaRPr lang="en-IN" sz="2800" b="1" dirty="0"/>
          </a:p>
        </p:txBody>
      </p:sp>
      <p:pic>
        <p:nvPicPr>
          <p:cNvPr id="5" name="Content Placeholder 4">
            <a:extLst>
              <a:ext uri="{FF2B5EF4-FFF2-40B4-BE49-F238E27FC236}">
                <a16:creationId xmlns:a16="http://schemas.microsoft.com/office/drawing/2014/main" id="{8153A83B-6BFF-0B2D-63FF-3BEA88B307FD}"/>
              </a:ext>
            </a:extLst>
          </p:cNvPr>
          <p:cNvPicPr>
            <a:picLocks noGrp="1" noChangeAspect="1"/>
          </p:cNvPicPr>
          <p:nvPr>
            <p:ph idx="1"/>
          </p:nvPr>
        </p:nvPicPr>
        <p:blipFill>
          <a:blip r:embed="rId2"/>
          <a:stretch>
            <a:fillRect/>
          </a:stretch>
        </p:blipFill>
        <p:spPr>
          <a:xfrm>
            <a:off x="2064295" y="2333472"/>
            <a:ext cx="5525271" cy="2191056"/>
          </a:xfrm>
        </p:spPr>
      </p:pic>
    </p:spTree>
    <p:extLst>
      <p:ext uri="{BB962C8B-B14F-4D97-AF65-F5344CB8AC3E}">
        <p14:creationId xmlns:p14="http://schemas.microsoft.com/office/powerpoint/2010/main" val="916869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0E47CB-9362-F1C9-68F8-7AF691259E9F}"/>
              </a:ext>
            </a:extLst>
          </p:cNvPr>
          <p:cNvSpPr>
            <a:spLocks noGrp="1"/>
          </p:cNvSpPr>
          <p:nvPr>
            <p:ph idx="1"/>
          </p:nvPr>
        </p:nvSpPr>
        <p:spPr>
          <a:xfrm>
            <a:off x="677334" y="1480931"/>
            <a:ext cx="8596668" cy="4560432"/>
          </a:xfrm>
        </p:spPr>
        <p:txBody>
          <a:bodyPr/>
          <a:lstStyle/>
          <a:p>
            <a:pPr algn="just"/>
            <a:r>
              <a:rPr lang="en-US" dirty="0"/>
              <a:t>Information in the file is processed in order, one record after the other. </a:t>
            </a:r>
          </a:p>
          <a:p>
            <a:pPr algn="just"/>
            <a:r>
              <a:rPr lang="en-US" dirty="0"/>
              <a:t>This mode of access is by far the most common; for example, editors and compilers usually access files in this fashion. </a:t>
            </a:r>
          </a:p>
          <a:p>
            <a:pPr algn="just"/>
            <a:r>
              <a:rPr lang="en-US" dirty="0"/>
              <a:t>Reads and writes make up the bulk of the operations on a file. </a:t>
            </a:r>
          </a:p>
          <a:p>
            <a:pPr algn="just"/>
            <a:r>
              <a:rPr lang="en-US" dirty="0"/>
              <a:t>A read operation—read next()—reads the next portion of the file and automatically advances a file pointer, which tracks the I/O location. </a:t>
            </a:r>
          </a:p>
          <a:p>
            <a:pPr algn="just"/>
            <a:r>
              <a:rPr lang="en-US" dirty="0"/>
              <a:t>The write operation—write next()—appends to the end of the file and advances to the end of the newly written material (the new end of file)</a:t>
            </a:r>
            <a:endParaRPr lang="en-IN" dirty="0"/>
          </a:p>
        </p:txBody>
      </p:sp>
    </p:spTree>
    <p:extLst>
      <p:ext uri="{BB962C8B-B14F-4D97-AF65-F5344CB8AC3E}">
        <p14:creationId xmlns:p14="http://schemas.microsoft.com/office/powerpoint/2010/main" val="4117170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CFDB-18BC-F99C-AF7B-E2A2EE68CC3B}"/>
              </a:ext>
            </a:extLst>
          </p:cNvPr>
          <p:cNvSpPr>
            <a:spLocks noGrp="1"/>
          </p:cNvSpPr>
          <p:nvPr>
            <p:ph type="title"/>
          </p:nvPr>
        </p:nvSpPr>
        <p:spPr/>
        <p:txBody>
          <a:bodyPr>
            <a:normAutofit/>
          </a:bodyPr>
          <a:lstStyle/>
          <a:p>
            <a:r>
              <a:rPr lang="en-US" sz="2800" dirty="0"/>
              <a:t>b) Direct Access</a:t>
            </a:r>
            <a:endParaRPr lang="en-IN" sz="2800" dirty="0"/>
          </a:p>
        </p:txBody>
      </p:sp>
      <p:sp>
        <p:nvSpPr>
          <p:cNvPr id="3" name="Content Placeholder 2">
            <a:extLst>
              <a:ext uri="{FF2B5EF4-FFF2-40B4-BE49-F238E27FC236}">
                <a16:creationId xmlns:a16="http://schemas.microsoft.com/office/drawing/2014/main" id="{9590EAC5-86D5-B5F4-7B5B-4E60B954D0A5}"/>
              </a:ext>
            </a:extLst>
          </p:cNvPr>
          <p:cNvSpPr>
            <a:spLocks noGrp="1"/>
          </p:cNvSpPr>
          <p:nvPr>
            <p:ph idx="1"/>
          </p:nvPr>
        </p:nvSpPr>
        <p:spPr>
          <a:xfrm>
            <a:off x="677334" y="1540565"/>
            <a:ext cx="8596668" cy="4500797"/>
          </a:xfrm>
        </p:spPr>
        <p:txBody>
          <a:bodyPr/>
          <a:lstStyle/>
          <a:p>
            <a:pPr algn="just"/>
            <a:r>
              <a:rPr lang="en-US" dirty="0"/>
              <a:t>Here, a file is made up of fixed-length logical records that allow programs to read and write records rapidly in no particular order. </a:t>
            </a:r>
          </a:p>
          <a:p>
            <a:pPr algn="just"/>
            <a:r>
              <a:rPr lang="en-US" dirty="0"/>
              <a:t>The direct-access method is based on a disk model of a file, since disks allow random access to any file block. </a:t>
            </a:r>
          </a:p>
          <a:p>
            <a:pPr algn="just"/>
            <a:r>
              <a:rPr lang="en-US" dirty="0"/>
              <a:t>For direct access, the file is viewed as a numbered sequence of blocks or records. Thus, we may read block 14, then read block 53, and then write block 7.</a:t>
            </a:r>
          </a:p>
          <a:p>
            <a:pPr algn="just"/>
            <a:r>
              <a:rPr lang="en-US" dirty="0"/>
              <a:t>There are no restrictions on the order of reading or writing for a direct-access file. </a:t>
            </a:r>
          </a:p>
          <a:p>
            <a:pPr algn="just"/>
            <a:r>
              <a:rPr lang="en-US" dirty="0"/>
              <a:t>Direct-access files are of great use for immediate access to large amounts of information. Databases are often of this type</a:t>
            </a:r>
            <a:endParaRPr lang="en-IN" dirty="0"/>
          </a:p>
        </p:txBody>
      </p:sp>
    </p:spTree>
    <p:extLst>
      <p:ext uri="{BB962C8B-B14F-4D97-AF65-F5344CB8AC3E}">
        <p14:creationId xmlns:p14="http://schemas.microsoft.com/office/powerpoint/2010/main" val="2151665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3719E-A2AF-E737-F031-70AE6C153213}"/>
              </a:ext>
            </a:extLst>
          </p:cNvPr>
          <p:cNvSpPr>
            <a:spLocks noGrp="1"/>
          </p:cNvSpPr>
          <p:nvPr>
            <p:ph type="title"/>
          </p:nvPr>
        </p:nvSpPr>
        <p:spPr/>
        <p:txBody>
          <a:bodyPr>
            <a:normAutofit/>
          </a:bodyPr>
          <a:lstStyle/>
          <a:p>
            <a:r>
              <a:rPr lang="en-US" sz="3200" b="1" dirty="0"/>
              <a:t>File sharing</a:t>
            </a:r>
            <a:endParaRPr lang="en-IN" sz="3200" b="1" dirty="0"/>
          </a:p>
        </p:txBody>
      </p:sp>
      <p:sp>
        <p:nvSpPr>
          <p:cNvPr id="3" name="Content Placeholder 2">
            <a:extLst>
              <a:ext uri="{FF2B5EF4-FFF2-40B4-BE49-F238E27FC236}">
                <a16:creationId xmlns:a16="http://schemas.microsoft.com/office/drawing/2014/main" id="{0A6C55D7-278E-F880-1D8C-A1A0EE251E41}"/>
              </a:ext>
            </a:extLst>
          </p:cNvPr>
          <p:cNvSpPr>
            <a:spLocks noGrp="1"/>
          </p:cNvSpPr>
          <p:nvPr>
            <p:ph idx="1"/>
          </p:nvPr>
        </p:nvSpPr>
        <p:spPr>
          <a:xfrm>
            <a:off x="637578" y="1351719"/>
            <a:ext cx="9261796" cy="4750905"/>
          </a:xfrm>
        </p:spPr>
        <p:txBody>
          <a:bodyPr>
            <a:normAutofit lnSpcReduction="10000"/>
          </a:bodyPr>
          <a:lstStyle/>
          <a:p>
            <a:pPr algn="just"/>
            <a:r>
              <a:rPr lang="en-US" dirty="0"/>
              <a:t>The ability to share files is very desirable for users who want to collaborate and to reduce the effort required to achieve a computing goal.</a:t>
            </a:r>
            <a:endParaRPr lang="en-IN" dirty="0"/>
          </a:p>
          <a:p>
            <a:pPr algn="just"/>
            <a:r>
              <a:rPr lang="en-US" dirty="0"/>
              <a:t>Once multiple users are allowed to share files, the challenge is to extend sharing to multiple file systems, including remote file systems.</a:t>
            </a:r>
          </a:p>
          <a:p>
            <a:pPr algn="just"/>
            <a:r>
              <a:rPr lang="en-US" dirty="0"/>
              <a:t>To implement sharing and protection, the system must maintain more file and directory attributes than are needed on a single-user system. </a:t>
            </a:r>
          </a:p>
          <a:p>
            <a:pPr algn="just"/>
            <a:r>
              <a:rPr lang="en-US" dirty="0"/>
              <a:t>Although many approaches have been taken to meet this requirement, most systems have evolved to use the concepts of file (or directory) owner(or user) and group. </a:t>
            </a:r>
          </a:p>
          <a:p>
            <a:pPr algn="just"/>
            <a:r>
              <a:rPr lang="en-US" dirty="0"/>
              <a:t>The owner is the user who can change attributes and grant access and who has the most control over the file. </a:t>
            </a:r>
          </a:p>
          <a:p>
            <a:pPr algn="just"/>
            <a:r>
              <a:rPr lang="en-US" dirty="0"/>
              <a:t>The group attribute defines a subset of users who can share access to the file.</a:t>
            </a:r>
          </a:p>
          <a:p>
            <a:pPr algn="just"/>
            <a:r>
              <a:rPr lang="en-US" dirty="0"/>
              <a:t> For example, the owner of a file on a UNIX system can issue all operations on a file, while members of the file’s group can execute one subset of those operations, and all other users can execute another subset of operations. Exactly which operations can be executed by group members and other users is definable by the file’s owner</a:t>
            </a:r>
          </a:p>
        </p:txBody>
      </p:sp>
    </p:spTree>
    <p:extLst>
      <p:ext uri="{BB962C8B-B14F-4D97-AF65-F5344CB8AC3E}">
        <p14:creationId xmlns:p14="http://schemas.microsoft.com/office/powerpoint/2010/main" val="22987172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49</TotalTime>
  <Words>1203</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FILES</vt:lpstr>
      <vt:lpstr>Introduction</vt:lpstr>
      <vt:lpstr>File Attributes : </vt:lpstr>
      <vt:lpstr>File Operations</vt:lpstr>
      <vt:lpstr>PowerPoint Presentation</vt:lpstr>
      <vt:lpstr>File Access Methods</vt:lpstr>
      <vt:lpstr>a ) Sequential Access</vt:lpstr>
      <vt:lpstr>PowerPoint Presentation</vt:lpstr>
      <vt:lpstr>b) Direct Access</vt:lpstr>
      <vt:lpstr>File sharing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Vinti</dc:creator>
  <cp:lastModifiedBy>Surya Vinti</cp:lastModifiedBy>
  <cp:revision>3</cp:revision>
  <dcterms:created xsi:type="dcterms:W3CDTF">2025-03-26T14:02:30Z</dcterms:created>
  <dcterms:modified xsi:type="dcterms:W3CDTF">2025-03-26T14:52:18Z</dcterms:modified>
</cp:coreProperties>
</file>