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84871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3520003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402662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9BF20A-F21D-4C68-AEB7-AB2365392F97}"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697762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9BF20A-F21D-4C68-AEB7-AB2365392F97}" type="datetimeFigureOut">
              <a:rPr lang="en-IN" smtClean="0"/>
              <a:t>27-03-2025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3246252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9BF20A-F21D-4C68-AEB7-AB2365392F97}" type="datetimeFigureOut">
              <a:rPr lang="en-IN" smtClean="0"/>
              <a:t>27-03-2025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322791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BF20A-F21D-4C68-AEB7-AB2365392F97}" type="datetimeFigureOut">
              <a:rPr lang="en-IN" smtClean="0"/>
              <a:t>27-03-2025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165053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BF20A-F21D-4C68-AEB7-AB2365392F97}"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2805523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9BF20A-F21D-4C68-AEB7-AB2365392F97}" type="datetimeFigureOut">
              <a:rPr lang="en-IN" smtClean="0"/>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2414563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938426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36472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365320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19177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2973323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4169582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9BF20A-F21D-4C68-AEB7-AB2365392F97}" type="datetimeFigureOut">
              <a:rPr lang="en-IN" smtClean="0"/>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FAA90C-C8AD-4FAA-930D-1936A9509AF4}" type="slidenum">
              <a:rPr lang="en-IN" smtClean="0"/>
              <a:t>‹#›</a:t>
            </a:fld>
            <a:endParaRPr lang="en-IN"/>
          </a:p>
        </p:txBody>
      </p:sp>
    </p:spTree>
    <p:extLst>
      <p:ext uri="{BB962C8B-B14F-4D97-AF65-F5344CB8AC3E}">
        <p14:creationId xmlns:p14="http://schemas.microsoft.com/office/powerpoint/2010/main" val="383150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9BF20A-F21D-4C68-AEB7-AB2365392F97}" type="datetimeFigureOut">
              <a:rPr lang="en-IN" smtClean="0"/>
              <a:t>27-03-2025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3FAA90C-C8AD-4FAA-930D-1936A9509AF4}" type="slidenum">
              <a:rPr lang="en-IN" smtClean="0"/>
              <a:t>‹#›</a:t>
            </a:fld>
            <a:endParaRPr lang="en-IN"/>
          </a:p>
        </p:txBody>
      </p:sp>
    </p:spTree>
    <p:extLst>
      <p:ext uri="{BB962C8B-B14F-4D97-AF65-F5344CB8AC3E}">
        <p14:creationId xmlns:p14="http://schemas.microsoft.com/office/powerpoint/2010/main" val="3859080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A4B7-5F77-B9C4-5EA0-24C22902C0E3}"/>
              </a:ext>
            </a:extLst>
          </p:cNvPr>
          <p:cNvSpPr>
            <a:spLocks noGrp="1"/>
          </p:cNvSpPr>
          <p:nvPr>
            <p:ph type="ctrTitle"/>
          </p:nvPr>
        </p:nvSpPr>
        <p:spPr>
          <a:xfrm>
            <a:off x="1507067" y="1785098"/>
            <a:ext cx="7766936" cy="1646302"/>
          </a:xfrm>
        </p:spPr>
        <p:txBody>
          <a:bodyPr/>
          <a:lstStyle/>
          <a:p>
            <a:pPr algn="ctr"/>
            <a:r>
              <a:rPr lang="en-US" b="1" dirty="0"/>
              <a:t>Storage Management</a:t>
            </a:r>
            <a:endParaRPr lang="en-IN" b="1" dirty="0"/>
          </a:p>
        </p:txBody>
      </p:sp>
    </p:spTree>
    <p:extLst>
      <p:ext uri="{BB962C8B-B14F-4D97-AF65-F5344CB8AC3E}">
        <p14:creationId xmlns:p14="http://schemas.microsoft.com/office/powerpoint/2010/main" val="231677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B340-B2CB-8B22-6CA5-8398B711A282}"/>
              </a:ext>
            </a:extLst>
          </p:cNvPr>
          <p:cNvSpPr>
            <a:spLocks noGrp="1"/>
          </p:cNvSpPr>
          <p:nvPr>
            <p:ph type="title"/>
          </p:nvPr>
        </p:nvSpPr>
        <p:spPr>
          <a:xfrm>
            <a:off x="677334" y="609600"/>
            <a:ext cx="8596668" cy="747252"/>
          </a:xfrm>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4C638663-6E72-1260-3B60-15A73208E49A}"/>
              </a:ext>
            </a:extLst>
          </p:cNvPr>
          <p:cNvSpPr>
            <a:spLocks noGrp="1"/>
          </p:cNvSpPr>
          <p:nvPr>
            <p:ph idx="1"/>
          </p:nvPr>
        </p:nvSpPr>
        <p:spPr>
          <a:xfrm>
            <a:off x="677334" y="1769807"/>
            <a:ext cx="8596668" cy="4271556"/>
          </a:xfrm>
        </p:spPr>
        <p:txBody>
          <a:bodyPr/>
          <a:lstStyle/>
          <a:p>
            <a:pPr algn="just"/>
            <a:r>
              <a:rPr lang="en-US" dirty="0"/>
              <a:t>The main mass-storage system in modern computers is secondary storage, which is usually provided by </a:t>
            </a:r>
            <a:r>
              <a:rPr lang="en-US" b="1" dirty="0"/>
              <a:t>hard disk drives (HDD) </a:t>
            </a:r>
            <a:r>
              <a:rPr lang="en-US" dirty="0"/>
              <a:t>and nonvolatile memory (NVM) devices. </a:t>
            </a:r>
          </a:p>
          <a:p>
            <a:pPr algn="just"/>
            <a:r>
              <a:rPr lang="en-US" dirty="0"/>
              <a:t>Some systems also have slower, larger, tertiary storage, generally consisting of magnetic tape, optical disks, or even cloud storage.</a:t>
            </a:r>
          </a:p>
          <a:p>
            <a:pPr algn="just"/>
            <a:endParaRPr lang="en-IN" dirty="0"/>
          </a:p>
        </p:txBody>
      </p:sp>
    </p:spTree>
    <p:extLst>
      <p:ext uri="{BB962C8B-B14F-4D97-AF65-F5344CB8AC3E}">
        <p14:creationId xmlns:p14="http://schemas.microsoft.com/office/powerpoint/2010/main" val="2197082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76FEC-1A8F-1BB1-3FE0-02AF2ABAE642}"/>
              </a:ext>
            </a:extLst>
          </p:cNvPr>
          <p:cNvSpPr>
            <a:spLocks noGrp="1"/>
          </p:cNvSpPr>
          <p:nvPr>
            <p:ph type="title"/>
          </p:nvPr>
        </p:nvSpPr>
        <p:spPr/>
        <p:txBody>
          <a:bodyPr>
            <a:normAutofit/>
          </a:bodyPr>
          <a:lstStyle/>
          <a:p>
            <a:pPr algn="just"/>
            <a:r>
              <a:rPr lang="en-IN" sz="2800" b="1" dirty="0"/>
              <a:t>1 ) Overview of Mass-Storage Structure(Hard Disk Drives) </a:t>
            </a:r>
          </a:p>
        </p:txBody>
      </p:sp>
      <p:pic>
        <p:nvPicPr>
          <p:cNvPr id="5" name="Picture 4">
            <a:extLst>
              <a:ext uri="{FF2B5EF4-FFF2-40B4-BE49-F238E27FC236}">
                <a16:creationId xmlns:a16="http://schemas.microsoft.com/office/drawing/2014/main" id="{93AA6C8A-860D-8A90-0E2C-4F7DEF9DB81C}"/>
              </a:ext>
            </a:extLst>
          </p:cNvPr>
          <p:cNvPicPr>
            <a:picLocks noChangeAspect="1"/>
          </p:cNvPicPr>
          <p:nvPr/>
        </p:nvPicPr>
        <p:blipFill>
          <a:blip r:embed="rId2"/>
          <a:stretch>
            <a:fillRect/>
          </a:stretch>
        </p:blipFill>
        <p:spPr>
          <a:xfrm>
            <a:off x="2075889" y="1790145"/>
            <a:ext cx="6291363" cy="4539621"/>
          </a:xfrm>
          <a:prstGeom prst="rect">
            <a:avLst/>
          </a:prstGeom>
        </p:spPr>
      </p:pic>
    </p:spTree>
    <p:extLst>
      <p:ext uri="{BB962C8B-B14F-4D97-AF65-F5344CB8AC3E}">
        <p14:creationId xmlns:p14="http://schemas.microsoft.com/office/powerpoint/2010/main" val="295073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BCD12F-DE00-C1F1-56AD-F27A4DC34C7F}"/>
              </a:ext>
            </a:extLst>
          </p:cNvPr>
          <p:cNvSpPr>
            <a:spLocks noGrp="1"/>
          </p:cNvSpPr>
          <p:nvPr>
            <p:ph idx="1"/>
          </p:nvPr>
        </p:nvSpPr>
        <p:spPr>
          <a:xfrm>
            <a:off x="677334" y="747253"/>
            <a:ext cx="8596668" cy="5294110"/>
          </a:xfrm>
        </p:spPr>
        <p:txBody>
          <a:bodyPr>
            <a:normAutofit/>
          </a:bodyPr>
          <a:lstStyle/>
          <a:p>
            <a:pPr algn="just"/>
            <a:r>
              <a:rPr lang="en-US" dirty="0"/>
              <a:t>HDDs are relatively simple .</a:t>
            </a:r>
          </a:p>
          <a:p>
            <a:pPr algn="just"/>
            <a:r>
              <a:rPr lang="en-US" dirty="0"/>
              <a:t>Each disk platter has a flat circular shape, like a CD. Common platter diameters range from 1.8 to 3.5 inches. </a:t>
            </a:r>
          </a:p>
          <a:p>
            <a:pPr algn="just"/>
            <a:r>
              <a:rPr lang="en-US" dirty="0"/>
              <a:t>The two surfaces of a platter are covered with a magnetic material. </a:t>
            </a:r>
          </a:p>
          <a:p>
            <a:pPr algn="just"/>
            <a:r>
              <a:rPr lang="en-US" dirty="0"/>
              <a:t>We store information by recording it magnetically on the platters, and we read information by detecting the magnetic pattern on the platters.</a:t>
            </a:r>
          </a:p>
          <a:p>
            <a:pPr algn="just"/>
            <a:r>
              <a:rPr lang="en-US" dirty="0"/>
              <a:t>A read–write head “flies” just above each surface of every platter. The heads are attached to a disk arm that moves all the heads as a unit. </a:t>
            </a:r>
          </a:p>
          <a:p>
            <a:pPr algn="just"/>
            <a:r>
              <a:rPr lang="en-US" dirty="0"/>
              <a:t>The surface of a platter is logically divided into circular </a:t>
            </a:r>
            <a:r>
              <a:rPr lang="en-US" b="1" dirty="0"/>
              <a:t>tracks</a:t>
            </a:r>
            <a:r>
              <a:rPr lang="en-US" dirty="0"/>
              <a:t>, which are subdivided into </a:t>
            </a:r>
            <a:r>
              <a:rPr lang="en-US" b="1" dirty="0"/>
              <a:t>sectors</a:t>
            </a:r>
            <a:r>
              <a:rPr lang="en-US" dirty="0"/>
              <a:t>. </a:t>
            </a:r>
          </a:p>
          <a:p>
            <a:pPr algn="just"/>
            <a:r>
              <a:rPr lang="en-US" dirty="0"/>
              <a:t>The set of tracks at a given arm position make up a </a:t>
            </a:r>
            <a:r>
              <a:rPr lang="en-US" b="1" dirty="0"/>
              <a:t>cylinder</a:t>
            </a:r>
            <a:r>
              <a:rPr lang="en-US" dirty="0"/>
              <a:t>. There may be thousands of concentric cylinders in a disk drive, and each track may contain hundreds of sectors.</a:t>
            </a:r>
            <a:endParaRPr lang="en-IN" dirty="0"/>
          </a:p>
        </p:txBody>
      </p:sp>
    </p:spTree>
    <p:extLst>
      <p:ext uri="{BB962C8B-B14F-4D97-AF65-F5344CB8AC3E}">
        <p14:creationId xmlns:p14="http://schemas.microsoft.com/office/powerpoint/2010/main" val="1697663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18A7E-EA4E-3671-60D9-4F33F4F57B64}"/>
              </a:ext>
            </a:extLst>
          </p:cNvPr>
          <p:cNvSpPr>
            <a:spLocks noGrp="1"/>
          </p:cNvSpPr>
          <p:nvPr>
            <p:ph idx="1"/>
          </p:nvPr>
        </p:nvSpPr>
        <p:spPr>
          <a:xfrm>
            <a:off x="677334" y="1091381"/>
            <a:ext cx="8596668" cy="4949981"/>
          </a:xfrm>
        </p:spPr>
        <p:txBody>
          <a:bodyPr>
            <a:normAutofit/>
          </a:bodyPr>
          <a:lstStyle/>
          <a:p>
            <a:pPr algn="just"/>
            <a:r>
              <a:rPr lang="en-US" dirty="0"/>
              <a:t>The </a:t>
            </a:r>
            <a:r>
              <a:rPr lang="en-US" b="1" dirty="0"/>
              <a:t>transfer rate</a:t>
            </a:r>
            <a:r>
              <a:rPr lang="en-US" dirty="0"/>
              <a:t> is the rate at which data flow between the drive and the computer. </a:t>
            </a:r>
          </a:p>
          <a:p>
            <a:pPr algn="just"/>
            <a:r>
              <a:rPr lang="en-US" dirty="0"/>
              <a:t>Another performance aspect, </a:t>
            </a:r>
          </a:p>
          <a:p>
            <a:pPr lvl="1" algn="just"/>
            <a:r>
              <a:rPr lang="en-US" sz="1800" dirty="0"/>
              <a:t>the </a:t>
            </a:r>
            <a:r>
              <a:rPr lang="en-US" sz="1800" b="1" dirty="0"/>
              <a:t>positioning time, or random-access time</a:t>
            </a:r>
            <a:r>
              <a:rPr lang="en-US" sz="1800" dirty="0"/>
              <a:t>, consists of two parts:</a:t>
            </a:r>
          </a:p>
          <a:p>
            <a:pPr lvl="2" algn="just"/>
            <a:r>
              <a:rPr lang="en-US" sz="1800" dirty="0"/>
              <a:t> the time necessary to move the disk arm to the desired cylinder, called the </a:t>
            </a:r>
            <a:r>
              <a:rPr lang="en-US" sz="1800" b="1" dirty="0"/>
              <a:t>seek time, </a:t>
            </a:r>
          </a:p>
          <a:p>
            <a:pPr lvl="2" algn="just"/>
            <a:r>
              <a:rPr lang="en-US" sz="1800" dirty="0"/>
              <a:t>and the time necessary for the desired sector to rotate to the disk head, called the </a:t>
            </a:r>
            <a:r>
              <a:rPr lang="en-US" sz="1800" b="1" dirty="0"/>
              <a:t>rotational latency</a:t>
            </a:r>
            <a:endParaRPr lang="en-IN" sz="1800" b="1" dirty="0"/>
          </a:p>
        </p:txBody>
      </p:sp>
    </p:spTree>
    <p:extLst>
      <p:ext uri="{BB962C8B-B14F-4D97-AF65-F5344CB8AC3E}">
        <p14:creationId xmlns:p14="http://schemas.microsoft.com/office/powerpoint/2010/main" val="3006865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103D-E560-2309-9D0D-576C22DDFAE9}"/>
              </a:ext>
            </a:extLst>
          </p:cNvPr>
          <p:cNvSpPr>
            <a:spLocks noGrp="1"/>
          </p:cNvSpPr>
          <p:nvPr>
            <p:ph type="title"/>
          </p:nvPr>
        </p:nvSpPr>
        <p:spPr>
          <a:xfrm>
            <a:off x="677334" y="609600"/>
            <a:ext cx="8596668" cy="776748"/>
          </a:xfrm>
        </p:spPr>
        <p:txBody>
          <a:bodyPr>
            <a:normAutofit/>
          </a:bodyPr>
          <a:lstStyle/>
          <a:p>
            <a:r>
              <a:rPr lang="en-US" sz="3200" b="1" dirty="0"/>
              <a:t>2) </a:t>
            </a:r>
            <a:r>
              <a:rPr lang="en-IN" sz="3200" b="1" dirty="0"/>
              <a:t>HDD Scheduling</a:t>
            </a:r>
          </a:p>
        </p:txBody>
      </p:sp>
      <p:sp>
        <p:nvSpPr>
          <p:cNvPr id="3" name="Content Placeholder 2">
            <a:extLst>
              <a:ext uri="{FF2B5EF4-FFF2-40B4-BE49-F238E27FC236}">
                <a16:creationId xmlns:a16="http://schemas.microsoft.com/office/drawing/2014/main" id="{17C623FE-F6FA-B9A7-1433-BC1FC3ABED22}"/>
              </a:ext>
            </a:extLst>
          </p:cNvPr>
          <p:cNvSpPr>
            <a:spLocks noGrp="1"/>
          </p:cNvSpPr>
          <p:nvPr>
            <p:ph idx="1"/>
          </p:nvPr>
        </p:nvSpPr>
        <p:spPr>
          <a:xfrm>
            <a:off x="677334" y="1543662"/>
            <a:ext cx="8596668" cy="4655014"/>
          </a:xfrm>
        </p:spPr>
        <p:txBody>
          <a:bodyPr/>
          <a:lstStyle/>
          <a:p>
            <a:pPr algn="just"/>
            <a:r>
              <a:rPr lang="en-US" b="0" i="0" dirty="0">
                <a:solidFill>
                  <a:srgbClr val="001D35"/>
                </a:solidFill>
                <a:effectLst/>
                <a:latin typeface="Google Sans"/>
              </a:rPr>
              <a:t> D</a:t>
            </a:r>
            <a:r>
              <a:rPr lang="en-US" dirty="0"/>
              <a:t>isk scheduling algorithms manage the order in which disk I/O requests are processed, aiming to optimize disk utilization and minimize access time</a:t>
            </a:r>
          </a:p>
          <a:p>
            <a:pPr algn="just"/>
            <a:endParaRPr lang="en-IN" dirty="0"/>
          </a:p>
          <a:p>
            <a:pPr algn="just"/>
            <a:r>
              <a:rPr lang="en-IN" dirty="0"/>
              <a:t>They include :</a:t>
            </a:r>
          </a:p>
          <a:p>
            <a:pPr lvl="1" algn="just"/>
            <a:r>
              <a:rPr lang="en-IN" dirty="0"/>
              <a:t>FCFS disk scheduling</a:t>
            </a:r>
          </a:p>
          <a:p>
            <a:pPr lvl="1" algn="just"/>
            <a:r>
              <a:rPr lang="en-IN" dirty="0"/>
              <a:t>SCAN</a:t>
            </a:r>
          </a:p>
          <a:p>
            <a:pPr lvl="1" algn="just"/>
            <a:r>
              <a:rPr lang="en-IN" dirty="0"/>
              <a:t>C- SCAN</a:t>
            </a:r>
          </a:p>
          <a:p>
            <a:pPr marL="457200" lvl="1" indent="0" algn="just">
              <a:buNone/>
            </a:pPr>
            <a:endParaRPr lang="en-IN" dirty="0"/>
          </a:p>
        </p:txBody>
      </p:sp>
    </p:spTree>
    <p:extLst>
      <p:ext uri="{BB962C8B-B14F-4D97-AF65-F5344CB8AC3E}">
        <p14:creationId xmlns:p14="http://schemas.microsoft.com/office/powerpoint/2010/main" val="3809003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CD29-BE5C-0DA4-32AA-793A14EAEBDA}"/>
              </a:ext>
            </a:extLst>
          </p:cNvPr>
          <p:cNvSpPr>
            <a:spLocks noGrp="1"/>
          </p:cNvSpPr>
          <p:nvPr>
            <p:ph type="title"/>
          </p:nvPr>
        </p:nvSpPr>
        <p:spPr/>
        <p:txBody>
          <a:bodyPr/>
          <a:lstStyle/>
          <a:p>
            <a:r>
              <a:rPr lang="en-US" b="1" dirty="0"/>
              <a:t>2.1 </a:t>
            </a:r>
            <a:r>
              <a:rPr lang="en-IN" b="1" dirty="0"/>
              <a:t>FCFS Scheduling</a:t>
            </a:r>
          </a:p>
        </p:txBody>
      </p:sp>
      <p:sp>
        <p:nvSpPr>
          <p:cNvPr id="3" name="Content Placeholder 2">
            <a:extLst>
              <a:ext uri="{FF2B5EF4-FFF2-40B4-BE49-F238E27FC236}">
                <a16:creationId xmlns:a16="http://schemas.microsoft.com/office/drawing/2014/main" id="{2CB55106-6DD3-F035-16C9-FB0F5CE98A6A}"/>
              </a:ext>
            </a:extLst>
          </p:cNvPr>
          <p:cNvSpPr>
            <a:spLocks noGrp="1"/>
          </p:cNvSpPr>
          <p:nvPr>
            <p:ph idx="1"/>
          </p:nvPr>
        </p:nvSpPr>
        <p:spPr/>
        <p:txBody>
          <a:bodyPr>
            <a:normAutofit/>
          </a:bodyPr>
          <a:lstStyle/>
          <a:p>
            <a:pPr algn="just"/>
            <a:r>
              <a:rPr lang="en-US" dirty="0"/>
              <a:t>FCFS is the simplest of all Disk Scheduling Algorithms. In FCFS, the requests are addressed in the order they arrive in the disk queue.</a:t>
            </a:r>
          </a:p>
          <a:p>
            <a:pPr algn="just"/>
            <a:r>
              <a:rPr lang="en-US" dirty="0"/>
              <a:t>Advantages of FCFS</a:t>
            </a:r>
          </a:p>
          <a:p>
            <a:pPr lvl="1" algn="just"/>
            <a:r>
              <a:rPr lang="en-US" dirty="0"/>
              <a:t>Every request gets a fair chance</a:t>
            </a:r>
          </a:p>
          <a:p>
            <a:pPr lvl="1" algn="just"/>
            <a:r>
              <a:rPr lang="en-US" dirty="0"/>
              <a:t>No indefinite postponement</a:t>
            </a:r>
          </a:p>
          <a:p>
            <a:pPr algn="just"/>
            <a:r>
              <a:rPr lang="en-US" dirty="0"/>
              <a:t>Disadvantages of FCFS</a:t>
            </a:r>
          </a:p>
          <a:p>
            <a:pPr lvl="1" algn="just"/>
            <a:r>
              <a:rPr lang="en-US" dirty="0"/>
              <a:t>Does not try to optimize seek time</a:t>
            </a:r>
          </a:p>
          <a:p>
            <a:pPr lvl="1" algn="just"/>
            <a:r>
              <a:rPr lang="en-US" dirty="0"/>
              <a:t>May not provide the best possible service</a:t>
            </a:r>
            <a:endParaRPr lang="en-IN" dirty="0"/>
          </a:p>
        </p:txBody>
      </p:sp>
    </p:spTree>
    <p:extLst>
      <p:ext uri="{BB962C8B-B14F-4D97-AF65-F5344CB8AC3E}">
        <p14:creationId xmlns:p14="http://schemas.microsoft.com/office/powerpoint/2010/main" val="4079425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DEC1D-30D4-AC93-AD2C-C95042CF4CC6}"/>
              </a:ext>
            </a:extLst>
          </p:cNvPr>
          <p:cNvSpPr>
            <a:spLocks noGrp="1"/>
          </p:cNvSpPr>
          <p:nvPr>
            <p:ph type="title"/>
          </p:nvPr>
        </p:nvSpPr>
        <p:spPr/>
        <p:txBody>
          <a:bodyPr>
            <a:noAutofit/>
          </a:bodyPr>
          <a:lstStyle/>
          <a:p>
            <a:pPr algn="just"/>
            <a:r>
              <a:rPr lang="en-US" sz="1800" b="1" dirty="0"/>
              <a:t>Consider, for example, a disk queue with requests for I/O to blocks on cylinders 98, 183, 37, 122, 14, 124, 65, 67, in that order. If the disk head is initially at cylinder 53,Apply FCFS disk scheduling .</a:t>
            </a:r>
            <a:endParaRPr lang="en-IN" sz="1800" b="1" dirty="0"/>
          </a:p>
        </p:txBody>
      </p:sp>
      <p:pic>
        <p:nvPicPr>
          <p:cNvPr id="5" name="Content Placeholder 4">
            <a:extLst>
              <a:ext uri="{FF2B5EF4-FFF2-40B4-BE49-F238E27FC236}">
                <a16:creationId xmlns:a16="http://schemas.microsoft.com/office/drawing/2014/main" id="{188023E4-CA1F-1570-4E61-F6F90CD221F0}"/>
              </a:ext>
            </a:extLst>
          </p:cNvPr>
          <p:cNvPicPr>
            <a:picLocks noGrp="1" noChangeAspect="1"/>
          </p:cNvPicPr>
          <p:nvPr>
            <p:ph idx="1"/>
          </p:nvPr>
        </p:nvPicPr>
        <p:blipFill>
          <a:blip r:embed="rId2"/>
          <a:stretch>
            <a:fillRect/>
          </a:stretch>
        </p:blipFill>
        <p:spPr>
          <a:xfrm>
            <a:off x="1396181" y="1691148"/>
            <a:ext cx="7541342" cy="4778478"/>
          </a:xfrm>
        </p:spPr>
      </p:pic>
    </p:spTree>
    <p:extLst>
      <p:ext uri="{BB962C8B-B14F-4D97-AF65-F5344CB8AC3E}">
        <p14:creationId xmlns:p14="http://schemas.microsoft.com/office/powerpoint/2010/main" val="2439784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DDBE4-9319-2FEE-CCC3-19B8C49FEC24}"/>
              </a:ext>
            </a:extLst>
          </p:cNvPr>
          <p:cNvSpPr>
            <a:spLocks noGrp="1"/>
          </p:cNvSpPr>
          <p:nvPr>
            <p:ph idx="1"/>
          </p:nvPr>
        </p:nvSpPr>
        <p:spPr/>
        <p:txBody>
          <a:bodyPr/>
          <a:lstStyle/>
          <a:p>
            <a:pPr algn="just"/>
            <a:r>
              <a:rPr lang="en-US" dirty="0"/>
              <a:t>So, total overhead movement  (total distance covered by the disk arm) = </a:t>
            </a:r>
          </a:p>
          <a:p>
            <a:pPr marL="0" indent="0" algn="just">
              <a:buNone/>
            </a:pPr>
            <a:r>
              <a:rPr lang="en-US" dirty="0"/>
              <a:t>(98-53)+(183-98)+(183-37)+(122-37)+(122-14)+(124-14)+(124-65)+(67-65)</a:t>
            </a:r>
          </a:p>
          <a:p>
            <a:pPr marL="0" indent="0" algn="just">
              <a:buNone/>
            </a:pPr>
            <a:r>
              <a:rPr lang="en-US" dirty="0"/>
              <a:t>=640 cylinders</a:t>
            </a:r>
          </a:p>
          <a:p>
            <a:pPr marL="0" indent="0" algn="just">
              <a:buNone/>
            </a:pPr>
            <a:endParaRPr lang="en-US" dirty="0"/>
          </a:p>
          <a:p>
            <a:pPr marL="0" indent="0" algn="just">
              <a:buNone/>
            </a:pPr>
            <a:endParaRPr lang="en-IN" dirty="0"/>
          </a:p>
        </p:txBody>
      </p:sp>
    </p:spTree>
    <p:extLst>
      <p:ext uri="{BB962C8B-B14F-4D97-AF65-F5344CB8AC3E}">
        <p14:creationId xmlns:p14="http://schemas.microsoft.com/office/powerpoint/2010/main" val="578951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0D5A-5A25-A61E-A838-C9DA57124AB8}"/>
              </a:ext>
            </a:extLst>
          </p:cNvPr>
          <p:cNvSpPr>
            <a:spLocks noGrp="1"/>
          </p:cNvSpPr>
          <p:nvPr>
            <p:ph type="title"/>
          </p:nvPr>
        </p:nvSpPr>
        <p:spPr/>
        <p:txBody>
          <a:bodyPr>
            <a:normAutofit/>
          </a:bodyPr>
          <a:lstStyle/>
          <a:p>
            <a:r>
              <a:rPr lang="en-US" sz="3200" b="1" dirty="0"/>
              <a:t>2.2 SCAN disk scheduling</a:t>
            </a:r>
            <a:endParaRPr lang="en-IN" sz="3200" b="1" dirty="0"/>
          </a:p>
        </p:txBody>
      </p:sp>
      <p:sp>
        <p:nvSpPr>
          <p:cNvPr id="3" name="Content Placeholder 2">
            <a:extLst>
              <a:ext uri="{FF2B5EF4-FFF2-40B4-BE49-F238E27FC236}">
                <a16:creationId xmlns:a16="http://schemas.microsoft.com/office/drawing/2014/main" id="{F2916A38-0F6C-217F-1330-E70940055691}"/>
              </a:ext>
            </a:extLst>
          </p:cNvPr>
          <p:cNvSpPr>
            <a:spLocks noGrp="1"/>
          </p:cNvSpPr>
          <p:nvPr>
            <p:ph idx="1"/>
          </p:nvPr>
        </p:nvSpPr>
        <p:spPr>
          <a:xfrm>
            <a:off x="677334" y="1700981"/>
            <a:ext cx="8596668" cy="4340381"/>
          </a:xfrm>
        </p:spPr>
        <p:txBody>
          <a:bodyPr>
            <a:normAutofit/>
          </a:bodyPr>
          <a:lstStyle/>
          <a:p>
            <a:pPr algn="just"/>
            <a:r>
              <a:rPr lang="en-US" sz="2000" dirty="0"/>
              <a:t>In the SCAN algorithm, the disk arm starts at one end of the disk and moves toward the other end, servicing requests as it reaches each cylinder, until it gets to the other end of the disk.</a:t>
            </a:r>
          </a:p>
          <a:p>
            <a:pPr algn="just"/>
            <a:r>
              <a:rPr lang="en-US" sz="2000" dirty="0"/>
              <a:t>At the other end, the direction of head movement is reversed, and servicing continues. The head continuously scans back and forth across the disk. </a:t>
            </a:r>
          </a:p>
          <a:p>
            <a:pPr algn="just"/>
            <a:r>
              <a:rPr lang="en-US" sz="2000" dirty="0"/>
              <a:t>The SCAN algorithm is sometimes called the elevator algorithm, since the disk arm behaves just like an elevator in a building, first servicing all the requests going up and then reversing to service requests the other way.</a:t>
            </a:r>
            <a:endParaRPr lang="en-IN" sz="2000" dirty="0"/>
          </a:p>
        </p:txBody>
      </p:sp>
    </p:spTree>
    <p:extLst>
      <p:ext uri="{BB962C8B-B14F-4D97-AF65-F5344CB8AC3E}">
        <p14:creationId xmlns:p14="http://schemas.microsoft.com/office/powerpoint/2010/main" val="1001619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D5C946A-8D93-7DEB-63A4-E7C892015D8A}"/>
              </a:ext>
            </a:extLst>
          </p:cNvPr>
          <p:cNvPicPr>
            <a:picLocks noGrp="1" noChangeAspect="1"/>
          </p:cNvPicPr>
          <p:nvPr>
            <p:ph idx="1"/>
          </p:nvPr>
        </p:nvPicPr>
        <p:blipFill>
          <a:blip r:embed="rId2"/>
          <a:stretch>
            <a:fillRect/>
          </a:stretch>
        </p:blipFill>
        <p:spPr>
          <a:xfrm>
            <a:off x="757085" y="1612490"/>
            <a:ext cx="8042786" cy="4916129"/>
          </a:xfrm>
        </p:spPr>
      </p:pic>
      <p:sp>
        <p:nvSpPr>
          <p:cNvPr id="4" name="Title 1">
            <a:extLst>
              <a:ext uri="{FF2B5EF4-FFF2-40B4-BE49-F238E27FC236}">
                <a16:creationId xmlns:a16="http://schemas.microsoft.com/office/drawing/2014/main" id="{0F80D4AD-FC13-0FA4-2448-04BA5E14713A}"/>
              </a:ext>
            </a:extLst>
          </p:cNvPr>
          <p:cNvSpPr txBox="1">
            <a:spLocks/>
          </p:cNvSpPr>
          <p:nvPr/>
        </p:nvSpPr>
        <p:spPr>
          <a:xfrm>
            <a:off x="633089" y="516193"/>
            <a:ext cx="8596668" cy="132080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1800" b="1" dirty="0"/>
              <a:t>Consider, for example, a disk queue with requests for I/O to blocks on cylinders 98, 183, 37, 122, 14, 124, 65, 67, in that order. If the disk head is initially at cylinder 53,Apply SCAN disk scheduling .</a:t>
            </a:r>
            <a:endParaRPr lang="en-IN" sz="1800" b="1" dirty="0"/>
          </a:p>
        </p:txBody>
      </p:sp>
    </p:spTree>
    <p:extLst>
      <p:ext uri="{BB962C8B-B14F-4D97-AF65-F5344CB8AC3E}">
        <p14:creationId xmlns:p14="http://schemas.microsoft.com/office/powerpoint/2010/main" val="3452906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B4300-BD74-91B5-E082-9F5EA74F18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606E96-8CDE-A3E2-9548-9602FA1EFAB5}"/>
              </a:ext>
            </a:extLst>
          </p:cNvPr>
          <p:cNvSpPr>
            <a:spLocks noGrp="1"/>
          </p:cNvSpPr>
          <p:nvPr>
            <p:ph idx="1"/>
          </p:nvPr>
        </p:nvSpPr>
        <p:spPr/>
        <p:txBody>
          <a:bodyPr/>
          <a:lstStyle/>
          <a:p>
            <a:r>
              <a:rPr lang="en-US" dirty="0"/>
              <a:t>So, total overhead movement  (total distance covered by the disk arm) = </a:t>
            </a:r>
          </a:p>
          <a:p>
            <a:pPr marL="0" indent="0">
              <a:buNone/>
            </a:pPr>
            <a:r>
              <a:rPr lang="en-US" dirty="0"/>
              <a:t>(53-0)+(183-0)</a:t>
            </a:r>
            <a:r>
              <a:rPr lang="en-IN" dirty="0"/>
              <a:t>=236 cylinders</a:t>
            </a:r>
          </a:p>
          <a:p>
            <a:pPr marL="0" indent="0">
              <a:buNone/>
            </a:pPr>
            <a:endParaRPr lang="en-US" dirty="0"/>
          </a:p>
        </p:txBody>
      </p:sp>
    </p:spTree>
    <p:extLst>
      <p:ext uri="{BB962C8B-B14F-4D97-AF65-F5344CB8AC3E}">
        <p14:creationId xmlns:p14="http://schemas.microsoft.com/office/powerpoint/2010/main" val="4188106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F4D036-BE88-D45B-979F-6794496A9AAD}"/>
              </a:ext>
            </a:extLst>
          </p:cNvPr>
          <p:cNvSpPr>
            <a:spLocks noGrp="1"/>
          </p:cNvSpPr>
          <p:nvPr>
            <p:ph idx="1"/>
          </p:nvPr>
        </p:nvSpPr>
        <p:spPr>
          <a:xfrm>
            <a:off x="677334" y="1622323"/>
            <a:ext cx="8596668" cy="4419039"/>
          </a:xfrm>
        </p:spPr>
        <p:txBody>
          <a:bodyPr/>
          <a:lstStyle/>
          <a:p>
            <a:pPr algn="just"/>
            <a:r>
              <a:rPr lang="en-US" dirty="0"/>
              <a:t>Circular SCAN (C-SCAN) scheduling is a variant of SCAN designed to provide a more uniform wait time. </a:t>
            </a:r>
          </a:p>
          <a:p>
            <a:pPr algn="just"/>
            <a:r>
              <a:rPr lang="en-US" dirty="0"/>
              <a:t>Like SCAN, C-SCAN moves the head from one end of the disk to the other, servicing requests along the way. </a:t>
            </a:r>
          </a:p>
          <a:p>
            <a:pPr algn="just"/>
            <a:r>
              <a:rPr lang="en-US" dirty="0"/>
              <a:t>When the head reaches the other end, however, it immediately returns to the beginning of the disk without servicing any requests on the return trip.</a:t>
            </a:r>
            <a:endParaRPr lang="en-IN" dirty="0"/>
          </a:p>
        </p:txBody>
      </p:sp>
      <p:sp>
        <p:nvSpPr>
          <p:cNvPr id="4" name="Title 1">
            <a:extLst>
              <a:ext uri="{FF2B5EF4-FFF2-40B4-BE49-F238E27FC236}">
                <a16:creationId xmlns:a16="http://schemas.microsoft.com/office/drawing/2014/main" id="{8BB85F5F-CAE9-6C2F-72F3-066A9860D824}"/>
              </a:ext>
            </a:extLst>
          </p:cNvPr>
          <p:cNvSpPr txBox="1">
            <a:spLocks/>
          </p:cNvSpPr>
          <p:nvPr/>
        </p:nvSpPr>
        <p:spPr>
          <a:xfrm>
            <a:off x="672420" y="575186"/>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t>2.3  C-SCAN disk scheduling</a:t>
            </a:r>
            <a:endParaRPr lang="en-IN" sz="3200" b="1" dirty="0"/>
          </a:p>
        </p:txBody>
      </p:sp>
    </p:spTree>
    <p:extLst>
      <p:ext uri="{BB962C8B-B14F-4D97-AF65-F5344CB8AC3E}">
        <p14:creationId xmlns:p14="http://schemas.microsoft.com/office/powerpoint/2010/main" val="2716650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DA88FB0-22E6-0EDC-3A0F-EE1B005332BF}"/>
              </a:ext>
            </a:extLst>
          </p:cNvPr>
          <p:cNvPicPr>
            <a:picLocks noGrp="1" noChangeAspect="1"/>
          </p:cNvPicPr>
          <p:nvPr>
            <p:ph idx="1"/>
          </p:nvPr>
        </p:nvPicPr>
        <p:blipFill>
          <a:blip r:embed="rId2"/>
          <a:stretch>
            <a:fillRect/>
          </a:stretch>
        </p:blipFill>
        <p:spPr>
          <a:xfrm>
            <a:off x="1494503" y="1730478"/>
            <a:ext cx="7089057" cy="4311548"/>
          </a:xfrm>
        </p:spPr>
      </p:pic>
      <p:sp>
        <p:nvSpPr>
          <p:cNvPr id="4" name="Title 1">
            <a:extLst>
              <a:ext uri="{FF2B5EF4-FFF2-40B4-BE49-F238E27FC236}">
                <a16:creationId xmlns:a16="http://schemas.microsoft.com/office/drawing/2014/main" id="{FC6A13FD-D9DB-93AE-408F-F70D42721E6A}"/>
              </a:ext>
            </a:extLst>
          </p:cNvPr>
          <p:cNvSpPr txBox="1">
            <a:spLocks/>
          </p:cNvSpPr>
          <p:nvPr/>
        </p:nvSpPr>
        <p:spPr>
          <a:xfrm>
            <a:off x="633089" y="516193"/>
            <a:ext cx="8596668" cy="132080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1800" b="1" dirty="0"/>
              <a:t>Consider, for example, a disk queue with requests for I/O to blocks on cylinders 98, 183, 37, 122, 14, 124, 65, 67, in that order. If the disk head is initially at cylinder 53,Apply C- SCAN disk scheduling .</a:t>
            </a:r>
            <a:endParaRPr lang="en-IN" sz="1800" b="1" dirty="0"/>
          </a:p>
        </p:txBody>
      </p:sp>
    </p:spTree>
    <p:extLst>
      <p:ext uri="{BB962C8B-B14F-4D97-AF65-F5344CB8AC3E}">
        <p14:creationId xmlns:p14="http://schemas.microsoft.com/office/powerpoint/2010/main" val="577093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5E067-27D3-32B0-2DC1-23FFAD4B17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FF2B1F-E382-4DBE-8A1A-9106D63025E9}"/>
              </a:ext>
            </a:extLst>
          </p:cNvPr>
          <p:cNvSpPr>
            <a:spLocks noGrp="1"/>
          </p:cNvSpPr>
          <p:nvPr>
            <p:ph idx="1"/>
          </p:nvPr>
        </p:nvSpPr>
        <p:spPr/>
        <p:txBody>
          <a:bodyPr/>
          <a:lstStyle/>
          <a:p>
            <a:r>
              <a:rPr lang="en-US" dirty="0"/>
              <a:t>So, total overhead movement  (total distance covered by the disk arm) =</a:t>
            </a:r>
          </a:p>
          <a:p>
            <a:pPr marL="0" indent="0">
              <a:buNone/>
            </a:pPr>
            <a:r>
              <a:rPr lang="en-US" dirty="0"/>
              <a:t>(199-53)+(199-0)+(37-0)</a:t>
            </a:r>
          </a:p>
          <a:p>
            <a:pPr marL="0" indent="0">
              <a:buNone/>
            </a:pPr>
            <a:r>
              <a:rPr lang="en-US" dirty="0"/>
              <a:t>=382 cylinders.</a:t>
            </a:r>
          </a:p>
          <a:p>
            <a:pPr marL="0" indent="0">
              <a:buNone/>
            </a:pPr>
            <a:endParaRPr lang="en-IN" dirty="0"/>
          </a:p>
        </p:txBody>
      </p:sp>
    </p:spTree>
    <p:extLst>
      <p:ext uri="{BB962C8B-B14F-4D97-AF65-F5344CB8AC3E}">
        <p14:creationId xmlns:p14="http://schemas.microsoft.com/office/powerpoint/2010/main" val="6581870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51</TotalTime>
  <Words>822</Words>
  <Application>Microsoft Office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Google Sans</vt:lpstr>
      <vt:lpstr>Trebuchet MS</vt:lpstr>
      <vt:lpstr>Wingdings 3</vt:lpstr>
      <vt:lpstr>Facet</vt:lpstr>
      <vt:lpstr>Storage Management</vt:lpstr>
      <vt:lpstr>Introduction</vt:lpstr>
      <vt:lpstr>1 ) Overview of Mass-Storage Structure(Hard Disk Drives) </vt:lpstr>
      <vt:lpstr>PowerPoint Presentation</vt:lpstr>
      <vt:lpstr>PowerPoint Presentation</vt:lpstr>
      <vt:lpstr>2) HDD Scheduling</vt:lpstr>
      <vt:lpstr>2.1 FCFS Scheduling</vt:lpstr>
      <vt:lpstr>Consider, for example, a disk queue with requests for I/O to blocks on cylinders 98, 183, 37, 122, 14, 124, 65, 67, in that order. If the disk head is initially at cylinder 53,Apply FCFS disk scheduling .</vt:lpstr>
      <vt:lpstr>PowerPoint Presentation</vt:lpstr>
      <vt:lpstr>2.2 SCAN disk scheduling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 Vinti</dc:creator>
  <cp:lastModifiedBy>Surya Vinti</cp:lastModifiedBy>
  <cp:revision>3</cp:revision>
  <dcterms:created xsi:type="dcterms:W3CDTF">2025-03-26T04:00:59Z</dcterms:created>
  <dcterms:modified xsi:type="dcterms:W3CDTF">2025-03-27T09:06:28Z</dcterms:modified>
</cp:coreProperties>
</file>