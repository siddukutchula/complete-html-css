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1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6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843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013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710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9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52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39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352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25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445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4449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316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717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675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535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36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C61C4-FBAA-4A77-87D8-FEA26786701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0BFDF82-DC71-4C9D-BE34-A98F22C51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48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D7FC-E955-EB9B-6A60-4B75B9D0B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81747"/>
            <a:ext cx="7766936" cy="1646302"/>
          </a:xfrm>
        </p:spPr>
        <p:txBody>
          <a:bodyPr/>
          <a:lstStyle/>
          <a:p>
            <a:pPr algn="ctr"/>
            <a:r>
              <a:rPr lang="en-US" sz="4400" b="1" dirty="0"/>
              <a:t>VIRTUAL MEMORY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52288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EBF2E-FAFE-C18D-498A-241CA799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1.Introduction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7F5C0-E7CC-52A8-D035-FE6E504E5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5511"/>
            <a:ext cx="8596668" cy="4605852"/>
          </a:xfrm>
        </p:spPr>
        <p:txBody>
          <a:bodyPr/>
          <a:lstStyle/>
          <a:p>
            <a:pPr algn="just"/>
            <a:r>
              <a:rPr lang="en-US" dirty="0"/>
              <a:t>Virtual memory involves the separation of logical memory as perceived by developers from physical memory. </a:t>
            </a:r>
          </a:p>
          <a:p>
            <a:pPr algn="just"/>
            <a:r>
              <a:rPr lang="en-US" dirty="0"/>
              <a:t>This separation allows an extremely large virtual memory to be provided for programmers when only a smaller physical memory is available</a:t>
            </a:r>
          </a:p>
          <a:p>
            <a:pPr algn="just"/>
            <a:r>
              <a:rPr lang="en-US" dirty="0"/>
              <a:t>Virtual memory is a technique that extends a computer's RAM by using disk space. This allows programs to run as if they have more memory than they actually do. </a:t>
            </a:r>
          </a:p>
          <a:p>
            <a:pPr marL="0" indent="0" algn="just">
              <a:buNone/>
            </a:pPr>
            <a:r>
              <a:rPr lang="en-US" b="1" dirty="0"/>
              <a:t>HOW IT WORKS :</a:t>
            </a:r>
          </a:p>
          <a:p>
            <a:pPr algn="just"/>
            <a:r>
              <a:rPr lang="en-US" dirty="0"/>
              <a:t>When RAM is full, less frequently used data is moved to a swap file on disk. </a:t>
            </a:r>
          </a:p>
          <a:p>
            <a:pPr algn="just"/>
            <a:r>
              <a:rPr lang="en-US" dirty="0"/>
              <a:t>This process is called paging or swapping. </a:t>
            </a:r>
          </a:p>
          <a:p>
            <a:pPr algn="just"/>
            <a:r>
              <a:rPr lang="en-US" dirty="0"/>
              <a:t>When the data on the hard disk is needed again, it is transferred back to RAM.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307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755AEA-F11F-BB17-624E-F52F05ED3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2" y="156936"/>
            <a:ext cx="9040254" cy="649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F901-A162-149B-4A2E-1DB4E0B52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6245"/>
          </a:xfrm>
        </p:spPr>
        <p:txBody>
          <a:bodyPr>
            <a:normAutofit/>
          </a:bodyPr>
          <a:lstStyle/>
          <a:p>
            <a:r>
              <a:rPr lang="en-US" sz="3200" b="1" dirty="0"/>
              <a:t>2. Demand Paging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C2CD6-E10D-35CE-524F-30128D409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3497"/>
            <a:ext cx="8596668" cy="448786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Consider how an executable program might be loaded from secondary storage into memory. </a:t>
            </a:r>
          </a:p>
          <a:p>
            <a:pPr lvl="1" algn="just"/>
            <a:r>
              <a:rPr lang="en-US" sz="1800" dirty="0"/>
              <a:t>One option is to load the entire program in physical memory at program execution time. </a:t>
            </a:r>
          </a:p>
          <a:p>
            <a:pPr lvl="1" algn="just"/>
            <a:r>
              <a:rPr lang="en-US" sz="1800" dirty="0"/>
              <a:t>An alternative strategy is to load pages only as they are needed. This technique is known as </a:t>
            </a:r>
            <a:r>
              <a:rPr lang="en-US" sz="1800" b="1" dirty="0"/>
              <a:t>demand paging</a:t>
            </a:r>
            <a:r>
              <a:rPr lang="en-US" sz="1800" dirty="0"/>
              <a:t> and is commonly used in virtual memory systems</a:t>
            </a:r>
          </a:p>
          <a:p>
            <a:pPr algn="just"/>
            <a:r>
              <a:rPr lang="en-US" b="1" dirty="0">
                <a:solidFill>
                  <a:srgbClr val="00B0F0"/>
                </a:solidFill>
              </a:rPr>
              <a:t>Demand paging </a:t>
            </a:r>
            <a:r>
              <a:rPr lang="en-US" dirty="0"/>
              <a:t>is a technique used in virtual memory systems where pages enter main memory only when requested or needed by the CPU. </a:t>
            </a:r>
          </a:p>
          <a:p>
            <a:pPr algn="just"/>
            <a:r>
              <a:rPr lang="en-US" dirty="0"/>
              <a:t>In demand paging, the operating system loads only the necessary pages of a program into memory at runtime, instead of loading the entire program into memory at the start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5612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FE6EE0-0516-3F51-CDF8-96D326DC3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156706"/>
            <a:ext cx="7885471" cy="65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8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1ED6D-774A-A7E1-650E-B4F3328A3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66917"/>
            <a:ext cx="8596668" cy="52744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general concept behind demand paging, is to load a page in memory only when it is needed. </a:t>
            </a:r>
          </a:p>
          <a:p>
            <a:pPr algn="just"/>
            <a:r>
              <a:rPr lang="en-US" dirty="0"/>
              <a:t>As a result, while a process is executing, some pages will be in memory, and some will be in secondary storage. </a:t>
            </a:r>
          </a:p>
          <a:p>
            <a:pPr algn="just"/>
            <a:r>
              <a:rPr lang="en-US" dirty="0"/>
              <a:t>Thus, we need some form of hardware support to distinguish between the two </a:t>
            </a:r>
            <a:r>
              <a:rPr lang="en-US" b="1" dirty="0"/>
              <a:t>(VALID – INVALID BIT). </a:t>
            </a:r>
          </a:p>
          <a:p>
            <a:pPr lvl="1" algn="just"/>
            <a:r>
              <a:rPr lang="en-US" sz="1800" dirty="0"/>
              <a:t>When the bit is set to </a:t>
            </a:r>
            <a:r>
              <a:rPr lang="en-US" sz="1800" b="1" dirty="0"/>
              <a:t>“valid”, </a:t>
            </a:r>
            <a:r>
              <a:rPr lang="en-US" sz="1800" dirty="0"/>
              <a:t>the associated page is both legal and in memory. </a:t>
            </a:r>
          </a:p>
          <a:p>
            <a:pPr lvl="1" algn="just"/>
            <a:r>
              <a:rPr lang="en-US" sz="1800" dirty="0"/>
              <a:t>If the bit is set to </a:t>
            </a:r>
            <a:r>
              <a:rPr lang="en-US" sz="1800" b="1" dirty="0"/>
              <a:t>“invalid</a:t>
            </a:r>
            <a:r>
              <a:rPr lang="en-US" sz="1800" dirty="0"/>
              <a:t>,” the page either is not valid (that is, not in the logical address space of the process) or is valid but is currently in secondary storage.</a:t>
            </a:r>
          </a:p>
          <a:p>
            <a:pPr algn="just"/>
            <a:r>
              <a:rPr lang="en-US" dirty="0"/>
              <a:t>The page-table entry for a page that is brought into memory is set as usual, but the page-table entry for a page that is not currently in memory is simply marked invalid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158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EA7A-F711-5827-0140-BE468BA1D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3459"/>
            <a:ext cx="8596668" cy="65876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PAGE FAULT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EB56E-4AFC-2CB1-1BF9-AE5C3D83C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1006" y="1769809"/>
            <a:ext cx="2379407" cy="20352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Trying to access a page that was not brought into memory or marked invalid causes a page fault.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97A97-6305-6E10-39A7-0FEC51760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41" y="1268921"/>
            <a:ext cx="6662635" cy="444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47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2FE7-FBD7-A9ED-ED12-8F8EF9090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6748"/>
          </a:xfrm>
        </p:spPr>
        <p:txBody>
          <a:bodyPr>
            <a:normAutofit/>
          </a:bodyPr>
          <a:lstStyle/>
          <a:p>
            <a:r>
              <a:rPr lang="en-US" sz="2800" b="1" dirty="0"/>
              <a:t>Procedure For Handling Page Fault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A09C-5023-39D5-02FC-0D61A8391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1317"/>
            <a:ext cx="8997608" cy="4360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1. We check an internal table (usually kept with the process control block) for this process to determine whether the reference was a valid or an invalid memory access.</a:t>
            </a:r>
          </a:p>
          <a:p>
            <a:pPr algn="just"/>
            <a:r>
              <a:rPr lang="en-US" dirty="0"/>
              <a:t>2. If the reference was invalid, we terminate the process. If it was valid but we have not yet brought in that page, we now page it in. </a:t>
            </a:r>
          </a:p>
          <a:p>
            <a:pPr algn="just"/>
            <a:r>
              <a:rPr lang="en-US" dirty="0"/>
              <a:t>3. We find a free frame (by taking one from the free-frame list)</a:t>
            </a:r>
          </a:p>
          <a:p>
            <a:pPr algn="just"/>
            <a:r>
              <a:rPr lang="en-US" dirty="0"/>
              <a:t>4. We schedule a secondary storage operation to read the desired page into the newly allocated frame. </a:t>
            </a:r>
          </a:p>
          <a:p>
            <a:pPr algn="just"/>
            <a:r>
              <a:rPr lang="en-US" dirty="0"/>
              <a:t>5. When the storage read is complete, we modify the internal table kept with the process and the page table to indicate that the page is now in memory. </a:t>
            </a:r>
          </a:p>
          <a:p>
            <a:pPr algn="just"/>
            <a:r>
              <a:rPr lang="en-US" dirty="0"/>
              <a:t>6. We restart the instruction that was interrupted by the trap. The process can now access the page as though it had always been in memory.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14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C8FF-7EAE-BFCD-2466-A84B73AD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5239"/>
          </a:xfrm>
        </p:spPr>
        <p:txBody>
          <a:bodyPr>
            <a:normAutofit/>
          </a:bodyPr>
          <a:lstStyle/>
          <a:p>
            <a:r>
              <a:rPr lang="en-IN" sz="3200" b="1" dirty="0"/>
              <a:t>3. Page 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F32C4-1BAE-51B5-61B5-C371E9DA0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3665"/>
            <a:ext cx="8596668" cy="4497697"/>
          </a:xfrm>
        </p:spPr>
        <p:txBody>
          <a:bodyPr>
            <a:normAutofit/>
          </a:bodyPr>
          <a:lstStyle/>
          <a:p>
            <a:r>
              <a:rPr lang="en-US" dirty="0"/>
              <a:t>Page replacement takes the following approach. </a:t>
            </a:r>
          </a:p>
          <a:p>
            <a:pPr lvl="1"/>
            <a:r>
              <a:rPr lang="en-US" sz="1800" dirty="0"/>
              <a:t>If no frame is free, we find one that is not currently being used and free it. </a:t>
            </a:r>
          </a:p>
          <a:p>
            <a:pPr lvl="1"/>
            <a:r>
              <a:rPr lang="en-US" sz="1800" dirty="0"/>
              <a:t>We can free a frame by writing its contents to swap space and changing the page table (and all other tables) to indicate that the page is no longer in memory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42771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B3FE2C-6803-5D06-E4A8-5C2D4BA4B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28" y="0"/>
            <a:ext cx="10180853" cy="66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45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DFE8E-84C8-A981-D37D-51026F60D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6181"/>
            <a:ext cx="8596668" cy="464518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We modify the page-fault service routine to include page replacement:</a:t>
            </a:r>
          </a:p>
          <a:p>
            <a:pPr lvl="1" algn="just"/>
            <a:r>
              <a:rPr lang="en-US" sz="1800" dirty="0"/>
              <a:t>1. Find the location of the desired page on secondary storage. </a:t>
            </a:r>
          </a:p>
          <a:p>
            <a:pPr lvl="1" algn="just"/>
            <a:r>
              <a:rPr lang="en-US" sz="1800" dirty="0"/>
              <a:t>2. Find a free frame: </a:t>
            </a:r>
          </a:p>
          <a:p>
            <a:pPr lvl="2" algn="just"/>
            <a:r>
              <a:rPr lang="en-US" sz="1800" dirty="0"/>
              <a:t>a. If there is a free frame, use it.</a:t>
            </a:r>
          </a:p>
          <a:p>
            <a:pPr lvl="2" algn="just"/>
            <a:r>
              <a:rPr lang="en-US" sz="1800" dirty="0"/>
              <a:t> b. If there is no free frame, use a page-replacement algorithm to select a </a:t>
            </a:r>
            <a:r>
              <a:rPr lang="en-US" sz="1800" b="1" dirty="0"/>
              <a:t>victim frame</a:t>
            </a:r>
            <a:r>
              <a:rPr lang="en-US" sz="1800" dirty="0"/>
              <a:t>. </a:t>
            </a:r>
          </a:p>
          <a:p>
            <a:pPr lvl="2" algn="just"/>
            <a:r>
              <a:rPr lang="en-US" sz="1800" dirty="0"/>
              <a:t>c. Write the victim frame to secondary storage (if necessary); change the page and frame tables accordingly. </a:t>
            </a:r>
          </a:p>
          <a:p>
            <a:pPr lvl="1" algn="just"/>
            <a:r>
              <a:rPr lang="en-US" sz="1800" dirty="0"/>
              <a:t>3. Read the desired page into the newly freed frame; change the page and frame tables. </a:t>
            </a:r>
          </a:p>
          <a:p>
            <a:pPr lvl="1" algn="just"/>
            <a:r>
              <a:rPr lang="en-US" sz="1800" dirty="0"/>
              <a:t>4. Continue the process from where the page fault occurred.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04303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B29C8-C05C-9644-118E-640389ED6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1317"/>
            <a:ext cx="8596668" cy="4360046"/>
          </a:xfrm>
        </p:spPr>
        <p:txBody>
          <a:bodyPr>
            <a:normAutofit/>
          </a:bodyPr>
          <a:lstStyle/>
          <a:p>
            <a:r>
              <a:rPr lang="en-IN" sz="2400" dirty="0"/>
              <a:t>FIFO Page Replacement</a:t>
            </a:r>
          </a:p>
          <a:p>
            <a:r>
              <a:rPr lang="en-IN" sz="2400" dirty="0"/>
              <a:t>Optimal Page Replacement</a:t>
            </a:r>
          </a:p>
          <a:p>
            <a:r>
              <a:rPr lang="en-IN" sz="2400" dirty="0"/>
              <a:t>Least Recently Used Page Replacement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45C09B-1251-808A-3B20-E2274C44E1C4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8652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b="1" dirty="0"/>
              <a:t>3.1 Page Replacement Algorithms</a:t>
            </a:r>
          </a:p>
        </p:txBody>
      </p:sp>
    </p:spTree>
    <p:extLst>
      <p:ext uri="{BB962C8B-B14F-4D97-AF65-F5344CB8AC3E}">
        <p14:creationId xmlns:p14="http://schemas.microsoft.com/office/powerpoint/2010/main" val="2136130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9BD6-A7C9-D4F3-2A97-9A66768B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3.1.1 FIFO Page 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3A008-0860-BBDB-0BD7-78A286C4E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169"/>
            <a:ext cx="8596668" cy="452719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simplest page-replacement algorithm is a first-in, first-out (FIFO) algorithm. </a:t>
            </a:r>
          </a:p>
          <a:p>
            <a:pPr algn="just"/>
            <a:r>
              <a:rPr lang="en-US" dirty="0"/>
              <a:t>A FIFO replacement algorithm associates with each page the time when that page was brought into memory. </a:t>
            </a:r>
          </a:p>
          <a:p>
            <a:pPr algn="just"/>
            <a:r>
              <a:rPr lang="en-US" dirty="0"/>
              <a:t>When a page must be replaced, the oldest page is chosen</a:t>
            </a:r>
          </a:p>
          <a:p>
            <a:pPr algn="just"/>
            <a:r>
              <a:rPr lang="en-US" dirty="0"/>
              <a:t>the operating system keeps track of all pages in the memory in a queue, the oldest page is in the front of the queue. </a:t>
            </a:r>
          </a:p>
          <a:p>
            <a:pPr lvl="1" algn="just"/>
            <a:r>
              <a:rPr lang="en-US" sz="1800" dirty="0"/>
              <a:t>When a page needs to be replaced page in the front of the queue is selected for removal.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70132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18562-FA53-D8B2-C7EF-CB945A1AE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12955"/>
            <a:ext cx="8596668" cy="796413"/>
          </a:xfrm>
        </p:spPr>
        <p:txBody>
          <a:bodyPr/>
          <a:lstStyle/>
          <a:p>
            <a:r>
              <a:rPr lang="en-US" dirty="0"/>
              <a:t>Apply the FIFO replacement algorithms for the following page-reference strings:</a:t>
            </a:r>
            <a:r>
              <a:rPr lang="en-IN" dirty="0"/>
              <a:t> 7 0 1 2 0 3 0 4 2 3 0 3 2 1  2  0  1  7 0 1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11B41-1D10-2076-BBDD-CD8C8290B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1415858"/>
            <a:ext cx="11444750" cy="402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32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0241D-8A82-41B6-A513-FE94B42E7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68595"/>
            <a:ext cx="8596668" cy="5372768"/>
          </a:xfrm>
        </p:spPr>
        <p:txBody>
          <a:bodyPr/>
          <a:lstStyle/>
          <a:p>
            <a:pPr algn="just"/>
            <a:r>
              <a:rPr lang="en-US" dirty="0"/>
              <a:t>For our example reference string, our three frames are initially empty. </a:t>
            </a:r>
          </a:p>
          <a:p>
            <a:pPr algn="just"/>
            <a:r>
              <a:rPr lang="en-US" dirty="0"/>
              <a:t>The first three references (7, 0, 1) cause page faults and are brought into these empty frames. </a:t>
            </a:r>
          </a:p>
          <a:p>
            <a:pPr algn="just"/>
            <a:r>
              <a:rPr lang="en-US" dirty="0"/>
              <a:t>The next reference (2) replaces page 7, because page 7 was brought in first. </a:t>
            </a:r>
          </a:p>
          <a:p>
            <a:pPr algn="just"/>
            <a:r>
              <a:rPr lang="en-US" dirty="0"/>
              <a:t>Since 0 is the next reference and 0 is already in memory, we have no fault for this reference. </a:t>
            </a:r>
          </a:p>
          <a:p>
            <a:pPr algn="just"/>
            <a:r>
              <a:rPr lang="en-US" dirty="0"/>
              <a:t>The first reference to 3 results in replacement of page 0, since it is now first in line. Because of this replacement, the next reference, to 0, will fault. </a:t>
            </a:r>
          </a:p>
          <a:p>
            <a:pPr algn="just"/>
            <a:r>
              <a:rPr lang="en-US" dirty="0"/>
              <a:t>Page 1 is then replaced by page 0. </a:t>
            </a:r>
          </a:p>
          <a:p>
            <a:pPr algn="just"/>
            <a:r>
              <a:rPr lang="en-US" dirty="0"/>
              <a:t>This process continues as shown in Figure 10.12. </a:t>
            </a:r>
          </a:p>
          <a:p>
            <a:pPr algn="just"/>
            <a:r>
              <a:rPr lang="en-US" dirty="0"/>
              <a:t>Every time a fault occurs, we show which pages are in our three frames. There are fifteen faults altogether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5918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95112-B26B-0445-3887-922BFFBE1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would expect that giving more memory to a process would improve its performance</a:t>
            </a:r>
          </a:p>
          <a:p>
            <a:r>
              <a:rPr lang="en-US" b="1" dirty="0">
                <a:solidFill>
                  <a:srgbClr val="FF0000"/>
                </a:solidFill>
              </a:rPr>
              <a:t>BELADY’S ANAMOLY : </a:t>
            </a:r>
            <a:r>
              <a:rPr lang="en-US" dirty="0"/>
              <a:t>the page-fault rate may increase as the number of allocated frames increases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128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387C-76A2-75B1-417E-96C69ECE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3.1.2 Optimal Page Replacement</a:t>
            </a:r>
            <a:br>
              <a:rPr lang="en-IN" sz="3600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6F18-C1CD-7A1A-BA24-377445F75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An optimal page-replacement algorithm— the algorithm that has the lowest page-fault rate of all algorithms and will never suffer from </a:t>
            </a:r>
            <a:r>
              <a:rPr lang="en-US" dirty="0" err="1"/>
              <a:t>Belady’s</a:t>
            </a:r>
            <a:r>
              <a:rPr lang="en-US" dirty="0"/>
              <a:t> anomaly.</a:t>
            </a:r>
          </a:p>
          <a:p>
            <a:pPr algn="just"/>
            <a:r>
              <a:rPr lang="en-US" dirty="0"/>
              <a:t> Such an algorithm does exist and has been called OPT or MIN. It is simply this:</a:t>
            </a:r>
          </a:p>
          <a:p>
            <a:pPr lvl="1" algn="just"/>
            <a:r>
              <a:rPr lang="en-US" sz="1800" dirty="0"/>
              <a:t> Replace the page that will not be used for the longest period of time.</a:t>
            </a:r>
          </a:p>
          <a:p>
            <a:pPr algn="just"/>
            <a:r>
              <a:rPr lang="en-US" dirty="0"/>
              <a:t>Use of this page-replacement algorithm guarantees the lowest possible page fault rate for a fixed number of frames.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661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CBB9AC-767F-79A4-4089-BA2607B1D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4883"/>
            <a:ext cx="11277600" cy="362823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D7DD3DF-1209-5CE0-55EF-082764D6D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12955"/>
            <a:ext cx="8596668" cy="796413"/>
          </a:xfrm>
        </p:spPr>
        <p:txBody>
          <a:bodyPr>
            <a:normAutofit/>
          </a:bodyPr>
          <a:lstStyle/>
          <a:p>
            <a:r>
              <a:rPr lang="en-US" dirty="0"/>
              <a:t>Apply the Optimal page replacement algorithms for the following page-reference strings:</a:t>
            </a:r>
            <a:r>
              <a:rPr lang="en-IN" dirty="0"/>
              <a:t>7 0 1 2 0 3 0 4 2 3 0 3 2 1  2  0  1  7 0 1</a:t>
            </a:r>
          </a:p>
        </p:txBody>
      </p:sp>
    </p:spTree>
    <p:extLst>
      <p:ext uri="{BB962C8B-B14F-4D97-AF65-F5344CB8AC3E}">
        <p14:creationId xmlns:p14="http://schemas.microsoft.com/office/powerpoint/2010/main" val="1865693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D00B8-BD63-6C6E-5F1C-1A5FB1DF6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93059"/>
            <a:ext cx="8596668" cy="5048304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first three references cause faults that fill the three empty frames. </a:t>
            </a:r>
          </a:p>
          <a:p>
            <a:pPr algn="just"/>
            <a:r>
              <a:rPr lang="en-US" sz="2000" dirty="0"/>
              <a:t>The reference to page 2 replaces page 7, because page 7 will not be used until reference 18, whereas page 0 will be used at 5, and page 1 at 14. </a:t>
            </a:r>
          </a:p>
          <a:p>
            <a:pPr algn="just"/>
            <a:r>
              <a:rPr lang="en-US" sz="2000" dirty="0"/>
              <a:t>The reference to page 3 replaces page 1, as page 1 will be the last of the three pages in memory to be referenced again. </a:t>
            </a:r>
          </a:p>
          <a:p>
            <a:pPr algn="just"/>
            <a:r>
              <a:rPr lang="en-US" sz="2000" dirty="0"/>
              <a:t>With only nine page faults, optimal replacement is much better than a FIFO algorithm, which results in fifteen faults.</a:t>
            </a:r>
          </a:p>
          <a:p>
            <a:pPr algn="just"/>
            <a:r>
              <a:rPr lang="en-US" sz="2000" b="1" dirty="0"/>
              <a:t>the optimal page-replacement algorithm is difficult to implement, because it requires future knowledge of the reference string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136943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C49AA-8996-36E3-D612-68965A4B6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4839"/>
            <a:ext cx="8596668" cy="4566523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When a page must be replaced, LRU chooses the page that has not been used for the longest period of time. We can think of this strategy as the optimal page-replacement algorithm looking backward in time, rather than forward.</a:t>
            </a:r>
          </a:p>
          <a:p>
            <a:pPr algn="just"/>
            <a:r>
              <a:rPr lang="en-US" sz="2000" dirty="0"/>
              <a:t>This algorithm is based on the strategy that whenever a page fault occurs, the least recently used page will be replaced with a new page.  So, the page not utilized for the longest time in the memory (compared to all other pages) gets replaced. This strategy is known as LRU paging.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710558-33F2-B6AC-FF67-66794B33E206}"/>
              </a:ext>
            </a:extLst>
          </p:cNvPr>
          <p:cNvSpPr txBox="1">
            <a:spLocks/>
          </p:cNvSpPr>
          <p:nvPr/>
        </p:nvSpPr>
        <p:spPr>
          <a:xfrm>
            <a:off x="642920" y="47686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b="1" dirty="0"/>
              <a:t>3.1.2 LRU Page Replacement</a:t>
            </a:r>
          </a:p>
        </p:txBody>
      </p:sp>
    </p:spTree>
    <p:extLst>
      <p:ext uri="{BB962C8B-B14F-4D97-AF65-F5344CB8AC3E}">
        <p14:creationId xmlns:p14="http://schemas.microsoft.com/office/powerpoint/2010/main" val="3213792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FE715E-8E4A-5784-292C-CFA6545AB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85" y="1666629"/>
            <a:ext cx="9807768" cy="352474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128E08-6A98-682E-0009-3A593F9A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12955"/>
            <a:ext cx="8596668" cy="796413"/>
          </a:xfrm>
        </p:spPr>
        <p:txBody>
          <a:bodyPr>
            <a:normAutofit/>
          </a:bodyPr>
          <a:lstStyle/>
          <a:p>
            <a:r>
              <a:rPr lang="en-US" dirty="0"/>
              <a:t>Apply the LRU page replacement algorithms for the following page-reference strings:</a:t>
            </a:r>
            <a:r>
              <a:rPr lang="en-IN" dirty="0"/>
              <a:t>7 0 1 2 0 3 0 4 2 3 0 3 2 1  2  0  1  7 0 1</a:t>
            </a:r>
          </a:p>
        </p:txBody>
      </p:sp>
    </p:spTree>
    <p:extLst>
      <p:ext uri="{BB962C8B-B14F-4D97-AF65-F5344CB8AC3E}">
        <p14:creationId xmlns:p14="http://schemas.microsoft.com/office/powerpoint/2010/main" val="789711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ABEEA-642E-0B81-64DC-B21548A94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6182"/>
            <a:ext cx="8596668" cy="3205316"/>
          </a:xfrm>
        </p:spPr>
        <p:txBody>
          <a:bodyPr/>
          <a:lstStyle/>
          <a:p>
            <a:pPr algn="just"/>
            <a:r>
              <a:rPr lang="en-US" dirty="0"/>
              <a:t>the first five faults are the same as those for optimal replacement. </a:t>
            </a:r>
          </a:p>
          <a:p>
            <a:pPr algn="just"/>
            <a:r>
              <a:rPr lang="en-US" dirty="0"/>
              <a:t>When the reference to page 4 occurs, however, LRU replacement sees that, of the three frames in memory, page 2 was used least recently. Thus, the LRU algorithm replaces page 2, not knowing that page 2 is about to be used. </a:t>
            </a:r>
          </a:p>
          <a:p>
            <a:pPr algn="just"/>
            <a:r>
              <a:rPr lang="en-US" dirty="0"/>
              <a:t>When it then faults for page 2, the LRU algorithm replaces page 3, since it is now the least recently used of the three pages in memory. </a:t>
            </a:r>
          </a:p>
          <a:p>
            <a:pPr algn="just"/>
            <a:r>
              <a:rPr lang="en-US" dirty="0"/>
              <a:t>Despite these problems, LRU replacement with twelve faults is much better than FIFO replacement with fifteen.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562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87DC1-4632-D537-A90D-93100C73E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35743"/>
            <a:ext cx="8596668" cy="52056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Two ways of implementing LRU :</a:t>
            </a:r>
          </a:p>
          <a:p>
            <a:pPr algn="just"/>
            <a:r>
              <a:rPr lang="en-US" b="1" dirty="0"/>
              <a:t>Counters: </a:t>
            </a:r>
          </a:p>
          <a:p>
            <a:pPr lvl="1" algn="just"/>
            <a:r>
              <a:rPr lang="en-US" sz="1800" dirty="0"/>
              <a:t>In the simplest case, we associate with each page-table entry a time-of-use field and add to the CPU a logical clock or counter.</a:t>
            </a:r>
          </a:p>
          <a:p>
            <a:pPr algn="just"/>
            <a:r>
              <a:rPr lang="en-US" b="1" dirty="0"/>
              <a:t>Stack :</a:t>
            </a:r>
          </a:p>
          <a:p>
            <a:pPr lvl="1" algn="just"/>
            <a:r>
              <a:rPr lang="en-US" sz="1800" dirty="0"/>
              <a:t>Approach to implementing LRU replacement is to keep a stack of page numbers. Whenever a page is referenced, it is removed from the stack and put on the top. </a:t>
            </a:r>
          </a:p>
          <a:p>
            <a:pPr lvl="1" algn="just"/>
            <a:r>
              <a:rPr lang="en-US" sz="1800" dirty="0"/>
              <a:t>In this way, the most recently used page is always at the top of the stack, and the least recently used page is always at the bottom </a:t>
            </a:r>
          </a:p>
          <a:p>
            <a:pPr lvl="1" algn="just"/>
            <a:r>
              <a:rPr lang="en-US" sz="1800" dirty="0"/>
              <a:t>Because entries must be removed from the middle of the stack, it is best to implement this approach by using a doubly linked list with a head pointer and a tail pointer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70257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B16A-C81A-6E87-CC49-77A58EB2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916"/>
          </a:xfrm>
        </p:spPr>
        <p:txBody>
          <a:bodyPr>
            <a:normAutofit/>
          </a:bodyPr>
          <a:lstStyle/>
          <a:p>
            <a:r>
              <a:rPr lang="en-US" sz="3200" b="1" dirty="0"/>
              <a:t>4. Thrashing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6AC91-04FD-92FC-80E8-52EFABDDE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6517"/>
            <a:ext cx="8596668" cy="4664846"/>
          </a:xfrm>
        </p:spPr>
        <p:txBody>
          <a:bodyPr/>
          <a:lstStyle/>
          <a:p>
            <a:pPr algn="just"/>
            <a:r>
              <a:rPr lang="en-US" dirty="0"/>
              <a:t>Thrashing is a condition or a situation when the system is spending a major portion of its time servicing the page faults, but the actual processing done is very negligible.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Causes of thrashing:</a:t>
            </a:r>
          </a:p>
          <a:p>
            <a:pPr lvl="1" algn="just"/>
            <a:r>
              <a:rPr lang="en-US" sz="1800" dirty="0"/>
              <a:t>High degree of multiprogramming.</a:t>
            </a:r>
          </a:p>
          <a:p>
            <a:pPr lvl="1" algn="just"/>
            <a:r>
              <a:rPr lang="en-US" sz="1800" dirty="0"/>
              <a:t>Lack of frames.</a:t>
            </a:r>
          </a:p>
          <a:p>
            <a:pPr lvl="1" algn="just"/>
            <a:r>
              <a:rPr lang="en-US" sz="1800" dirty="0"/>
              <a:t>Page replacement policy.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9C421-BF8F-4D8D-F479-23ADAA435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123" y="2242487"/>
            <a:ext cx="4346981" cy="348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47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3E98-DCC5-96A9-A375-EC1BFC43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09FEA-432D-6DAB-270C-74FDA5B0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1468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402</TotalTime>
  <Words>1734</Words>
  <Application>Microsoft Office PowerPoint</Application>
  <PresentationFormat>Widescreen</PresentationFormat>
  <Paragraphs>96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Trebuchet MS</vt:lpstr>
      <vt:lpstr>Wingdings 3</vt:lpstr>
      <vt:lpstr>Facet</vt:lpstr>
      <vt:lpstr>VIRTUAL MEMORY</vt:lpstr>
      <vt:lpstr>1.Introduction</vt:lpstr>
      <vt:lpstr>PowerPoint Presentation</vt:lpstr>
      <vt:lpstr>2. Demand Paging</vt:lpstr>
      <vt:lpstr>PowerPoint Presentation</vt:lpstr>
      <vt:lpstr>PowerPoint Presentation</vt:lpstr>
      <vt:lpstr>PAGE FAULT</vt:lpstr>
      <vt:lpstr>Procedure For Handling Page Fault</vt:lpstr>
      <vt:lpstr>3. Page Replacement</vt:lpstr>
      <vt:lpstr>PowerPoint Presentation</vt:lpstr>
      <vt:lpstr>PowerPoint Presentation</vt:lpstr>
      <vt:lpstr>PowerPoint Presentation</vt:lpstr>
      <vt:lpstr>3.1.1 FIFO Page Replacement</vt:lpstr>
      <vt:lpstr>PowerPoint Presentation</vt:lpstr>
      <vt:lpstr>PowerPoint Presentation</vt:lpstr>
      <vt:lpstr>PowerPoint Presentation</vt:lpstr>
      <vt:lpstr>3.1.2 Optimal Page Replacement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Thrashing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Vinti</dc:creator>
  <cp:lastModifiedBy>Surya Vinti</cp:lastModifiedBy>
  <cp:revision>9</cp:revision>
  <dcterms:created xsi:type="dcterms:W3CDTF">2025-03-24T04:48:16Z</dcterms:created>
  <dcterms:modified xsi:type="dcterms:W3CDTF">2025-03-25T09:55:59Z</dcterms:modified>
</cp:coreProperties>
</file>